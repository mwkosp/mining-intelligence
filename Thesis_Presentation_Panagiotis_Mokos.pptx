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1" Type="http://schemas.openxmlformats.org/officeDocument/2006/relationships/slide" Target="slides/slide36.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f8e64f50d7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f8e64f50d7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f8e64f50d7_7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f8e64f50d7_7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f8e64f50d7_7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f8e64f50d7_7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f8e64f50d7_7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f8e64f50d7_7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f8e64f50d7_7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f8e64f50d7_7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f8e64f50d7_7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f8e64f50d7_7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f8e64f50d7_7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f8e64f50d7_7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f8e64f50d7_7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f8e64f50d7_7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8e64f50d7_7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8e64f50d7_7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f8e64f50d7_7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f8e64f50d7_7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f8e64f50d7_7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f8e64f50d7_7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f8e64f50d7_7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f8e64f50d7_7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f8e64f50d7_7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f8e64f50d7_7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f8e64f50d7_7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f8e64f50d7_7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f8e64f50d7_7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f8e64f50d7_7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f8e64f50d7_7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f8e64f50d7_7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f8e64f50d7_7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f8e64f50d7_7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8e64f50d7_7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f8e64f50d7_7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f8e64f50d7_7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f8e64f50d7_7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f8e64f50d7_7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f8e64f50d7_7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f8e64f50d7_7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f8e64f50d7_7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f8e64f50d7_7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f8e64f50d7_7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f8e64f50d7_7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f8e64f50d7_7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f8e64f50d7_7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f8e64f50d7_7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f8e64f50d7_7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f8e64f50d7_7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f8e64f50d7_7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f8e64f50d7_7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f8e64f50d7_7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f8e64f50d7_7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f8e64f50d7_7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f8e64f50d7_7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f8e64f50d7_7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f8e64f50d7_7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f8e64f50d7_7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f8e64f50d7_7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f8e64f50d7_7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f8e64f50d7_7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f8e64f50d7_7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f8e64f50d7_7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f8e64f50d7_7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f8e64f50d7_7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f8e64f50d7_7_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f8e64f50d7_7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f8e64f50d7_7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f8e64f50d7_7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l"/>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5.png"/><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0.png"/><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6.png"/><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7.png"/><Relationship Id="rId4" Type="http://schemas.openxmlformats.org/officeDocument/2006/relationships/image" Target="../media/image1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0.png"/><Relationship Id="rId4" Type="http://schemas.openxmlformats.org/officeDocument/2006/relationships/image" Target="../media/image2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title"/>
          </p:nvPr>
        </p:nvSpPr>
        <p:spPr>
          <a:xfrm>
            <a:off x="280475" y="2811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SzPct val="44595"/>
              <a:buNone/>
            </a:pPr>
            <a:r>
              <a:rPr b="1" i="1" lang="el" sz="2220"/>
              <a:t>Mining Intelligence: </a:t>
            </a:r>
            <a:endParaRPr b="1" i="1" sz="2220"/>
          </a:p>
          <a:p>
            <a:pPr indent="0" lvl="0" marL="0" rtl="0" algn="ctr">
              <a:spcBef>
                <a:spcPts val="0"/>
              </a:spcBef>
              <a:spcAft>
                <a:spcPts val="0"/>
              </a:spcAft>
              <a:buSzPct val="44595"/>
              <a:buNone/>
            </a:pPr>
            <a:r>
              <a:rPr b="1" i="1" lang="el" sz="2220"/>
              <a:t>Towards Decentralized, Permissionless AI </a:t>
            </a:r>
            <a:endParaRPr b="1" i="1" sz="2220"/>
          </a:p>
        </p:txBody>
      </p:sp>
      <p:sp>
        <p:nvSpPr>
          <p:cNvPr id="55" name="Google Shape;55;p1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ctr">
              <a:spcBef>
                <a:spcPts val="0"/>
              </a:spcBef>
              <a:spcAft>
                <a:spcPts val="0"/>
              </a:spcAft>
              <a:buNone/>
            </a:pPr>
            <a:r>
              <a:rPr lang="el" sz="1600"/>
              <a:t>A Bittensor (τ) Architecture Thesis on Solving Real World ML Problems</a:t>
            </a:r>
            <a:endParaRPr sz="1600"/>
          </a:p>
          <a:p>
            <a:pPr indent="0" lvl="0" marL="0" rtl="0" algn="l">
              <a:spcBef>
                <a:spcPts val="1200"/>
              </a:spcBef>
              <a:spcAft>
                <a:spcPts val="0"/>
              </a:spcAft>
              <a:buNone/>
            </a:pPr>
            <a:r>
              <a:rPr lang="el" sz="1600"/>
              <a:t>																																																																																																																																																</a:t>
            </a:r>
            <a:endParaRPr sz="1600"/>
          </a:p>
          <a:p>
            <a:pPr indent="0" lvl="0" marL="0" rtl="0" algn="l">
              <a:spcBef>
                <a:spcPts val="1200"/>
              </a:spcBef>
              <a:spcAft>
                <a:spcPts val="0"/>
              </a:spcAft>
              <a:buNone/>
            </a:pPr>
            <a:r>
              <a:rPr lang="el" sz="1000"/>
              <a:t>Author: Panagiotis Mokos	</a:t>
            </a:r>
            <a:endParaRPr sz="1000"/>
          </a:p>
          <a:p>
            <a:pPr indent="0" lvl="0" marL="0" rtl="0" algn="l">
              <a:spcBef>
                <a:spcPts val="1200"/>
              </a:spcBef>
              <a:spcAft>
                <a:spcPts val="0"/>
              </a:spcAft>
              <a:buNone/>
            </a:pPr>
            <a:r>
              <a:rPr lang="el" sz="1000"/>
              <a:t>Supervisors: Manolis Steiakakis,Eutuxios Protopadakis </a:t>
            </a:r>
            <a:r>
              <a:rPr lang="el" sz="1400"/>
              <a:t>	</a:t>
            </a:r>
            <a:r>
              <a:rPr lang="el" sz="1600"/>
              <a:t>			                                 </a:t>
            </a:r>
            <a:r>
              <a:rPr lang="el" sz="1100"/>
              <a:t>Applied Informatics</a:t>
            </a:r>
            <a:endParaRPr sz="1100"/>
          </a:p>
          <a:p>
            <a:pPr indent="0" lvl="0" marL="6400800" rtl="0" algn="l">
              <a:spcBef>
                <a:spcPts val="1200"/>
              </a:spcBef>
              <a:spcAft>
                <a:spcPts val="1200"/>
              </a:spcAft>
              <a:buNone/>
            </a:pPr>
            <a:r>
              <a:rPr lang="el" sz="1000"/>
              <a:t>Academic Year 2025-2026	</a:t>
            </a:r>
            <a:endParaRPr sz="1600"/>
          </a:p>
        </p:txBody>
      </p:sp>
      <p:pic>
        <p:nvPicPr>
          <p:cNvPr id="56" name="Google Shape;56;p13"/>
          <p:cNvPicPr preferRelativeResize="0"/>
          <p:nvPr/>
        </p:nvPicPr>
        <p:blipFill>
          <a:blip r:embed="rId3">
            <a:alphaModFix/>
          </a:blip>
          <a:stretch>
            <a:fillRect/>
          </a:stretch>
        </p:blipFill>
        <p:spPr>
          <a:xfrm>
            <a:off x="2351488" y="1507000"/>
            <a:ext cx="4503475" cy="25332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ctrTitle"/>
          </p:nvPr>
        </p:nvSpPr>
        <p:spPr>
          <a:xfrm>
            <a:off x="491200" y="96775"/>
            <a:ext cx="8520600" cy="12378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l" sz="3900"/>
              <a:t>Εισαγωγή -</a:t>
            </a:r>
            <a:endParaRPr sz="3900"/>
          </a:p>
          <a:p>
            <a:pPr indent="0" lvl="0" marL="0" rtl="0" algn="ctr">
              <a:spcBef>
                <a:spcPts val="0"/>
              </a:spcBef>
              <a:spcAft>
                <a:spcPts val="0"/>
              </a:spcAft>
              <a:buNone/>
            </a:pPr>
            <a:r>
              <a:rPr lang="el" sz="3900"/>
              <a:t>Γιατ</a:t>
            </a:r>
            <a:r>
              <a:rPr lang="el" sz="3900"/>
              <a:t>ί γίνεται αυτή η πτυχιακή;</a:t>
            </a:r>
            <a:endParaRPr sz="3900"/>
          </a:p>
        </p:txBody>
      </p:sp>
      <p:sp>
        <p:nvSpPr>
          <p:cNvPr id="62" name="Google Shape;62;p14"/>
          <p:cNvSpPr txBox="1"/>
          <p:nvPr>
            <p:ph idx="1" type="subTitle"/>
          </p:nvPr>
        </p:nvSpPr>
        <p:spPr>
          <a:xfrm>
            <a:off x="311700" y="1295625"/>
            <a:ext cx="8520600" cy="3621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l" sz="1800"/>
              <a:t>“</a:t>
            </a:r>
            <a:r>
              <a:rPr lang="el" sz="1800"/>
              <a:t>Η Ολο</a:t>
            </a:r>
            <a:r>
              <a:rPr lang="el" sz="1800"/>
              <a:t>ένα και μεγαλύτερη αύξηση της συγκέντρωσης του AI αρχίζει να δίνει Μονοπωλιακή δύναμη σε συγκεκριμένους.”</a:t>
            </a:r>
            <a:endParaRPr sz="1800"/>
          </a:p>
          <a:p>
            <a:pPr indent="0" lvl="0" marL="0" rtl="0" algn="ctr">
              <a:spcBef>
                <a:spcPts val="0"/>
              </a:spcBef>
              <a:spcAft>
                <a:spcPts val="0"/>
              </a:spcAft>
              <a:buNone/>
            </a:pPr>
            <a:r>
              <a:t/>
            </a:r>
            <a:endParaRPr sz="1800"/>
          </a:p>
          <a:p>
            <a:pPr indent="0" lvl="0" marL="0" rtl="0" algn="l">
              <a:spcBef>
                <a:spcPts val="0"/>
              </a:spcBef>
              <a:spcAft>
                <a:spcPts val="0"/>
              </a:spcAft>
              <a:buNone/>
            </a:pPr>
            <a:r>
              <a:rPr lang="el" sz="1800"/>
              <a:t> Όποιος (θα) κατέχει την τεχνολογία αυτή θα έχει παντα προβάδισμα. Επομένως αφού καταλαβαίνουμε γιατί </a:t>
            </a:r>
            <a:r>
              <a:rPr lang="el" sz="1800"/>
              <a:t>είναι</a:t>
            </a:r>
            <a:r>
              <a:rPr lang="el" sz="1800"/>
              <a:t> τόσο σημαντικό να αποτρέψουμε κάτι τέτοιο, θα δούμε πως μπορεί να </a:t>
            </a:r>
            <a:r>
              <a:rPr lang="el" sz="1800"/>
              <a:t>εκδημοκρατιστει</a:t>
            </a:r>
            <a:r>
              <a:rPr lang="el" sz="1800"/>
              <a:t> και α</a:t>
            </a:r>
            <a:r>
              <a:rPr lang="el" sz="1800"/>
              <a:t>ποκεντρωθεί</a:t>
            </a:r>
            <a:r>
              <a:rPr lang="el" sz="1800"/>
              <a:t> μια </a:t>
            </a:r>
            <a:r>
              <a:rPr lang="el" sz="1800"/>
              <a:t>τετοια</a:t>
            </a:r>
            <a:r>
              <a:rPr lang="el" sz="1800"/>
              <a:t> τεχνολογια.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l" sz="1800"/>
              <a:t>Θα δώσουμε παραδείγματα κώδικα και μοντέλων ΑΙ για την σωστή συμμετοχη.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l" sz="1800"/>
              <a:t>“Open Source”, “Open weights”, “</a:t>
            </a:r>
            <a:r>
              <a:rPr lang="el" sz="1800"/>
              <a:t>Permissionless</a:t>
            </a:r>
            <a:r>
              <a:rPr lang="el" sz="1800"/>
              <a:t>”, “Decentralized”, “Incentivized Intelligence and Participation”</a:t>
            </a: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ctrTitle"/>
          </p:nvPr>
        </p:nvSpPr>
        <p:spPr>
          <a:xfrm>
            <a:off x="311700" y="195100"/>
            <a:ext cx="8520600" cy="9552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l"/>
              <a:t>Η Ιστορ</a:t>
            </a:r>
            <a:r>
              <a:rPr lang="el"/>
              <a:t>ία του χρήματος</a:t>
            </a:r>
            <a:endParaRPr/>
          </a:p>
        </p:txBody>
      </p:sp>
      <p:sp>
        <p:nvSpPr>
          <p:cNvPr id="68" name="Google Shape;68;p15"/>
          <p:cNvSpPr txBox="1"/>
          <p:nvPr>
            <p:ph idx="1" type="subTitle"/>
          </p:nvPr>
        </p:nvSpPr>
        <p:spPr>
          <a:xfrm>
            <a:off x="311700" y="1287825"/>
            <a:ext cx="8520600" cy="36060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l" sz="1700"/>
              <a:t>Barter → Commodity Money → Metal Coins → Gold Standard → Paper Notes → Fiat → Digital Money → (?)</a:t>
            </a:r>
            <a:endParaRPr sz="1700"/>
          </a:p>
          <a:p>
            <a:pPr indent="0" lvl="0" marL="0" rtl="0" algn="ctr">
              <a:spcBef>
                <a:spcPts val="0"/>
              </a:spcBef>
              <a:spcAft>
                <a:spcPts val="0"/>
              </a:spcAft>
              <a:buNone/>
            </a:pPr>
            <a:r>
              <a:t/>
            </a:r>
            <a:endParaRPr sz="2700"/>
          </a:p>
          <a:p>
            <a:pPr indent="0" lvl="0" marL="0" rtl="0" algn="ctr">
              <a:spcBef>
                <a:spcPts val="0"/>
              </a:spcBef>
              <a:spcAft>
                <a:spcPts val="0"/>
              </a:spcAft>
              <a:buNone/>
            </a:pPr>
            <a:r>
              <a:t/>
            </a:r>
            <a:endParaRPr sz="3200"/>
          </a:p>
          <a:p>
            <a:pPr indent="0" lvl="0" marL="0" rtl="0" algn="ctr">
              <a:spcBef>
                <a:spcPts val="0"/>
              </a:spcBef>
              <a:spcAft>
                <a:spcPts val="0"/>
              </a:spcAft>
              <a:buClr>
                <a:schemeClr val="dk1"/>
              </a:buClr>
              <a:buSzPts val="1100"/>
              <a:buFont typeface="Arial"/>
              <a:buNone/>
            </a:pPr>
            <a:r>
              <a:rPr lang="el" sz="1500">
                <a:solidFill>
                  <a:schemeClr val="dk1"/>
                </a:solidFill>
              </a:rPr>
              <a:t>Το χρήμα ξεκίνησε ως </a:t>
            </a:r>
            <a:r>
              <a:rPr b="1" lang="el" sz="1500">
                <a:solidFill>
                  <a:schemeClr val="dk1"/>
                </a:solidFill>
              </a:rPr>
              <a:t>κοινωνική συμφωνία</a:t>
            </a:r>
            <a:r>
              <a:rPr lang="el" sz="1500">
                <a:solidFill>
                  <a:schemeClr val="dk1"/>
                </a:solidFill>
              </a:rPr>
              <a:t>: αξίζει όσο πιστεύει η κοινότητα ότι αξίζει</a:t>
            </a:r>
            <a:endParaRPr sz="1500">
              <a:solidFill>
                <a:schemeClr val="dk1"/>
              </a:solidFill>
            </a:endParaRPr>
          </a:p>
          <a:p>
            <a:pPr indent="0" lvl="0" marL="0" rtl="0" algn="ctr">
              <a:spcBef>
                <a:spcPts val="0"/>
              </a:spcBef>
              <a:spcAft>
                <a:spcPts val="0"/>
              </a:spcAft>
              <a:buClr>
                <a:schemeClr val="dk1"/>
              </a:buClr>
              <a:buSzPts val="1100"/>
              <a:buFont typeface="Arial"/>
              <a:buNone/>
            </a:pPr>
            <a:r>
              <a:rPr lang="el" sz="1500">
                <a:solidFill>
                  <a:schemeClr val="dk1"/>
                </a:solidFill>
              </a:rPr>
              <a:t>Με τον καιρό, η έκδοσή του πέρασε σε </a:t>
            </a:r>
            <a:r>
              <a:rPr b="1" lang="el" sz="1500">
                <a:solidFill>
                  <a:schemeClr val="dk1"/>
                </a:solidFill>
              </a:rPr>
              <a:t>κεντρικούς θεσμούς</a:t>
            </a:r>
            <a:r>
              <a:rPr lang="el" sz="1500">
                <a:solidFill>
                  <a:schemeClr val="dk1"/>
                </a:solidFill>
              </a:rPr>
              <a:t>: βασιλείς, τράπεζες, κεντρικές τράπεζες</a:t>
            </a:r>
            <a:endParaRPr sz="1500">
              <a:solidFill>
                <a:schemeClr val="dk1"/>
              </a:solidFill>
            </a:endParaRPr>
          </a:p>
          <a:p>
            <a:pPr indent="0" lvl="0" marL="0" rtl="0" algn="ctr">
              <a:spcBef>
                <a:spcPts val="0"/>
              </a:spcBef>
              <a:spcAft>
                <a:spcPts val="0"/>
              </a:spcAft>
              <a:buClr>
                <a:schemeClr val="dk1"/>
              </a:buClr>
              <a:buSzPts val="1100"/>
              <a:buFont typeface="Arial"/>
              <a:buNone/>
            </a:pPr>
            <a:r>
              <a:rPr lang="el" sz="1500">
                <a:solidFill>
                  <a:schemeClr val="dk1"/>
                </a:solidFill>
              </a:rPr>
              <a:t>Το κράτος απέκτησε εργαλεία φορολόγησης, χρηματοδότησης πολέμων και οικονομικής παρέμβασης</a:t>
            </a:r>
            <a:endParaRPr sz="1500">
              <a:solidFill>
                <a:schemeClr val="dk1"/>
              </a:solidFill>
            </a:endParaRPr>
          </a:p>
          <a:p>
            <a:pPr indent="0" lvl="0" marL="0" rtl="0" algn="ctr">
              <a:spcBef>
                <a:spcPts val="0"/>
              </a:spcBef>
              <a:spcAft>
                <a:spcPts val="0"/>
              </a:spcAft>
              <a:buClr>
                <a:schemeClr val="dk1"/>
              </a:buClr>
              <a:buSzPts val="1100"/>
              <a:buFont typeface="Arial"/>
              <a:buNone/>
            </a:pPr>
            <a:r>
              <a:rPr lang="el" sz="1500">
                <a:solidFill>
                  <a:schemeClr val="dk1"/>
                </a:solidFill>
              </a:rPr>
              <a:t>Ο έλεγχος του χρήματος έγινε </a:t>
            </a:r>
            <a:r>
              <a:rPr b="1" lang="el" sz="1500">
                <a:solidFill>
                  <a:schemeClr val="dk1"/>
                </a:solidFill>
              </a:rPr>
              <a:t>έλεγχος της οικονομίας</a:t>
            </a:r>
            <a:endParaRPr b="1" sz="1500">
              <a:solidFill>
                <a:schemeClr val="dk1"/>
              </a:solidFill>
            </a:endParaRPr>
          </a:p>
          <a:p>
            <a:pPr indent="0" lvl="0" marL="0" rtl="0" algn="ctr">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ctrTitle"/>
          </p:nvPr>
        </p:nvSpPr>
        <p:spPr>
          <a:xfrm>
            <a:off x="405375" y="0"/>
            <a:ext cx="8520600" cy="9552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l"/>
              <a:t>Bittorrent/Tor</a:t>
            </a:r>
            <a:endParaRPr/>
          </a:p>
        </p:txBody>
      </p:sp>
      <p:sp>
        <p:nvSpPr>
          <p:cNvPr id="74" name="Google Shape;74;p16"/>
          <p:cNvSpPr txBox="1"/>
          <p:nvPr>
            <p:ph idx="1" type="subTitle"/>
          </p:nvPr>
        </p:nvSpPr>
        <p:spPr>
          <a:xfrm>
            <a:off x="311700" y="1038075"/>
            <a:ext cx="8520600" cy="3652800"/>
          </a:xfrm>
          <a:prstGeom prst="rect">
            <a:avLst/>
          </a:prstGeom>
        </p:spPr>
        <p:txBody>
          <a:bodyPr anchorCtr="0" anchor="t" bIns="91425" lIns="91425" spcFirstLastPara="1" rIns="91425" wrap="square" tIns="91425">
            <a:normAutofit/>
          </a:bodyPr>
          <a:lstStyle/>
          <a:p>
            <a:pPr indent="0" lvl="0" marL="0" rtl="0" algn="ctr">
              <a:lnSpc>
                <a:spcPct val="80000"/>
              </a:lnSpc>
              <a:spcBef>
                <a:spcPts val="0"/>
              </a:spcBef>
              <a:spcAft>
                <a:spcPts val="0"/>
              </a:spcAft>
              <a:buSzPts val="853"/>
              <a:buNone/>
            </a:pPr>
            <a:r>
              <a:rPr lang="el" sz="1870"/>
              <a:t>“</a:t>
            </a:r>
            <a:r>
              <a:rPr lang="el" sz="1870"/>
              <a:t>Necessity is the mother of invention”</a:t>
            </a:r>
            <a:endParaRPr sz="1870"/>
          </a:p>
          <a:p>
            <a:pPr indent="0" lvl="0" marL="0" rtl="0" algn="ctr">
              <a:lnSpc>
                <a:spcPct val="80000"/>
              </a:lnSpc>
              <a:spcBef>
                <a:spcPts val="0"/>
              </a:spcBef>
              <a:spcAft>
                <a:spcPts val="0"/>
              </a:spcAft>
              <a:buSzPts val="853"/>
              <a:buNone/>
            </a:pPr>
            <a:r>
              <a:t/>
            </a:r>
            <a:endParaRPr sz="1870"/>
          </a:p>
          <a:p>
            <a:pPr indent="0" lvl="0" marL="0" rtl="0" algn="l">
              <a:lnSpc>
                <a:spcPct val="80000"/>
              </a:lnSpc>
              <a:spcBef>
                <a:spcPts val="0"/>
              </a:spcBef>
              <a:spcAft>
                <a:spcPts val="0"/>
              </a:spcAft>
              <a:buSzPts val="853"/>
              <a:buNone/>
            </a:pPr>
            <a:r>
              <a:rPr lang="el" sz="1870"/>
              <a:t>Παλαιότερα όταν το video,image streaming ήταν κοστοβόρο τόσο στην μνήμη/αποθήκευση όσο και σε πολλούς άλλους τομείς/λόγους ήρθε το λεγόμενο torrenting να βοηθήσει τους χρήστες του δικτύου αυτού με τεχνολογία P2P(peer to peer), όπου οι χρήστες κρατούσαν node (ανοιχτό pc) για να </a:t>
            </a:r>
            <a:r>
              <a:rPr lang="el" sz="1870"/>
              <a:t>στείλουν</a:t>
            </a:r>
            <a:r>
              <a:rPr lang="el" sz="1870"/>
              <a:t> άμεσα το αρχείο σε άλλο άτομο του δικτύου.</a:t>
            </a:r>
            <a:endParaRPr sz="1870"/>
          </a:p>
          <a:p>
            <a:pPr indent="0" lvl="0" marL="0" rtl="0" algn="l">
              <a:lnSpc>
                <a:spcPct val="80000"/>
              </a:lnSpc>
              <a:spcBef>
                <a:spcPts val="0"/>
              </a:spcBef>
              <a:spcAft>
                <a:spcPts val="0"/>
              </a:spcAft>
              <a:buSzPts val="853"/>
              <a:buNone/>
            </a:pPr>
            <a:r>
              <a:t/>
            </a:r>
            <a:endParaRPr sz="1870"/>
          </a:p>
          <a:p>
            <a:pPr indent="0" lvl="0" marL="0" rtl="0" algn="l">
              <a:lnSpc>
                <a:spcPct val="80000"/>
              </a:lnSpc>
              <a:spcBef>
                <a:spcPts val="0"/>
              </a:spcBef>
              <a:spcAft>
                <a:spcPts val="0"/>
              </a:spcAft>
              <a:buSzPts val="853"/>
              <a:buNone/>
            </a:pPr>
            <a:r>
              <a:rPr lang="el" sz="1870"/>
              <a:t>Αυτή η συμμετοχή όμως παρόλο που </a:t>
            </a:r>
            <a:r>
              <a:rPr lang="el" sz="1870"/>
              <a:t>είναι</a:t>
            </a:r>
            <a:r>
              <a:rPr lang="el" sz="1870"/>
              <a:t> </a:t>
            </a:r>
            <a:r>
              <a:rPr lang="el" sz="1870"/>
              <a:t>πολύ</a:t>
            </a:r>
            <a:r>
              <a:rPr lang="el" sz="1870"/>
              <a:t> σημαντική, πολλές φορές δεν είναι οικονομικά κερδοφόρα για τους περισσότερους συμμετέχοντες του.</a:t>
            </a:r>
            <a:endParaRPr sz="187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ctrTitle"/>
          </p:nvPr>
        </p:nvSpPr>
        <p:spPr>
          <a:xfrm>
            <a:off x="311700" y="-132675"/>
            <a:ext cx="8520600" cy="1173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l"/>
              <a:t>Bitcoin</a:t>
            </a:r>
            <a:endParaRPr/>
          </a:p>
        </p:txBody>
      </p:sp>
      <p:sp>
        <p:nvSpPr>
          <p:cNvPr id="80" name="Google Shape;80;p17"/>
          <p:cNvSpPr txBox="1"/>
          <p:nvPr>
            <p:ph idx="1" type="subTitle"/>
          </p:nvPr>
        </p:nvSpPr>
        <p:spPr>
          <a:xfrm>
            <a:off x="311700" y="1131725"/>
            <a:ext cx="8520600" cy="3512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1018"/>
              <a:buNone/>
            </a:pPr>
            <a:r>
              <a:rPr lang="el" sz="1890"/>
              <a:t>Το Bitcoin δεν </a:t>
            </a:r>
            <a:r>
              <a:rPr lang="el" sz="1890"/>
              <a:t>ήταν η πρώτη τεχνολογία αποκέντρωσης. </a:t>
            </a:r>
            <a:r>
              <a:rPr lang="el" sz="1890"/>
              <a:t>Ήταν</a:t>
            </a:r>
            <a:r>
              <a:rPr lang="el" sz="1890"/>
              <a:t> όμως η πρώτη που κατάφερε να την εφαρμώσει σε “χρήματα”. Γεννημένη στην οικονομική κρίση του 2008-9, έφερε επανάσταση στον τρόπο που σκεφτόμαστε τι είναι το ηλεκτρονικό χρήμα και πως λειτουργεί.</a:t>
            </a:r>
            <a:endParaRPr sz="1890"/>
          </a:p>
          <a:p>
            <a:pPr indent="0" lvl="0" marL="0" rtl="0" algn="l">
              <a:spcBef>
                <a:spcPts val="0"/>
              </a:spcBef>
              <a:spcAft>
                <a:spcPts val="0"/>
              </a:spcAft>
              <a:buSzPts val="1018"/>
              <a:buNone/>
            </a:pPr>
            <a:r>
              <a:t/>
            </a:r>
            <a:endParaRPr sz="1890"/>
          </a:p>
          <a:p>
            <a:pPr indent="0" lvl="0" marL="0" rtl="0" algn="l">
              <a:spcBef>
                <a:spcPts val="0"/>
              </a:spcBef>
              <a:spcAft>
                <a:spcPts val="0"/>
              </a:spcAft>
              <a:buSzPts val="1018"/>
              <a:buNone/>
            </a:pPr>
            <a:r>
              <a:t/>
            </a:r>
            <a:endParaRPr sz="1890"/>
          </a:p>
          <a:p>
            <a:pPr indent="0" lvl="0" marL="0" rtl="0" algn="l">
              <a:spcBef>
                <a:spcPts val="0"/>
              </a:spcBef>
              <a:spcAft>
                <a:spcPts val="0"/>
              </a:spcAft>
              <a:buSzPts val="1018"/>
              <a:buNone/>
            </a:pPr>
            <a:r>
              <a:rPr lang="el" sz="1890"/>
              <a:t>Συγκεκριμένη Προσφορά Bitcoin ώστε να καταπολεμήσει τον </a:t>
            </a:r>
            <a:r>
              <a:rPr lang="el" sz="1890"/>
              <a:t>πληθωρισμό της παραδοσιακής Οικονομίας, Αποφυγή double spending και αποκέντρωση. </a:t>
            </a:r>
            <a:endParaRPr sz="1890"/>
          </a:p>
          <a:p>
            <a:pPr indent="0" lvl="0" marL="0" rtl="0" algn="l">
              <a:spcBef>
                <a:spcPts val="0"/>
              </a:spcBef>
              <a:spcAft>
                <a:spcPts val="0"/>
              </a:spcAft>
              <a:buSzPts val="1018"/>
              <a:buNone/>
            </a:pPr>
            <a:r>
              <a:t/>
            </a:r>
            <a:endParaRPr sz="1890"/>
          </a:p>
          <a:p>
            <a:pPr indent="0" lvl="0" marL="0" rtl="0" algn="l">
              <a:spcBef>
                <a:spcPts val="0"/>
              </a:spcBef>
              <a:spcAft>
                <a:spcPts val="0"/>
              </a:spcAft>
              <a:buSzPts val="1018"/>
              <a:buNone/>
            </a:pPr>
            <a:r>
              <a:rPr lang="el" sz="1890"/>
              <a:t> </a:t>
            </a:r>
            <a:endParaRPr sz="189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ctrTitle"/>
          </p:nvPr>
        </p:nvSpPr>
        <p:spPr>
          <a:xfrm>
            <a:off x="264875" y="117075"/>
            <a:ext cx="8520600" cy="1056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l"/>
              <a:t>Ethereum</a:t>
            </a:r>
            <a:endParaRPr/>
          </a:p>
        </p:txBody>
      </p:sp>
      <p:sp>
        <p:nvSpPr>
          <p:cNvPr id="86" name="Google Shape;86;p18"/>
          <p:cNvSpPr txBox="1"/>
          <p:nvPr>
            <p:ph idx="1" type="subTitle"/>
          </p:nvPr>
        </p:nvSpPr>
        <p:spPr>
          <a:xfrm>
            <a:off x="311700" y="1173675"/>
            <a:ext cx="8520600" cy="3251700"/>
          </a:xfrm>
          <a:prstGeom prst="rect">
            <a:avLst/>
          </a:prstGeom>
        </p:spPr>
        <p:txBody>
          <a:bodyPr anchorCtr="0" anchor="t" bIns="91425" lIns="91425" spcFirstLastPara="1" rIns="91425" wrap="square" tIns="91425">
            <a:normAutofit/>
          </a:bodyPr>
          <a:lstStyle/>
          <a:p>
            <a:pPr indent="0" lvl="0" marL="0" rtl="0" algn="l">
              <a:lnSpc>
                <a:spcPct val="80000"/>
              </a:lnSpc>
              <a:spcBef>
                <a:spcPts val="0"/>
              </a:spcBef>
              <a:spcAft>
                <a:spcPts val="0"/>
              </a:spcAft>
              <a:buNone/>
            </a:pPr>
            <a:r>
              <a:rPr lang="el" sz="1800"/>
              <a:t>Παρόλα Αυτά</a:t>
            </a:r>
            <a:r>
              <a:rPr lang="el" sz="1800"/>
              <a:t> το Bitcoin, είναι </a:t>
            </a:r>
            <a:r>
              <a:rPr lang="el" sz="1800"/>
              <a:t>αργό</a:t>
            </a:r>
            <a:r>
              <a:rPr lang="el" sz="1800"/>
              <a:t>(10m/Txs).</a:t>
            </a:r>
            <a:endParaRPr sz="1800"/>
          </a:p>
          <a:p>
            <a:pPr indent="0" lvl="0" marL="0" rtl="0" algn="l">
              <a:lnSpc>
                <a:spcPct val="80000"/>
              </a:lnSpc>
              <a:spcBef>
                <a:spcPts val="0"/>
              </a:spcBef>
              <a:spcAft>
                <a:spcPts val="0"/>
              </a:spcAft>
              <a:buNone/>
            </a:pPr>
            <a:r>
              <a:t/>
            </a:r>
            <a:endParaRPr sz="1800"/>
          </a:p>
          <a:p>
            <a:pPr indent="0" lvl="0" marL="0" rtl="0" algn="l">
              <a:lnSpc>
                <a:spcPct val="80000"/>
              </a:lnSpc>
              <a:spcBef>
                <a:spcPts val="0"/>
              </a:spcBef>
              <a:spcAft>
                <a:spcPts val="0"/>
              </a:spcAft>
              <a:buNone/>
            </a:pPr>
            <a:r>
              <a:rPr lang="el" sz="1800"/>
              <a:t>Το Ethereum </a:t>
            </a:r>
            <a:r>
              <a:rPr lang="el" sz="1800"/>
              <a:t>εφάρμοσε</a:t>
            </a:r>
            <a:r>
              <a:rPr lang="el" sz="1800"/>
              <a:t> την λογική του σε γενικότερο πλαίσιο α</a:t>
            </a:r>
            <a:r>
              <a:rPr lang="el" sz="1800"/>
              <a:t>ποκεντρώνοντας</a:t>
            </a:r>
            <a:r>
              <a:rPr lang="el" sz="1800"/>
              <a:t> τον ίδιο τον κώδικα και στην συμμετοχή του, </a:t>
            </a:r>
            <a:r>
              <a:rPr lang="el" sz="1800"/>
              <a:t>δίνοντας</a:t>
            </a:r>
            <a:r>
              <a:rPr lang="el" sz="1800"/>
              <a:t> ζωή στο defi(decentralized Finance) και σε πολλές άλλες ιδέες δυναμικής εφαρμογής της τεχνολογίας Blockchain. </a:t>
            </a:r>
            <a:endParaRPr sz="1800"/>
          </a:p>
          <a:p>
            <a:pPr indent="0" lvl="0" marL="0" rtl="0" algn="l">
              <a:lnSpc>
                <a:spcPct val="80000"/>
              </a:lnSpc>
              <a:spcBef>
                <a:spcPts val="0"/>
              </a:spcBef>
              <a:spcAft>
                <a:spcPts val="0"/>
              </a:spcAft>
              <a:buNone/>
            </a:pPr>
            <a:r>
              <a:t/>
            </a:r>
            <a:endParaRPr sz="1800"/>
          </a:p>
          <a:p>
            <a:pPr indent="0" lvl="0" marL="0" rtl="0" algn="l">
              <a:lnSpc>
                <a:spcPct val="80000"/>
              </a:lnSpc>
              <a:spcBef>
                <a:spcPts val="0"/>
              </a:spcBef>
              <a:spcAft>
                <a:spcPts val="0"/>
              </a:spcAft>
              <a:buNone/>
            </a:pPr>
            <a:r>
              <a:rPr lang="el" sz="1800"/>
              <a:t>Smart Contracts δίνοντας πρόσβαση σε άτομα να εκτελούν κώδικα με αποκεντρωμένο τρόπο ή/και θεμέλια για Tokenized Stocks/Buildings και οτιδήποτε άλλο θελήσουμε…</a:t>
            </a:r>
            <a:endParaRPr sz="1800"/>
          </a:p>
          <a:p>
            <a:pPr indent="0" lvl="0" marL="0" rtl="0" algn="l">
              <a:lnSpc>
                <a:spcPct val="80000"/>
              </a:lnSpc>
              <a:spcBef>
                <a:spcPts val="0"/>
              </a:spcBef>
              <a:spcAft>
                <a:spcPts val="0"/>
              </a:spcAft>
              <a:buNone/>
            </a:pPr>
            <a:r>
              <a:t/>
            </a:r>
            <a:endParaRPr sz="1800"/>
          </a:p>
          <a:p>
            <a:pPr indent="0" lvl="0" marL="0" rtl="0" algn="l">
              <a:lnSpc>
                <a:spcPct val="80000"/>
              </a:lnSpc>
              <a:spcBef>
                <a:spcPts val="0"/>
              </a:spcBef>
              <a:spcAft>
                <a:spcPts val="0"/>
              </a:spcAft>
              <a:buNone/>
            </a:pPr>
            <a:r>
              <a:rPr lang="el" sz="600"/>
              <a:t> </a:t>
            </a:r>
            <a:r>
              <a:rPr lang="el" sz="1600"/>
              <a:t>To ΕΤΗ όμως για να τρέξει έναν κώδικα, πρέπει να τον τρέξουν όλοι απο την αρχή που το κάνει μη αποδοτικό σε μεγάλο scale. Γιαυτό ήρθαν άλλα δίκτυα να καταπολεμήσουν διάφορες ατέλειες.</a:t>
            </a:r>
            <a:endParaRPr sz="6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idx="1" type="subTitle"/>
          </p:nvPr>
        </p:nvSpPr>
        <p:spPr>
          <a:xfrm>
            <a:off x="397550" y="936600"/>
            <a:ext cx="8520600" cy="41601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t/>
            </a:r>
            <a:endParaRPr sz="1800"/>
          </a:p>
          <a:p>
            <a:pPr indent="0" lvl="0" marL="0" rtl="0" algn="ctr">
              <a:spcBef>
                <a:spcPts val="0"/>
              </a:spcBef>
              <a:spcAft>
                <a:spcPts val="0"/>
              </a:spcAft>
              <a:buNone/>
            </a:pPr>
            <a:r>
              <a:t/>
            </a:r>
            <a:endParaRPr sz="1800"/>
          </a:p>
          <a:p>
            <a:pPr indent="0" lvl="0" marL="0" rtl="0" algn="ctr">
              <a:spcBef>
                <a:spcPts val="0"/>
              </a:spcBef>
              <a:spcAft>
                <a:spcPts val="0"/>
              </a:spcAft>
              <a:buNone/>
            </a:pPr>
            <a:r>
              <a:rPr lang="el" sz="1800"/>
              <a:t>Ο τρ</a:t>
            </a:r>
            <a:r>
              <a:rPr lang="el" sz="1800"/>
              <a:t>όπος αποδοχής ενός transaction ή </a:t>
            </a:r>
            <a:r>
              <a:rPr lang="el" sz="1800"/>
              <a:t>οτιδήποτε</a:t>
            </a:r>
            <a:r>
              <a:rPr lang="el" sz="1800"/>
              <a:t> θέλουμε μεταξύ των συμμετεχόντων του δικτύου λέγεται  Consensus Mechanism. πχ πως ξέρουμε ότι ο Bob μας λέει αλήθεια και έχει τόσα bitcoin που θα στείλει στην Alice??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l" sz="1800"/>
              <a:t>Κάθε Δίκτυο έχει τον δικό του τρόπο(κανόνα- consensus Mechanism) να επιβεβαιώνει τί είναι σωστό και τι όχι.</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l" sz="1800"/>
              <a:t>Κάθε ένα έχει θετικά και αρνητικά.</a:t>
            </a:r>
            <a:endParaRPr sz="1800"/>
          </a:p>
          <a:p>
            <a:pPr indent="0" lvl="0" marL="0" rtl="0" algn="l">
              <a:spcBef>
                <a:spcPts val="0"/>
              </a:spcBef>
              <a:spcAft>
                <a:spcPts val="0"/>
              </a:spcAft>
              <a:buNone/>
            </a:pPr>
            <a:r>
              <a:rPr lang="el" sz="1800"/>
              <a:t>ΒTC: POW - slow but secure</a:t>
            </a:r>
            <a:endParaRPr sz="1800"/>
          </a:p>
          <a:p>
            <a:pPr indent="0" lvl="0" marL="0" rtl="0" algn="l">
              <a:spcBef>
                <a:spcPts val="0"/>
              </a:spcBef>
              <a:spcAft>
                <a:spcPts val="0"/>
              </a:spcAft>
              <a:buNone/>
            </a:pPr>
            <a:r>
              <a:rPr lang="el" sz="1876"/>
              <a:t>ETH:POS - fast but sometimes concentration</a:t>
            </a:r>
            <a:endParaRPr sz="1876"/>
          </a:p>
          <a:p>
            <a:pPr indent="0" lvl="0" marL="0" rtl="0" algn="l">
              <a:spcBef>
                <a:spcPts val="0"/>
              </a:spcBef>
              <a:spcAft>
                <a:spcPts val="0"/>
              </a:spcAft>
              <a:buNone/>
            </a:pPr>
            <a:r>
              <a:rPr lang="el" sz="1876"/>
              <a:t>SOL:POH .etc..</a:t>
            </a:r>
            <a:endParaRPr sz="1876"/>
          </a:p>
          <a:p>
            <a:pPr indent="0" lvl="0" marL="0" rtl="0" algn="l">
              <a:spcBef>
                <a:spcPts val="0"/>
              </a:spcBef>
              <a:spcAft>
                <a:spcPts val="0"/>
              </a:spcAft>
              <a:buNone/>
            </a:pPr>
            <a:r>
              <a:t/>
            </a:r>
            <a:endParaRPr sz="1876"/>
          </a:p>
          <a:p>
            <a:pPr indent="0" lvl="0" marL="0" rtl="0" algn="l">
              <a:spcBef>
                <a:spcPts val="0"/>
              </a:spcBef>
              <a:spcAft>
                <a:spcPts val="0"/>
              </a:spcAft>
              <a:buNone/>
            </a:pPr>
            <a:r>
              <a:rPr lang="el" sz="1876"/>
              <a:t>Every single one has a tradeoff.</a:t>
            </a:r>
            <a:endParaRPr sz="1876"/>
          </a:p>
          <a:p>
            <a:pPr indent="0" lvl="0" marL="0" rtl="0" algn="ctr">
              <a:spcBef>
                <a:spcPts val="0"/>
              </a:spcBef>
              <a:spcAft>
                <a:spcPts val="0"/>
              </a:spcAft>
              <a:buNone/>
            </a:pPr>
            <a:r>
              <a:t/>
            </a:r>
            <a:endParaRPr/>
          </a:p>
        </p:txBody>
      </p:sp>
      <p:sp>
        <p:nvSpPr>
          <p:cNvPr id="92" name="Google Shape;92;p19"/>
          <p:cNvSpPr txBox="1"/>
          <p:nvPr>
            <p:ph type="ctrTitle"/>
          </p:nvPr>
        </p:nvSpPr>
        <p:spPr>
          <a:xfrm>
            <a:off x="264875" y="117075"/>
            <a:ext cx="8520600" cy="1056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l"/>
              <a:t>Consensus Mechanism</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0"/>
          <p:cNvSpPr txBox="1"/>
          <p:nvPr>
            <p:ph type="ctrTitle"/>
          </p:nvPr>
        </p:nvSpPr>
        <p:spPr>
          <a:xfrm>
            <a:off x="139975" y="-132675"/>
            <a:ext cx="8520600" cy="1202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l" sz="4500"/>
              <a:t>Οι έμπνευσεις</a:t>
            </a:r>
            <a:endParaRPr sz="4500"/>
          </a:p>
        </p:txBody>
      </p:sp>
      <p:sp>
        <p:nvSpPr>
          <p:cNvPr id="98" name="Google Shape;98;p20"/>
          <p:cNvSpPr txBox="1"/>
          <p:nvPr>
            <p:ph idx="1" type="subTitle"/>
          </p:nvPr>
        </p:nvSpPr>
        <p:spPr>
          <a:xfrm>
            <a:off x="311700" y="1272225"/>
            <a:ext cx="8520600" cy="34731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SzPts val="935"/>
              <a:buNone/>
            </a:pPr>
            <a:r>
              <a:rPr lang="el" sz="1880"/>
              <a:t>Github: </a:t>
            </a:r>
            <a:r>
              <a:rPr lang="el" sz="1880"/>
              <a:t>Η διαφάνεια και η κοινή ιδιοκτησία ξεκλειδώνουν συνεισφορές σε κλίμακα που καμία εταιρεία δεν φτάνει(Linux, SQL, και πάρα πολλά άλλα με εκθετικό ρυθμό)</a:t>
            </a:r>
            <a:endParaRPr sz="1880"/>
          </a:p>
          <a:p>
            <a:pPr indent="0" lvl="0" marL="0" rtl="0" algn="l">
              <a:spcBef>
                <a:spcPts val="0"/>
              </a:spcBef>
              <a:spcAft>
                <a:spcPts val="0"/>
              </a:spcAft>
              <a:buSzPts val="935"/>
              <a:buNone/>
            </a:pPr>
            <a:r>
              <a:t/>
            </a:r>
            <a:endParaRPr sz="1880"/>
          </a:p>
          <a:p>
            <a:pPr indent="0" lvl="0" marL="0" rtl="0" algn="l">
              <a:spcBef>
                <a:spcPts val="0"/>
              </a:spcBef>
              <a:spcAft>
                <a:spcPts val="0"/>
              </a:spcAft>
              <a:buSzPts val="935"/>
              <a:buNone/>
            </a:pPr>
            <a:r>
              <a:rPr lang="el" sz="1880"/>
              <a:t>Kaggle: Ανοιχτός ανταγωνισμός(ML): ορίζεις ένα task, το ανοίγεις σε όλους, </a:t>
            </a:r>
            <a:r>
              <a:rPr lang="el" sz="1880"/>
              <a:t>αμείβεται</a:t>
            </a:r>
            <a:r>
              <a:rPr lang="el" sz="1880"/>
              <a:t> το/τα καλύτερο/α αποτέλεσμα.</a:t>
            </a:r>
            <a:endParaRPr sz="1880"/>
          </a:p>
          <a:p>
            <a:pPr indent="0" lvl="0" marL="0" rtl="0" algn="l">
              <a:spcBef>
                <a:spcPts val="0"/>
              </a:spcBef>
              <a:spcAft>
                <a:spcPts val="0"/>
              </a:spcAft>
              <a:buSzPts val="935"/>
              <a:buNone/>
            </a:pPr>
            <a:r>
              <a:t/>
            </a:r>
            <a:endParaRPr sz="1880"/>
          </a:p>
          <a:p>
            <a:pPr indent="0" lvl="0" marL="0" rtl="0" algn="l">
              <a:spcBef>
                <a:spcPts val="0"/>
              </a:spcBef>
              <a:spcAft>
                <a:spcPts val="0"/>
              </a:spcAft>
              <a:buSzPts val="935"/>
              <a:buNone/>
            </a:pPr>
            <a:r>
              <a:rPr lang="el" sz="1880"/>
              <a:t>P2P/Torrenting/Bitcoin: Η μαθηματική απόδειξη αντικαθιστά την εμπιστοσύνη σε θεσμούς και αμείβει άμεσα τη δουλειά.</a:t>
            </a:r>
            <a:endParaRPr sz="1880"/>
          </a:p>
          <a:p>
            <a:pPr indent="0" lvl="0" marL="0" rtl="0" algn="l">
              <a:spcBef>
                <a:spcPts val="0"/>
              </a:spcBef>
              <a:spcAft>
                <a:spcPts val="0"/>
              </a:spcAft>
              <a:buSzPts val="935"/>
              <a:buNone/>
            </a:pPr>
            <a:r>
              <a:t/>
            </a:r>
            <a:endParaRPr sz="1880"/>
          </a:p>
          <a:p>
            <a:pPr indent="0" lvl="0" marL="0" rtl="0" algn="l">
              <a:spcBef>
                <a:spcPts val="0"/>
              </a:spcBef>
              <a:spcAft>
                <a:spcPts val="0"/>
              </a:spcAft>
              <a:buSzPts val="935"/>
              <a:buNone/>
            </a:pPr>
            <a:r>
              <a:rPr lang="el" sz="1880"/>
              <a:t>HuggingFace/Ollama: Ανοιχτή και δωρεαν συνεισφορά και κατέβασμα μοντέλων(open weights,code).  </a:t>
            </a:r>
            <a:endParaRPr sz="188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1"/>
          <p:cNvSpPr txBox="1"/>
          <p:nvPr>
            <p:ph idx="1" type="subTitle"/>
          </p:nvPr>
        </p:nvSpPr>
        <p:spPr>
          <a:xfrm>
            <a:off x="311700" y="842950"/>
            <a:ext cx="8520600" cy="39963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l" sz="2000"/>
              <a:t>Τι θα γιν</a:t>
            </a:r>
            <a:r>
              <a:rPr lang="el" sz="2000"/>
              <a:t>όταν αν μπορούσαμε να ενώσουμε όλες αυτες τις προηγούμενες τεχνολογίες/ιδεολογίες σε ένα δίκτυο ώστε χωρίς μεμονωμένη εμπιστοσύνη σε </a:t>
            </a:r>
            <a:r>
              <a:rPr lang="el" sz="2000"/>
              <a:t>κεντρικές αρχές να μπορούμε να επιβραβεύουμε τον καλύτερο “εργάτη” για την δουλειά του ακόμα και αν πρόκειται για open source contribution, open weights, inference,Real world Problem Solving, etc??</a:t>
            </a:r>
            <a:r>
              <a:rPr lang="el" sz="2000"/>
              <a:t> </a:t>
            </a:r>
            <a:endParaRPr sz="20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2"/>
          <p:cNvSpPr txBox="1"/>
          <p:nvPr>
            <p:ph type="ctrTitle"/>
          </p:nvPr>
        </p:nvSpPr>
        <p:spPr>
          <a:xfrm>
            <a:off x="311700" y="538550"/>
            <a:ext cx="8520600" cy="11865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l" sz="4533"/>
              <a:t>Bittensor (τ)</a:t>
            </a:r>
            <a:endParaRPr sz="4533"/>
          </a:p>
          <a:p>
            <a:pPr indent="0" lvl="0" marL="0" rtl="0" algn="ctr">
              <a:spcBef>
                <a:spcPts val="0"/>
              </a:spcBef>
              <a:spcAft>
                <a:spcPts val="0"/>
              </a:spcAft>
              <a:buNone/>
            </a:pPr>
            <a:r>
              <a:t/>
            </a:r>
            <a:endParaRPr/>
          </a:p>
        </p:txBody>
      </p:sp>
      <p:sp>
        <p:nvSpPr>
          <p:cNvPr id="109" name="Google Shape;109;p22"/>
          <p:cNvSpPr txBox="1"/>
          <p:nvPr>
            <p:ph idx="1" type="subTitle"/>
          </p:nvPr>
        </p:nvSpPr>
        <p:spPr>
          <a:xfrm>
            <a:off x="350725" y="1592225"/>
            <a:ext cx="8520600" cy="3012600"/>
          </a:xfrm>
          <a:prstGeom prst="rect">
            <a:avLst/>
          </a:prstGeom>
        </p:spPr>
        <p:txBody>
          <a:bodyPr anchorCtr="0" anchor="t" bIns="91425" lIns="91425" spcFirstLastPara="1" rIns="91425" wrap="square" tIns="91425">
            <a:normAutofit fontScale="47500" lnSpcReduction="20000"/>
          </a:bodyPr>
          <a:lstStyle/>
          <a:p>
            <a:pPr indent="0" lvl="0" marL="0" rtl="0" algn="ctr">
              <a:spcBef>
                <a:spcPts val="0"/>
              </a:spcBef>
              <a:spcAft>
                <a:spcPts val="0"/>
              </a:spcAft>
              <a:buNone/>
            </a:pPr>
            <a:r>
              <a:rPr lang="el"/>
              <a:t>Decentralized Intelligence (Web4)</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Η φυσική και πλέον λογική πορεία στην εξέλιξη των ψηφιακών τεχνολογιών είναι η σύγκλιση των αποκεντρωμένων συστημάτων με την πιο πολύτιμη και πολλά υποσχόμενη πρόοδο της εποχής μας: την Τεχνητή Νοημοσύνη.</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Δημιούργησε ένα Επίπεδο Κινήτρων: ένα σύστημα χωρίς περιορισμούς πρόσβασης, στο οποίο οποιοσδήποτε διαθέτει τις κατάλληλες γνώσεις και την απαιτούμενη εμπειρία μπορεί να συμμετάσχει, να συνεισφέρει και να λάβει αμοιβή άμεσα — παρακάμπτοντας πλήρως τους συγκεντρωτικούς μηχανισμούς ελέγχου πρόσβασης, όπως οι προσλήψεις με βάση την τοποθεσία, οι χρονοβόρες θεσμικές διαδικασίες και η αδιαφανής αξιολόγηση της απόδοσης.</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Το δίκτυο μετατρέπεται σε ένα Επίπεδο μοντέλων,κώδικα και open </a:t>
            </a:r>
            <a:r>
              <a:rPr lang="el"/>
              <a:t>source </a:t>
            </a:r>
            <a:r>
              <a:rPr lang="el"/>
              <a:t> που χαρακτηρίζεται ταυτόχρονα από ανταγωνισμό αλλά και συνεργασία, όπου κάθε μοντέλο/κώδικας βελτιώνεται μέσω μιας συνεχούς εξέλιξης που καθοδηγείται από κίνητρα και άμεση αμοιβή.</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3"/>
          <p:cNvSpPr txBox="1"/>
          <p:nvPr>
            <p:ph type="ctrTitle"/>
          </p:nvPr>
        </p:nvSpPr>
        <p:spPr>
          <a:xfrm>
            <a:off x="225850" y="-31225"/>
            <a:ext cx="8520600" cy="13044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l"/>
              <a:t>Πως λειτουργε</a:t>
            </a:r>
            <a:r>
              <a:rPr lang="el"/>
              <a:t>ί;</a:t>
            </a:r>
            <a:endParaRPr/>
          </a:p>
        </p:txBody>
      </p:sp>
      <p:sp>
        <p:nvSpPr>
          <p:cNvPr id="115" name="Google Shape;115;p23"/>
          <p:cNvSpPr txBox="1"/>
          <p:nvPr>
            <p:ph idx="1" type="subTitle"/>
          </p:nvPr>
        </p:nvSpPr>
        <p:spPr>
          <a:xfrm>
            <a:off x="311700" y="1358075"/>
            <a:ext cx="8520600" cy="3613800"/>
          </a:xfrm>
          <a:prstGeom prst="rect">
            <a:avLst/>
          </a:prstGeom>
        </p:spPr>
        <p:txBody>
          <a:bodyPr anchorCtr="0" anchor="t" bIns="91425" lIns="91425" spcFirstLastPara="1" rIns="91425" wrap="square" tIns="91425">
            <a:normAutofit lnSpcReduction="10000"/>
          </a:bodyPr>
          <a:lstStyle/>
          <a:p>
            <a:pPr indent="0" lvl="0" marL="0" rtl="0" algn="l">
              <a:lnSpc>
                <a:spcPct val="115000"/>
              </a:lnSpc>
              <a:spcBef>
                <a:spcPts val="1200"/>
              </a:spcBef>
              <a:spcAft>
                <a:spcPts val="0"/>
              </a:spcAft>
              <a:buClr>
                <a:schemeClr val="dk1"/>
              </a:buClr>
              <a:buSzPts val="1100"/>
              <a:buFont typeface="Arial"/>
              <a:buNone/>
            </a:pPr>
            <a:r>
              <a:rPr lang="el" sz="1700">
                <a:solidFill>
                  <a:schemeClr val="dk1"/>
                </a:solidFill>
              </a:rPr>
              <a:t>Στην παραδοσιακή αγορά, νέο χρήμα εκδίδεται (τυπώνεται) από κεντρικούς θεσμούς. Πολλές φορές όμως, λόγω διαφθοράς και κακής διαχείρισης, αυτό το χρήμα καταλήγει σε ανθρώπους ή μηχανισμούς, π.χ. πολιτικούς και διαμεσολαβητές, που δεν παράγουν καμία ουσιαστική παραγωγική δουλειά. Η νέα προσφορά χρήματος δεν συνδέεται με την αξία που δημιουργείται.</a:t>
            </a:r>
            <a:endParaRPr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l" sz="1700">
                <a:solidFill>
                  <a:schemeClr val="dk1"/>
                </a:solidFill>
              </a:rPr>
              <a:t>Το Bittensor αντιστρέφει αυτή τη λογική. Εκδίδονται νέα tokens (</a:t>
            </a:r>
            <a:r>
              <a:rPr b="1" lang="el" sz="1700">
                <a:solidFill>
                  <a:schemeClr val="dk1"/>
                </a:solidFill>
              </a:rPr>
              <a:t>TAO</a:t>
            </a:r>
            <a:r>
              <a:rPr lang="el" sz="1700">
                <a:solidFill>
                  <a:schemeClr val="dk1"/>
                </a:solidFill>
              </a:rPr>
              <a:t>), αλλά με προγραμματισμένο και διαφανές ρυθμό: 21 εκατομμύρια το πολύ, με halvings, χωρίς κανέναν να μπορεί να τα τυπώσει κατά βούληση. Και το βασικότερο, </a:t>
            </a:r>
            <a:r>
              <a:rPr b="1" lang="el" sz="1700">
                <a:solidFill>
                  <a:schemeClr val="dk1"/>
                </a:solidFill>
              </a:rPr>
              <a:t>κανείς δεν τα παίρνει χωρίς να παράγει</a:t>
            </a:r>
            <a:r>
              <a:rPr lang="el" sz="1700">
                <a:solidFill>
                  <a:schemeClr val="dk1"/>
                </a:solidFill>
              </a:rPr>
              <a:t>. Τα tokens μοιράζονται μόνο σε όσους προσφέρουν πραγματική ευφυΐα και εξέλιξη στο δίκτυο.</a:t>
            </a:r>
            <a:endParaRPr sz="1700">
              <a:solidFill>
                <a:schemeClr val="dk1"/>
              </a:solidFill>
            </a:endParaRPr>
          </a:p>
          <a:p>
            <a:pPr indent="0" lvl="0" marL="0" rtl="0" algn="l">
              <a:spcBef>
                <a:spcPts val="120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4"/>
          <p:cNvSpPr txBox="1"/>
          <p:nvPr>
            <p:ph type="ctrTitle"/>
          </p:nvPr>
        </p:nvSpPr>
        <p:spPr>
          <a:xfrm>
            <a:off x="381950" y="195125"/>
            <a:ext cx="8520600" cy="9084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l"/>
              <a:t>Αρχιτεκτονικ</a:t>
            </a:r>
            <a:r>
              <a:rPr lang="el"/>
              <a:t>ή</a:t>
            </a:r>
            <a:endParaRPr/>
          </a:p>
        </p:txBody>
      </p:sp>
      <p:sp>
        <p:nvSpPr>
          <p:cNvPr id="121" name="Google Shape;121;p24"/>
          <p:cNvSpPr txBox="1"/>
          <p:nvPr>
            <p:ph idx="1" type="subTitle"/>
          </p:nvPr>
        </p:nvSpPr>
        <p:spPr>
          <a:xfrm>
            <a:off x="311700" y="1436125"/>
            <a:ext cx="8520600" cy="334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sz="1800">
                <a:solidFill>
                  <a:schemeClr val="dk1"/>
                </a:solidFill>
              </a:rPr>
              <a:t>Το δίκτυο χωρίζεται σε </a:t>
            </a:r>
            <a:r>
              <a:rPr b="1" lang="el" sz="1800">
                <a:solidFill>
                  <a:schemeClr val="dk1"/>
                </a:solidFill>
              </a:rPr>
              <a:t>subnets</a:t>
            </a:r>
            <a:r>
              <a:rPr lang="el" sz="1800">
                <a:solidFill>
                  <a:schemeClr val="dk1"/>
                </a:solidFill>
              </a:rPr>
              <a:t>, ανταγωνιστικές αγορές/εταιρείες όπου ο καθένας λύνει ένα συγκεκριμένο πρόβλημα (π.χ. AI text detection, inference, training). Οι </a:t>
            </a:r>
            <a:r>
              <a:rPr b="1" lang="el" sz="1800">
                <a:solidFill>
                  <a:schemeClr val="dk1"/>
                </a:solidFill>
              </a:rPr>
              <a:t>miners</a:t>
            </a:r>
            <a:r>
              <a:rPr lang="el" sz="1800">
                <a:solidFill>
                  <a:schemeClr val="dk1"/>
                </a:solidFill>
              </a:rPr>
              <a:t> παράγουν την ευφυΐα, δηλαδή μοντέλα και αλγορίθμους. Οι </a:t>
            </a:r>
            <a:r>
              <a:rPr b="1" lang="el" sz="1800">
                <a:solidFill>
                  <a:schemeClr val="dk1"/>
                </a:solidFill>
              </a:rPr>
              <a:t>validators</a:t>
            </a:r>
            <a:r>
              <a:rPr lang="el" sz="1800">
                <a:solidFill>
                  <a:schemeClr val="dk1"/>
                </a:solidFill>
              </a:rPr>
              <a:t> αξιολογούν τα αποτελέσματά τους και βαθμολογούν τον καθένα. Το </a:t>
            </a:r>
            <a:r>
              <a:rPr b="1" lang="el" sz="1800">
                <a:solidFill>
                  <a:schemeClr val="dk1"/>
                </a:solidFill>
              </a:rPr>
              <a:t>Yuma Consensus</a:t>
            </a:r>
            <a:r>
              <a:rPr lang="el" sz="1800">
                <a:solidFill>
                  <a:schemeClr val="dk1"/>
                </a:solidFill>
              </a:rPr>
              <a:t> συγκεντρώνει αυτές τις βαθμολογίες και καθορίζει ποιος αμείβεται και πόσο. Οι </a:t>
            </a:r>
            <a:r>
              <a:rPr b="1" lang="el" sz="1800">
                <a:solidFill>
                  <a:schemeClr val="dk1"/>
                </a:solidFill>
              </a:rPr>
              <a:t>stakers</a:t>
            </a:r>
            <a:r>
              <a:rPr lang="el" sz="1800">
                <a:solidFill>
                  <a:schemeClr val="dk1"/>
                </a:solidFill>
              </a:rPr>
              <a:t> τοποθετούν τα TAO τους στους validators και στα subnets που εμπιστεύονται και μοιράζονται τα κέρδη τους.</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Clr>
                <a:schemeClr val="dk1"/>
              </a:buClr>
              <a:buSzPts val="1100"/>
              <a:buFont typeface="Arial"/>
              <a:buNone/>
            </a:pPr>
            <a:r>
              <a:rPr lang="el" sz="1800">
                <a:solidFill>
                  <a:schemeClr val="dk1"/>
                </a:solidFill>
              </a:rPr>
              <a:t>Το κεφάλαιο ρέει προς τα subnets που παράγουν πραγματική αξία (</a:t>
            </a:r>
            <a:r>
              <a:rPr b="1" lang="el" sz="1800">
                <a:solidFill>
                  <a:schemeClr val="dk1"/>
                </a:solidFill>
              </a:rPr>
              <a:t>Dynamic TAO</a:t>
            </a:r>
            <a:r>
              <a:rPr lang="el" sz="1800">
                <a:solidFill>
                  <a:schemeClr val="dk1"/>
                </a:solidFill>
              </a:rPr>
              <a:t>),Έτσι η ανταμοιβή ακολουθεί πάντα την πραγματική συνεισφορά, και </a:t>
            </a:r>
            <a:r>
              <a:rPr b="1" lang="el" sz="1800">
                <a:solidFill>
                  <a:schemeClr val="dk1"/>
                </a:solidFill>
              </a:rPr>
              <a:t>η ίδια η αγορά είναι ο εργοδότης</a:t>
            </a:r>
            <a:r>
              <a:rPr lang="el" sz="1800">
                <a:solidFill>
                  <a:schemeClr val="dk1"/>
                </a:solidFill>
              </a:rPr>
              <a:t>.</a:t>
            </a:r>
            <a:endParaRPr sz="18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5"/>
          <p:cNvSpPr txBox="1"/>
          <p:nvPr>
            <p:ph type="ctrTitle"/>
          </p:nvPr>
        </p:nvSpPr>
        <p:spPr>
          <a:xfrm>
            <a:off x="311700" y="70250"/>
            <a:ext cx="8520600" cy="10410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l"/>
              <a:t>Αρχιτεκτονική</a:t>
            </a:r>
            <a:endParaRPr/>
          </a:p>
        </p:txBody>
      </p:sp>
      <p:pic>
        <p:nvPicPr>
          <p:cNvPr id="127" name="Google Shape;127;p25"/>
          <p:cNvPicPr preferRelativeResize="0"/>
          <p:nvPr/>
        </p:nvPicPr>
        <p:blipFill>
          <a:blip r:embed="rId3">
            <a:alphaModFix/>
          </a:blip>
          <a:stretch>
            <a:fillRect/>
          </a:stretch>
        </p:blipFill>
        <p:spPr>
          <a:xfrm>
            <a:off x="5667775" y="1709175"/>
            <a:ext cx="2379289" cy="2497801"/>
          </a:xfrm>
          <a:prstGeom prst="rect">
            <a:avLst/>
          </a:prstGeom>
          <a:noFill/>
          <a:ln>
            <a:noFill/>
          </a:ln>
        </p:spPr>
      </p:pic>
      <p:pic>
        <p:nvPicPr>
          <p:cNvPr id="128" name="Google Shape;128;p25"/>
          <p:cNvPicPr preferRelativeResize="0"/>
          <p:nvPr/>
        </p:nvPicPr>
        <p:blipFill>
          <a:blip r:embed="rId4">
            <a:alphaModFix/>
          </a:blip>
          <a:stretch>
            <a:fillRect/>
          </a:stretch>
        </p:blipFill>
        <p:spPr>
          <a:xfrm>
            <a:off x="311700" y="1802950"/>
            <a:ext cx="5356074" cy="30128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6"/>
          <p:cNvSpPr txBox="1"/>
          <p:nvPr>
            <p:ph type="ctrTitle"/>
          </p:nvPr>
        </p:nvSpPr>
        <p:spPr>
          <a:xfrm>
            <a:off x="428775" y="124900"/>
            <a:ext cx="8520600" cy="1166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l"/>
              <a:t>Hyperparameters</a:t>
            </a:r>
            <a:endParaRPr/>
          </a:p>
        </p:txBody>
      </p:sp>
      <p:sp>
        <p:nvSpPr>
          <p:cNvPr id="134" name="Google Shape;134;p26"/>
          <p:cNvSpPr txBox="1"/>
          <p:nvPr>
            <p:ph idx="1" type="subTitle"/>
          </p:nvPr>
        </p:nvSpPr>
        <p:spPr>
          <a:xfrm>
            <a:off x="311700" y="1436125"/>
            <a:ext cx="8520600" cy="3239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l" sz="1800"/>
              <a:t>όλο το δίκτυο έχει φτιαχτεί με το scalability σαν νοοτροπία.φτιαγμένο με το polkadot substrate, καθε subnet μπορεί να ρυθμίσει πόσα emissions πάνε που(όπως μια εταιρεία), και κάθε update δεν μπορεί να “ρίξει” το σύστημα ενω δεν θυσιάζει ασφάλεια.</a:t>
            </a:r>
            <a:endParaRPr sz="18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7"/>
          <p:cNvSpPr txBox="1"/>
          <p:nvPr>
            <p:ph type="ctrTitle"/>
          </p:nvPr>
        </p:nvSpPr>
        <p:spPr>
          <a:xfrm>
            <a:off x="342925" y="288800"/>
            <a:ext cx="8520600" cy="10020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l"/>
              <a:t>Darwinian Selection</a:t>
            </a:r>
            <a:endParaRPr/>
          </a:p>
        </p:txBody>
      </p:sp>
      <p:sp>
        <p:nvSpPr>
          <p:cNvPr id="140" name="Google Shape;140;p27"/>
          <p:cNvSpPr txBox="1"/>
          <p:nvPr>
            <p:ph idx="1" type="subTitle"/>
          </p:nvPr>
        </p:nvSpPr>
        <p:spPr>
          <a:xfrm>
            <a:off x="311700" y="1443925"/>
            <a:ext cx="6844800" cy="3621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l"/>
              <a:t>Μ</a:t>
            </a:r>
            <a:r>
              <a:rPr lang="el"/>
              <a:t>όνο τα καλύτερα subnets, miners, validators θα πληρωθούν, συνεχως ανταγωνίζονται για τα συγκεκριμένα TAO που δίνονται από το σύστημα.</a:t>
            </a:r>
            <a:endParaRPr/>
          </a:p>
        </p:txBody>
      </p:sp>
      <p:pic>
        <p:nvPicPr>
          <p:cNvPr id="141" name="Google Shape;141;p27"/>
          <p:cNvPicPr preferRelativeResize="0"/>
          <p:nvPr/>
        </p:nvPicPr>
        <p:blipFill>
          <a:blip r:embed="rId3">
            <a:alphaModFix/>
          </a:blip>
          <a:stretch>
            <a:fillRect/>
          </a:stretch>
        </p:blipFill>
        <p:spPr>
          <a:xfrm>
            <a:off x="7156363" y="1596375"/>
            <a:ext cx="1762125" cy="25908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8"/>
          <p:cNvSpPr txBox="1"/>
          <p:nvPr>
            <p:ph type="ctrTitle"/>
          </p:nvPr>
        </p:nvSpPr>
        <p:spPr>
          <a:xfrm>
            <a:off x="311700" y="315300"/>
            <a:ext cx="8520600" cy="1167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l"/>
              <a:t>Capitalism</a:t>
            </a:r>
            <a:endParaRPr/>
          </a:p>
        </p:txBody>
      </p:sp>
      <p:sp>
        <p:nvSpPr>
          <p:cNvPr id="147" name="Google Shape;147;p28"/>
          <p:cNvSpPr txBox="1"/>
          <p:nvPr>
            <p:ph idx="1" type="subTitle"/>
          </p:nvPr>
        </p:nvSpPr>
        <p:spPr>
          <a:xfrm>
            <a:off x="311700" y="1646850"/>
            <a:ext cx="8520600" cy="33483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l" sz="1900"/>
              <a:t>Όπως αναφέραμε μόνο οι πιο “ικανοί” αμοίβονται. Όπως στον καπιταλισμό έτσι και εδώ ισχύει το ίδιο αλλά εδώ δεν </a:t>
            </a:r>
            <a:r>
              <a:rPr lang="el" sz="1900"/>
              <a:t>περιορίζεται</a:t>
            </a:r>
            <a:r>
              <a:rPr lang="el" sz="1900"/>
              <a:t> από τις απόψεις του HR,των recruiters, κτλπ. ΟΠΟΙΟΣ μπορεί να κάνει σωστή δουλειά πληρώνεται χωρίς να είναι σε φυσικό σημείο. </a:t>
            </a:r>
            <a:endParaRPr sz="19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9"/>
          <p:cNvSpPr txBox="1"/>
          <p:nvPr>
            <p:ph type="ctrTitle"/>
          </p:nvPr>
        </p:nvSpPr>
        <p:spPr>
          <a:xfrm>
            <a:off x="452200" y="73350"/>
            <a:ext cx="8520600" cy="11520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l"/>
              <a:t>Yuma Consensus</a:t>
            </a:r>
            <a:endParaRPr/>
          </a:p>
        </p:txBody>
      </p:sp>
      <p:sp>
        <p:nvSpPr>
          <p:cNvPr id="153" name="Google Shape;153;p29"/>
          <p:cNvSpPr txBox="1"/>
          <p:nvPr>
            <p:ph idx="1" type="subTitle"/>
          </p:nvPr>
        </p:nvSpPr>
        <p:spPr>
          <a:xfrm>
            <a:off x="311700" y="1225350"/>
            <a:ext cx="8520600" cy="34500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i="1" lang="el" sz="1500">
                <a:solidFill>
                  <a:schemeClr val="dk1"/>
                </a:solidFill>
              </a:rPr>
              <a:t>Yuma = Stake-weighted peer review</a:t>
            </a:r>
            <a:br>
              <a:rPr i="1" lang="el" sz="1500">
                <a:solidFill>
                  <a:schemeClr val="dk1"/>
                </a:solidFill>
              </a:rPr>
            </a:br>
            <a:r>
              <a:rPr lang="el" sz="1500">
                <a:solidFill>
                  <a:schemeClr val="dk1"/>
                </a:solidFill>
              </a:rPr>
              <a:t> Validators = κριτές ·     Miners = ερευνητές ·    TAO = χρηματοδότηση</a:t>
            </a:r>
            <a:endParaRPr sz="1500">
              <a:solidFill>
                <a:schemeClr val="dk1"/>
              </a:solidFill>
            </a:endParaRPr>
          </a:p>
          <a:p>
            <a:pPr indent="-323850" lvl="0" marL="457200" rtl="0" algn="l">
              <a:lnSpc>
                <a:spcPct val="115000"/>
              </a:lnSpc>
              <a:spcBef>
                <a:spcPts val="1200"/>
              </a:spcBef>
              <a:spcAft>
                <a:spcPts val="0"/>
              </a:spcAft>
              <a:buClr>
                <a:schemeClr val="dk1"/>
              </a:buClr>
              <a:buSzPts val="1500"/>
              <a:buAutoNum type="arabicPeriod"/>
            </a:pPr>
            <a:r>
              <a:rPr b="1" lang="el" sz="1500">
                <a:solidFill>
                  <a:schemeClr val="dk1"/>
                </a:solidFill>
              </a:rPr>
              <a:t>Stake</a:t>
            </a:r>
            <a:r>
              <a:rPr lang="el" sz="1500">
                <a:solidFill>
                  <a:schemeClr val="dk1"/>
                </a:solidFill>
              </a:rPr>
              <a:t>: κανονικοποίηση (άθροισμα = 1)</a:t>
            </a:r>
            <a:endParaRPr sz="1500">
              <a:solidFill>
                <a:schemeClr val="dk1"/>
              </a:solidFill>
            </a:endParaRPr>
          </a:p>
          <a:p>
            <a:pPr indent="-323850" lvl="0" marL="457200" rtl="0" algn="l">
              <a:lnSpc>
                <a:spcPct val="115000"/>
              </a:lnSpc>
              <a:spcBef>
                <a:spcPts val="0"/>
              </a:spcBef>
              <a:spcAft>
                <a:spcPts val="0"/>
              </a:spcAft>
              <a:buClr>
                <a:schemeClr val="dk1"/>
              </a:buClr>
              <a:buSzPts val="1500"/>
              <a:buAutoNum type="arabicPeriod"/>
            </a:pPr>
            <a:r>
              <a:rPr b="1" lang="el" sz="1500">
                <a:solidFill>
                  <a:schemeClr val="dk1"/>
                </a:solidFill>
              </a:rPr>
              <a:t>Rank</a:t>
            </a:r>
            <a:r>
              <a:rPr lang="el" sz="1500">
                <a:solidFill>
                  <a:schemeClr val="dk1"/>
                </a:solidFill>
              </a:rPr>
              <a:t>: βαθμολογίες × stake</a:t>
            </a:r>
            <a:endParaRPr sz="1500">
              <a:solidFill>
                <a:schemeClr val="dk1"/>
              </a:solidFill>
            </a:endParaRPr>
          </a:p>
          <a:p>
            <a:pPr indent="-323850" lvl="0" marL="457200" rtl="0" algn="l">
              <a:lnSpc>
                <a:spcPct val="115000"/>
              </a:lnSpc>
              <a:spcBef>
                <a:spcPts val="0"/>
              </a:spcBef>
              <a:spcAft>
                <a:spcPts val="0"/>
              </a:spcAft>
              <a:buClr>
                <a:schemeClr val="dk1"/>
              </a:buClr>
              <a:buSzPts val="1500"/>
              <a:buAutoNum type="arabicPeriod"/>
            </a:pPr>
            <a:r>
              <a:rPr b="1" lang="el" sz="1500">
                <a:solidFill>
                  <a:schemeClr val="dk1"/>
                </a:solidFill>
              </a:rPr>
              <a:t>Trust</a:t>
            </a:r>
            <a:r>
              <a:rPr lang="el" sz="1500">
                <a:solidFill>
                  <a:schemeClr val="dk1"/>
                </a:solidFill>
              </a:rPr>
              <a:t>: συμφωνία των validators</a:t>
            </a:r>
            <a:endParaRPr sz="1500">
              <a:solidFill>
                <a:schemeClr val="dk1"/>
              </a:solidFill>
            </a:endParaRPr>
          </a:p>
          <a:p>
            <a:pPr indent="-323850" lvl="0" marL="457200" rtl="0" algn="l">
              <a:lnSpc>
                <a:spcPct val="115000"/>
              </a:lnSpc>
              <a:spcBef>
                <a:spcPts val="0"/>
              </a:spcBef>
              <a:spcAft>
                <a:spcPts val="0"/>
              </a:spcAft>
              <a:buClr>
                <a:schemeClr val="dk1"/>
              </a:buClr>
              <a:buSzPts val="1500"/>
              <a:buAutoNum type="arabicPeriod"/>
            </a:pPr>
            <a:r>
              <a:rPr b="1" lang="el" sz="1500">
                <a:solidFill>
                  <a:schemeClr val="dk1"/>
                </a:solidFill>
              </a:rPr>
              <a:t>Incentive</a:t>
            </a:r>
            <a:r>
              <a:rPr lang="el" sz="1500">
                <a:solidFill>
                  <a:schemeClr val="dk1"/>
                </a:solidFill>
              </a:rPr>
              <a:t>: I = R · T</a:t>
            </a:r>
            <a:endParaRPr sz="1500">
              <a:solidFill>
                <a:schemeClr val="dk1"/>
              </a:solidFill>
            </a:endParaRPr>
          </a:p>
          <a:p>
            <a:pPr indent="-323850" lvl="0" marL="457200" rtl="0" algn="l">
              <a:lnSpc>
                <a:spcPct val="115000"/>
              </a:lnSpc>
              <a:spcBef>
                <a:spcPts val="0"/>
              </a:spcBef>
              <a:spcAft>
                <a:spcPts val="0"/>
              </a:spcAft>
              <a:buClr>
                <a:schemeClr val="dk1"/>
              </a:buClr>
              <a:buSzPts val="1500"/>
              <a:buAutoNum type="arabicPeriod"/>
            </a:pPr>
            <a:r>
              <a:rPr b="1" lang="el" sz="1500">
                <a:solidFill>
                  <a:schemeClr val="dk1"/>
                </a:solidFill>
              </a:rPr>
              <a:t>Dividends</a:t>
            </a:r>
            <a:r>
              <a:rPr lang="el" sz="1500">
                <a:solidFill>
                  <a:schemeClr val="dk1"/>
                </a:solidFill>
              </a:rPr>
              <a:t>: μέσω bonds</a:t>
            </a:r>
            <a:endParaRPr sz="15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l" sz="1500">
                <a:solidFill>
                  <a:schemeClr val="dk1"/>
                </a:solidFill>
              </a:rPr>
              <a:t>(Validators → Weights → Yuma → Miner incentives + Validator dividends.)</a:t>
            </a:r>
            <a:endParaRPr i="1" sz="15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l" sz="1500">
                <a:solidFill>
                  <a:schemeClr val="dk1"/>
                </a:solidFill>
              </a:rPr>
              <a:t>Take-away:</a:t>
            </a:r>
            <a:r>
              <a:rPr lang="el" sz="1500">
                <a:solidFill>
                  <a:schemeClr val="dk1"/>
                </a:solidFill>
              </a:rPr>
              <a:t> η τίμια αξιολόγηση είναι η πιο κερδοφόρα στρατηγική.</a:t>
            </a:r>
            <a:endParaRPr sz="1500">
              <a:solidFill>
                <a:schemeClr val="dk1"/>
              </a:solidFill>
            </a:endParaRPr>
          </a:p>
          <a:p>
            <a:pPr indent="0" lvl="0" marL="0" rtl="0" algn="ctr">
              <a:spcBef>
                <a:spcPts val="120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0"/>
          <p:cNvSpPr txBox="1"/>
          <p:nvPr>
            <p:ph type="ctrTitle"/>
          </p:nvPr>
        </p:nvSpPr>
        <p:spPr>
          <a:xfrm>
            <a:off x="342925" y="265375"/>
            <a:ext cx="8520600" cy="10020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l"/>
              <a:t>Mining Intelligence</a:t>
            </a:r>
            <a:endParaRPr/>
          </a:p>
        </p:txBody>
      </p:sp>
      <p:sp>
        <p:nvSpPr>
          <p:cNvPr id="159" name="Google Shape;159;p30"/>
          <p:cNvSpPr txBox="1"/>
          <p:nvPr>
            <p:ph idx="1" type="subTitle"/>
          </p:nvPr>
        </p:nvSpPr>
        <p:spPr>
          <a:xfrm>
            <a:off x="311700" y="1420500"/>
            <a:ext cx="8520600" cy="36060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0"/>
              </a:spcAft>
              <a:buSzPts val="935"/>
              <a:buNone/>
            </a:pPr>
            <a:r>
              <a:rPr lang="el" sz="1880"/>
              <a:t>Η συνεισφορά ως miner στο Bittensor δεν διαφέρει, στην ουσία, από την επίλυση οποιουδήποτε προβλήματος Μηχανικής Μάθησης στον πραγματικό κόσμο: </a:t>
            </a:r>
            <a:endParaRPr sz="1880"/>
          </a:p>
          <a:p>
            <a:pPr indent="0" lvl="0" marL="0" rtl="0" algn="l">
              <a:lnSpc>
                <a:spcPct val="90000"/>
              </a:lnSpc>
              <a:spcBef>
                <a:spcPts val="0"/>
              </a:spcBef>
              <a:spcAft>
                <a:spcPts val="0"/>
              </a:spcAft>
              <a:buSzPts val="935"/>
              <a:buNone/>
            </a:pPr>
            <a:r>
              <a:t/>
            </a:r>
            <a:endParaRPr sz="1880"/>
          </a:p>
          <a:p>
            <a:pPr indent="0" lvl="0" marL="0" rtl="0" algn="l">
              <a:lnSpc>
                <a:spcPct val="90000"/>
              </a:lnSpc>
              <a:spcBef>
                <a:spcPts val="0"/>
              </a:spcBef>
              <a:spcAft>
                <a:spcPts val="0"/>
              </a:spcAft>
              <a:buSzPts val="935"/>
              <a:buNone/>
            </a:pPr>
            <a:r>
              <a:rPr lang="el" sz="1880"/>
              <a:t>-ακριβής καθορισμός της εργασίας, κατανόηση των δεδομένων, διαμόρφωση ουσιαστικών χαρακτηριστικών (feature engineering), εκπαίδευση και επικύρωση υποψήφιων μοντέλων, καθώς και αυστηρή αξιολόγηση του αποτελέσματος πριν από τη θέση του σε παραγωγική λειτουργία. Θα </a:t>
            </a:r>
            <a:r>
              <a:rPr lang="el" sz="1880"/>
              <a:t>προσομοιώσουμε</a:t>
            </a:r>
            <a:r>
              <a:rPr lang="el" sz="1880"/>
              <a:t> το mining Subnet 32(itsAI)</a:t>
            </a:r>
            <a:endParaRPr sz="188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1"/>
          <p:cNvSpPr txBox="1"/>
          <p:nvPr>
            <p:ph type="ctrTitle"/>
          </p:nvPr>
        </p:nvSpPr>
        <p:spPr>
          <a:xfrm>
            <a:off x="374125" y="179500"/>
            <a:ext cx="8520600" cy="9474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l"/>
              <a:t> Το πρ</a:t>
            </a:r>
            <a:r>
              <a:rPr lang="el"/>
              <a:t>όβλημά μας</a:t>
            </a:r>
            <a:endParaRPr/>
          </a:p>
        </p:txBody>
      </p:sp>
      <p:sp>
        <p:nvSpPr>
          <p:cNvPr id="165" name="Google Shape;165;p31"/>
          <p:cNvSpPr txBox="1"/>
          <p:nvPr>
            <p:ph idx="1" type="subTitle"/>
          </p:nvPr>
        </p:nvSpPr>
        <p:spPr>
          <a:xfrm>
            <a:off x="311700" y="1436125"/>
            <a:ext cx="8520600" cy="3246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l" sz="2200"/>
              <a:t>Κατά την επόμενη δεκαετία, η διαπίστωση του αν ένα κείμενο έχει παραχθεί από τεχνητή νοημοσύνη ή όχι θα καθίσταται ολοένα και πιο δύσκολη, εάν δεν υλοποιηθεί η σχετική έρευνα· εξού και η παρούσα μελέτη/ενότητα…</a:t>
            </a:r>
            <a:endParaRPr sz="2200"/>
          </a:p>
          <a:p>
            <a:pPr indent="0" lvl="0" marL="0" rtl="0" algn="ctr">
              <a:spcBef>
                <a:spcPts val="0"/>
              </a:spcBef>
              <a:spcAft>
                <a:spcPts val="0"/>
              </a:spcAft>
              <a:buNone/>
            </a:pPr>
            <a:r>
              <a:t/>
            </a:r>
            <a:endParaRPr sz="2200"/>
          </a:p>
          <a:p>
            <a:pPr indent="0" lvl="0" marL="0" rtl="0" algn="ctr">
              <a:spcBef>
                <a:spcPts val="0"/>
              </a:spcBef>
              <a:spcAft>
                <a:spcPts val="0"/>
              </a:spcAft>
              <a:buNone/>
            </a:pPr>
            <a:r>
              <a:t/>
            </a:r>
            <a:endParaRPr sz="2200"/>
          </a:p>
          <a:p>
            <a:pPr indent="0" lvl="0" marL="0" rtl="0" algn="ctr">
              <a:spcBef>
                <a:spcPts val="0"/>
              </a:spcBef>
              <a:spcAft>
                <a:spcPts val="0"/>
              </a:spcAft>
              <a:buNone/>
            </a:pPr>
            <a:r>
              <a:t/>
            </a:r>
            <a:endParaRPr sz="2200"/>
          </a:p>
          <a:p>
            <a:pPr indent="0" lvl="0" marL="0" rtl="0" algn="l">
              <a:spcBef>
                <a:spcPts val="0"/>
              </a:spcBef>
              <a:spcAft>
                <a:spcPts val="0"/>
              </a:spcAft>
              <a:buNone/>
            </a:pPr>
            <a:r>
              <a:rPr lang="el" sz="2200"/>
              <a:t>Η έρευνα χρησιμοποιεί την python βιβλιοθήκη AbstractML.</a:t>
            </a:r>
            <a:endParaRPr sz="22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2"/>
          <p:cNvSpPr txBox="1"/>
          <p:nvPr>
            <p:ph type="ctrTitle"/>
          </p:nvPr>
        </p:nvSpPr>
        <p:spPr>
          <a:xfrm>
            <a:off x="311700" y="148275"/>
            <a:ext cx="8520600" cy="10332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l"/>
              <a:t>Dataset </a:t>
            </a:r>
            <a:endParaRPr/>
          </a:p>
        </p:txBody>
      </p:sp>
      <p:sp>
        <p:nvSpPr>
          <p:cNvPr id="171" name="Google Shape;171;p32"/>
          <p:cNvSpPr txBox="1"/>
          <p:nvPr>
            <p:ph idx="1" type="subTitle"/>
          </p:nvPr>
        </p:nvSpPr>
        <p:spPr>
          <a:xfrm>
            <a:off x="311700" y="1662475"/>
            <a:ext cx="8520600" cy="3207900"/>
          </a:xfrm>
          <a:prstGeom prst="rect">
            <a:avLst/>
          </a:prstGeom>
        </p:spPr>
        <p:txBody>
          <a:bodyPr anchorCtr="0" anchor="t" bIns="91425" lIns="91425" spcFirstLastPara="1" rIns="91425" wrap="square" tIns="91425">
            <a:normAutofit/>
          </a:bodyPr>
          <a:lstStyle/>
          <a:p>
            <a:pPr indent="0" lvl="0" marL="0" marR="38100" rtl="0" algn="l">
              <a:lnSpc>
                <a:spcPct val="128571"/>
              </a:lnSpc>
              <a:spcBef>
                <a:spcPts val="0"/>
              </a:spcBef>
              <a:spcAft>
                <a:spcPts val="0"/>
              </a:spcAft>
              <a:buClr>
                <a:schemeClr val="dk1"/>
              </a:buClr>
              <a:buSzPts val="1100"/>
              <a:buFont typeface="Arial"/>
              <a:buNone/>
            </a:pPr>
            <a:r>
              <a:rPr lang="el" sz="2100">
                <a:solidFill>
                  <a:schemeClr val="dk1"/>
                </a:solidFill>
                <a:highlight>
                  <a:schemeClr val="lt1"/>
                </a:highlight>
              </a:rPr>
              <a:t>Tο σύνολο δεδομένων που χρησιμοποιήθηκε για την υλοποίηση αυτή είναι το </a:t>
            </a:r>
            <a:r>
              <a:rPr b="1" i="1" lang="el" sz="2100">
                <a:solidFill>
                  <a:schemeClr val="dk1"/>
                </a:solidFill>
                <a:highlight>
                  <a:schemeClr val="lt1"/>
                </a:highlight>
              </a:rPr>
              <a:t>HC3</a:t>
            </a:r>
            <a:r>
              <a:rPr lang="el" sz="2100">
                <a:solidFill>
                  <a:schemeClr val="dk1"/>
                </a:solidFill>
                <a:highlight>
                  <a:schemeClr val="lt1"/>
                </a:highlight>
              </a:rPr>
              <a:t> (Human ChatGPT Comparison Corpus), ένα δημόσια διαθέσιμο σύνολο δεδομένων που αντιστοιχίζει απαντήσεις γραμμένες από ανθρώπους με απαντήσεις που παρήχθησαν από το ChatGPT για το ίδιο σύνολο ερωτήσεων, το οποίο θα επεξεργαστούμε.</a:t>
            </a:r>
            <a:endParaRPr sz="2100">
              <a:solidFill>
                <a:schemeClr val="dk1"/>
              </a:solidFill>
              <a:highlight>
                <a:schemeClr val="lt1"/>
              </a:highlight>
            </a:endParaRPr>
          </a:p>
          <a:p>
            <a:pPr indent="0" lvl="0" marL="0" rtl="0" algn="ctr">
              <a:spcBef>
                <a:spcPts val="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3"/>
          <p:cNvSpPr txBox="1"/>
          <p:nvPr>
            <p:ph type="ctrTitle"/>
          </p:nvPr>
        </p:nvSpPr>
        <p:spPr>
          <a:xfrm>
            <a:off x="264875" y="-145200"/>
            <a:ext cx="8520600" cy="13707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l"/>
              <a:t>EDA </a:t>
            </a:r>
            <a:endParaRPr/>
          </a:p>
        </p:txBody>
      </p:sp>
      <p:sp>
        <p:nvSpPr>
          <p:cNvPr id="177" name="Google Shape;177;p33"/>
          <p:cNvSpPr txBox="1"/>
          <p:nvPr>
            <p:ph idx="1" type="subTitle"/>
          </p:nvPr>
        </p:nvSpPr>
        <p:spPr>
          <a:xfrm>
            <a:off x="311700" y="3644950"/>
            <a:ext cx="8520600" cy="1006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l" sz="1800"/>
              <a:t>48,644 rows across 6 columns:  _split, id, question, human_answers, chatgpt_answers, and source </a:t>
            </a:r>
            <a:endParaRPr sz="1800"/>
          </a:p>
        </p:txBody>
      </p:sp>
      <p:pic>
        <p:nvPicPr>
          <p:cNvPr id="178" name="Google Shape;178;p33"/>
          <p:cNvPicPr preferRelativeResize="0"/>
          <p:nvPr/>
        </p:nvPicPr>
        <p:blipFill>
          <a:blip r:embed="rId3">
            <a:alphaModFix/>
          </a:blip>
          <a:stretch>
            <a:fillRect/>
          </a:stretch>
        </p:blipFill>
        <p:spPr>
          <a:xfrm>
            <a:off x="348550" y="2025700"/>
            <a:ext cx="7355000" cy="1619250"/>
          </a:xfrm>
          <a:prstGeom prst="rect">
            <a:avLst/>
          </a:prstGeom>
          <a:noFill/>
          <a:ln>
            <a:noFill/>
          </a:ln>
        </p:spPr>
      </p:pic>
      <p:sp>
        <p:nvSpPr>
          <p:cNvPr id="179" name="Google Shape;179;p33"/>
          <p:cNvSpPr txBox="1"/>
          <p:nvPr>
            <p:ph idx="1" type="subTitle"/>
          </p:nvPr>
        </p:nvSpPr>
        <p:spPr>
          <a:xfrm>
            <a:off x="-86375" y="1392450"/>
            <a:ext cx="2622900" cy="668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l" sz="1700"/>
              <a:t>viewSchema()</a:t>
            </a:r>
            <a:endParaRPr b="1" sz="17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4"/>
          <p:cNvSpPr txBox="1"/>
          <p:nvPr>
            <p:ph type="ctrTitle"/>
          </p:nvPr>
        </p:nvSpPr>
        <p:spPr>
          <a:xfrm>
            <a:off x="194625" y="70250"/>
            <a:ext cx="8520600" cy="11115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l"/>
              <a:t>EDA</a:t>
            </a:r>
            <a:endParaRPr/>
          </a:p>
        </p:txBody>
      </p:sp>
      <p:sp>
        <p:nvSpPr>
          <p:cNvPr id="185" name="Google Shape;185;p34"/>
          <p:cNvSpPr txBox="1"/>
          <p:nvPr>
            <p:ph idx="1" type="subTitle"/>
          </p:nvPr>
        </p:nvSpPr>
        <p:spPr>
          <a:xfrm>
            <a:off x="100950" y="924175"/>
            <a:ext cx="2622900" cy="668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l" sz="1700"/>
              <a:t>viewSample()</a:t>
            </a:r>
            <a:endParaRPr b="1" sz="1700"/>
          </a:p>
        </p:txBody>
      </p:sp>
      <p:pic>
        <p:nvPicPr>
          <p:cNvPr id="186" name="Google Shape;186;p34"/>
          <p:cNvPicPr preferRelativeResize="0"/>
          <p:nvPr/>
        </p:nvPicPr>
        <p:blipFill>
          <a:blip r:embed="rId3">
            <a:alphaModFix/>
          </a:blip>
          <a:stretch>
            <a:fillRect/>
          </a:stretch>
        </p:blipFill>
        <p:spPr>
          <a:xfrm>
            <a:off x="265375" y="1342450"/>
            <a:ext cx="5486926" cy="3560200"/>
          </a:xfrm>
          <a:prstGeom prst="rect">
            <a:avLst/>
          </a:prstGeom>
          <a:noFill/>
          <a:ln>
            <a:noFill/>
          </a:ln>
        </p:spPr>
      </p:pic>
      <p:pic>
        <p:nvPicPr>
          <p:cNvPr id="187" name="Google Shape;187;p34"/>
          <p:cNvPicPr preferRelativeResize="0"/>
          <p:nvPr/>
        </p:nvPicPr>
        <p:blipFill>
          <a:blip r:embed="rId4">
            <a:alphaModFix/>
          </a:blip>
          <a:stretch>
            <a:fillRect/>
          </a:stretch>
        </p:blipFill>
        <p:spPr>
          <a:xfrm>
            <a:off x="5752300" y="1334150"/>
            <a:ext cx="3239300" cy="3231775"/>
          </a:xfrm>
          <a:prstGeom prst="rect">
            <a:avLst/>
          </a:prstGeom>
          <a:noFill/>
          <a:ln>
            <a:noFill/>
          </a:ln>
        </p:spPr>
      </p:pic>
      <p:sp>
        <p:nvSpPr>
          <p:cNvPr id="188" name="Google Shape;188;p34"/>
          <p:cNvSpPr txBox="1"/>
          <p:nvPr>
            <p:ph idx="1" type="subTitle"/>
          </p:nvPr>
        </p:nvSpPr>
        <p:spPr>
          <a:xfrm>
            <a:off x="5943200" y="858050"/>
            <a:ext cx="2622900" cy="668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l" sz="1700"/>
              <a:t>plotMissingness()</a:t>
            </a:r>
            <a:endParaRPr b="1" sz="17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5"/>
          <p:cNvSpPr txBox="1"/>
          <p:nvPr>
            <p:ph idx="1" type="subTitle"/>
          </p:nvPr>
        </p:nvSpPr>
        <p:spPr>
          <a:xfrm>
            <a:off x="311700" y="265375"/>
            <a:ext cx="8520600" cy="1342500"/>
          </a:xfrm>
          <a:prstGeom prst="rect">
            <a:avLst/>
          </a:prstGeom>
        </p:spPr>
        <p:txBody>
          <a:bodyPr anchorCtr="0" anchor="t" bIns="91425" lIns="91425" spcFirstLastPara="1" rIns="91425" wrap="square" tIns="91425">
            <a:normAutofit/>
          </a:bodyPr>
          <a:lstStyle/>
          <a:p>
            <a:pPr indent="0" lvl="0" marL="0" rtl="0" algn="ctr">
              <a:lnSpc>
                <a:spcPct val="90000"/>
              </a:lnSpc>
              <a:spcBef>
                <a:spcPts val="0"/>
              </a:spcBef>
              <a:spcAft>
                <a:spcPts val="0"/>
              </a:spcAft>
              <a:buNone/>
            </a:pPr>
            <a:r>
              <a:rPr lang="el" sz="1800"/>
              <a:t>50% του source ε</a:t>
            </a:r>
            <a:r>
              <a:rPr lang="el" sz="1800"/>
              <a:t>ίναι αδειο. Δεν χρειάζεται να τα ρίξουμε όλες τις στήλες προφανώς απλά το συμπεριφερόμαστε σαν άγνωστο source ”unknown”.</a:t>
            </a:r>
            <a:endParaRPr sz="1800"/>
          </a:p>
          <a:p>
            <a:pPr indent="0" lvl="0" marL="0" rtl="0" algn="ctr">
              <a:lnSpc>
                <a:spcPct val="90000"/>
              </a:lnSpc>
              <a:spcBef>
                <a:spcPts val="0"/>
              </a:spcBef>
              <a:spcAft>
                <a:spcPts val="0"/>
              </a:spcAft>
              <a:buNone/>
            </a:pPr>
            <a:r>
              <a:t/>
            </a:r>
            <a:endParaRPr sz="1800"/>
          </a:p>
          <a:p>
            <a:pPr indent="0" lvl="0" marL="0" rtl="0" algn="l">
              <a:lnSpc>
                <a:spcPct val="90000"/>
              </a:lnSpc>
              <a:spcBef>
                <a:spcPts val="0"/>
              </a:spcBef>
              <a:spcAft>
                <a:spcPts val="0"/>
              </a:spcAft>
              <a:buNone/>
            </a:pPr>
            <a:r>
              <a:rPr b="1" lang="el" sz="1800"/>
              <a:t>plotDistributions()</a:t>
            </a:r>
            <a:endParaRPr b="1" sz="1800"/>
          </a:p>
        </p:txBody>
      </p:sp>
      <p:pic>
        <p:nvPicPr>
          <p:cNvPr id="194" name="Google Shape;194;p35"/>
          <p:cNvPicPr preferRelativeResize="0"/>
          <p:nvPr/>
        </p:nvPicPr>
        <p:blipFill>
          <a:blip r:embed="rId3">
            <a:alphaModFix/>
          </a:blip>
          <a:stretch>
            <a:fillRect/>
          </a:stretch>
        </p:blipFill>
        <p:spPr>
          <a:xfrm>
            <a:off x="152400" y="1365875"/>
            <a:ext cx="4319875" cy="3625224"/>
          </a:xfrm>
          <a:prstGeom prst="rect">
            <a:avLst/>
          </a:prstGeom>
          <a:noFill/>
          <a:ln>
            <a:noFill/>
          </a:ln>
        </p:spPr>
      </p:pic>
      <p:sp>
        <p:nvSpPr>
          <p:cNvPr id="195" name="Google Shape;195;p35"/>
          <p:cNvSpPr txBox="1"/>
          <p:nvPr>
            <p:ph idx="1" type="subTitle"/>
          </p:nvPr>
        </p:nvSpPr>
        <p:spPr>
          <a:xfrm>
            <a:off x="4355200" y="1791450"/>
            <a:ext cx="4659600" cy="29775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0"/>
              </a:spcAft>
              <a:buNone/>
            </a:pPr>
            <a:r>
              <a:rPr lang="el" sz="1800"/>
              <a:t>&lt;NA&gt; -&gt; “unknown”</a:t>
            </a:r>
            <a:endParaRPr sz="1800"/>
          </a:p>
          <a:p>
            <a:pPr indent="0" lvl="0" marL="0" rtl="0" algn="l">
              <a:lnSpc>
                <a:spcPct val="90000"/>
              </a:lnSpc>
              <a:spcBef>
                <a:spcPts val="0"/>
              </a:spcBef>
              <a:spcAft>
                <a:spcPts val="0"/>
              </a:spcAft>
              <a:buNone/>
            </a:pPr>
            <a:r>
              <a:t/>
            </a:r>
            <a:endParaRPr sz="1800"/>
          </a:p>
          <a:p>
            <a:pPr indent="0" lvl="0" marL="0" rtl="0" algn="l">
              <a:lnSpc>
                <a:spcPct val="90000"/>
              </a:lnSpc>
              <a:spcBef>
                <a:spcPts val="0"/>
              </a:spcBef>
              <a:spcAft>
                <a:spcPts val="0"/>
              </a:spcAft>
              <a:buNone/>
            </a:pPr>
            <a:r>
              <a:t/>
            </a:r>
            <a:endParaRPr sz="18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6"/>
          <p:cNvSpPr txBox="1"/>
          <p:nvPr>
            <p:ph type="ctrTitle"/>
          </p:nvPr>
        </p:nvSpPr>
        <p:spPr>
          <a:xfrm>
            <a:off x="147800" y="605050"/>
            <a:ext cx="8520600" cy="995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l" sz="3780"/>
              <a:t>Preprocessing - Feature Engineering</a:t>
            </a:r>
            <a:endParaRPr sz="3780"/>
          </a:p>
          <a:p>
            <a:pPr indent="0" lvl="0" marL="0" rtl="0" algn="l">
              <a:spcBef>
                <a:spcPts val="0"/>
              </a:spcBef>
              <a:spcAft>
                <a:spcPts val="0"/>
              </a:spcAft>
              <a:buSzPts val="990"/>
              <a:buNone/>
            </a:pPr>
            <a:r>
              <a:t/>
            </a:r>
            <a:endParaRPr sz="4680"/>
          </a:p>
        </p:txBody>
      </p:sp>
      <p:sp>
        <p:nvSpPr>
          <p:cNvPr id="201" name="Google Shape;201;p36"/>
          <p:cNvSpPr txBox="1"/>
          <p:nvPr>
            <p:ph idx="1" type="subTitle"/>
          </p:nvPr>
        </p:nvSpPr>
        <p:spPr>
          <a:xfrm>
            <a:off x="218050" y="1096650"/>
            <a:ext cx="6595800" cy="14751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l" sz="1800"/>
              <a:t>-</a:t>
            </a:r>
            <a:r>
              <a:rPr lang="el" sz="1800"/>
              <a:t>Missing Values είχαμε μόνο στο source.</a:t>
            </a:r>
            <a:endParaRPr sz="1800"/>
          </a:p>
          <a:p>
            <a:pPr indent="0" lvl="0" marL="0" rtl="0" algn="l">
              <a:spcBef>
                <a:spcPts val="0"/>
              </a:spcBef>
              <a:spcAft>
                <a:spcPts val="0"/>
              </a:spcAft>
              <a:buNone/>
            </a:pPr>
            <a:r>
              <a:rPr lang="el" sz="1800"/>
              <a:t>- Label Construction: Y(label) , +X (engineered features)</a:t>
            </a:r>
            <a:endParaRPr sz="1800"/>
          </a:p>
          <a:p>
            <a:pPr indent="0" lvl="0" marL="0" rtl="0" algn="l">
              <a:spcBef>
                <a:spcPts val="0"/>
              </a:spcBef>
              <a:spcAft>
                <a:spcPts val="0"/>
              </a:spcAft>
              <a:buNone/>
            </a:pPr>
            <a:r>
              <a:rPr lang="el" sz="1800"/>
              <a:t>- Flattening Dataset based on Question-Answers and Y</a:t>
            </a:r>
            <a:endParaRPr sz="1800"/>
          </a:p>
          <a:p>
            <a:pPr indent="0" lvl="0" marL="0" rtl="0" algn="l">
              <a:spcBef>
                <a:spcPts val="0"/>
              </a:spcBef>
              <a:spcAft>
                <a:spcPts val="0"/>
              </a:spcAft>
              <a:buNone/>
            </a:pPr>
            <a:r>
              <a:t/>
            </a:r>
            <a:endParaRPr sz="1800"/>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pic>
        <p:nvPicPr>
          <p:cNvPr id="202" name="Google Shape;202;p36"/>
          <p:cNvPicPr preferRelativeResize="0"/>
          <p:nvPr/>
        </p:nvPicPr>
        <p:blipFill>
          <a:blip r:embed="rId3">
            <a:alphaModFix/>
          </a:blip>
          <a:stretch>
            <a:fillRect/>
          </a:stretch>
        </p:blipFill>
        <p:spPr>
          <a:xfrm>
            <a:off x="152400" y="2325900"/>
            <a:ext cx="4835000" cy="26652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7"/>
          <p:cNvSpPr txBox="1"/>
          <p:nvPr>
            <p:ph type="ctrTitle"/>
          </p:nvPr>
        </p:nvSpPr>
        <p:spPr>
          <a:xfrm>
            <a:off x="233650" y="46750"/>
            <a:ext cx="8520600" cy="10254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l"/>
              <a:t>Feature Engineering</a:t>
            </a:r>
            <a:endParaRPr/>
          </a:p>
        </p:txBody>
      </p:sp>
      <p:sp>
        <p:nvSpPr>
          <p:cNvPr id="208" name="Google Shape;208;p37"/>
          <p:cNvSpPr txBox="1"/>
          <p:nvPr>
            <p:ph idx="1" type="subTitle"/>
          </p:nvPr>
        </p:nvSpPr>
        <p:spPr>
          <a:xfrm>
            <a:off x="116550" y="1353125"/>
            <a:ext cx="8520600" cy="2112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l" sz="1800"/>
              <a:t>- Raw text Feature Engineering</a:t>
            </a:r>
            <a:endParaRPr sz="1800"/>
          </a:p>
          <a:p>
            <a:pPr indent="0" lvl="0" marL="0" rtl="0" algn="l">
              <a:spcBef>
                <a:spcPts val="0"/>
              </a:spcBef>
              <a:spcAft>
                <a:spcPts val="0"/>
              </a:spcAft>
              <a:buNone/>
            </a:pPr>
            <a:r>
              <a:rPr lang="el" sz="1800"/>
              <a:t>πριν φτιάξουμε embeddings θα χρειαστεί να φιάξουμε κάποιες καινούργιες στήλες με δεδομένα του ίδιου dataset που το χαρακτηρίζουν(πχ  Word count per answer, Average word length per answer, Character count per answer, Duplicate / near-duplicate, Vocabulary and style statistics)</a:t>
            </a:r>
            <a:endParaRPr sz="1800"/>
          </a:p>
          <a:p>
            <a:pPr indent="0" lvl="0" marL="0" rtl="0" algn="l">
              <a:spcBef>
                <a:spcPts val="0"/>
              </a:spcBef>
              <a:spcAft>
                <a:spcPts val="0"/>
              </a:spcAft>
              <a:buNone/>
            </a:pPr>
            <a:r>
              <a:rPr lang="el" sz="1800"/>
              <a:t>- Embeddings for All Text Data since we have NLP like process.(question,Human_answer, Chatgpt_answer)</a:t>
            </a:r>
            <a:endParaRPr sz="1800"/>
          </a:p>
        </p:txBody>
      </p:sp>
      <p:pic>
        <p:nvPicPr>
          <p:cNvPr id="209" name="Google Shape;209;p37"/>
          <p:cNvPicPr preferRelativeResize="0"/>
          <p:nvPr/>
        </p:nvPicPr>
        <p:blipFill>
          <a:blip r:embed="rId3">
            <a:alphaModFix/>
          </a:blip>
          <a:stretch>
            <a:fillRect/>
          </a:stretch>
        </p:blipFill>
        <p:spPr>
          <a:xfrm>
            <a:off x="6080100" y="2731750"/>
            <a:ext cx="2596075" cy="21932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8"/>
          <p:cNvSpPr txBox="1"/>
          <p:nvPr>
            <p:ph idx="1" type="subTitle"/>
          </p:nvPr>
        </p:nvSpPr>
        <p:spPr>
          <a:xfrm>
            <a:off x="288900" y="215750"/>
            <a:ext cx="42831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l" sz="1800"/>
              <a:t>Plotting Embeddings on 3d with PCA:</a:t>
            </a:r>
            <a:endParaRPr sz="1800"/>
          </a:p>
        </p:txBody>
      </p:sp>
      <p:pic>
        <p:nvPicPr>
          <p:cNvPr id="215" name="Google Shape;215;p38"/>
          <p:cNvPicPr preferRelativeResize="0"/>
          <p:nvPr/>
        </p:nvPicPr>
        <p:blipFill>
          <a:blip r:embed="rId3">
            <a:alphaModFix/>
          </a:blip>
          <a:stretch>
            <a:fillRect/>
          </a:stretch>
        </p:blipFill>
        <p:spPr>
          <a:xfrm>
            <a:off x="183625" y="1248825"/>
            <a:ext cx="4283100" cy="3325043"/>
          </a:xfrm>
          <a:prstGeom prst="rect">
            <a:avLst/>
          </a:prstGeom>
          <a:noFill/>
          <a:ln>
            <a:noFill/>
          </a:ln>
        </p:spPr>
      </p:pic>
      <p:pic>
        <p:nvPicPr>
          <p:cNvPr id="216" name="Google Shape;216;p38"/>
          <p:cNvPicPr preferRelativeResize="0"/>
          <p:nvPr/>
        </p:nvPicPr>
        <p:blipFill>
          <a:blip r:embed="rId4">
            <a:alphaModFix/>
          </a:blip>
          <a:stretch>
            <a:fillRect/>
          </a:stretch>
        </p:blipFill>
        <p:spPr>
          <a:xfrm>
            <a:off x="4921525" y="1319023"/>
            <a:ext cx="4038651" cy="30830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9"/>
          <p:cNvSpPr txBox="1"/>
          <p:nvPr>
            <p:ph idx="1" type="subTitle"/>
          </p:nvPr>
        </p:nvSpPr>
        <p:spPr>
          <a:xfrm>
            <a:off x="241450" y="242850"/>
            <a:ext cx="5901000" cy="792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l" sz="1800">
                <a:solidFill>
                  <a:srgbClr val="000000"/>
                </a:solidFill>
              </a:rPr>
              <a:t>Plotting Feature engineered columns on 3d with PCA:</a:t>
            </a:r>
            <a:endParaRPr sz="1800">
              <a:solidFill>
                <a:srgbClr val="000000"/>
              </a:solidFill>
            </a:endParaRPr>
          </a:p>
          <a:p>
            <a:pPr indent="0" lvl="0" marL="0" rtl="0" algn="l">
              <a:spcBef>
                <a:spcPts val="0"/>
              </a:spcBef>
              <a:spcAft>
                <a:spcPts val="0"/>
              </a:spcAft>
              <a:buNone/>
            </a:pPr>
            <a:r>
              <a:t/>
            </a:r>
            <a:endParaRPr/>
          </a:p>
        </p:txBody>
      </p:sp>
      <p:pic>
        <p:nvPicPr>
          <p:cNvPr id="222" name="Google Shape;222;p39"/>
          <p:cNvPicPr preferRelativeResize="0"/>
          <p:nvPr/>
        </p:nvPicPr>
        <p:blipFill>
          <a:blip r:embed="rId3">
            <a:alphaModFix/>
          </a:blip>
          <a:stretch>
            <a:fillRect/>
          </a:stretch>
        </p:blipFill>
        <p:spPr>
          <a:xfrm>
            <a:off x="144600" y="922475"/>
            <a:ext cx="4688283" cy="3803250"/>
          </a:xfrm>
          <a:prstGeom prst="rect">
            <a:avLst/>
          </a:prstGeom>
          <a:noFill/>
          <a:ln>
            <a:noFill/>
          </a:ln>
        </p:spPr>
      </p:pic>
      <p:pic>
        <p:nvPicPr>
          <p:cNvPr id="223" name="Google Shape;223;p39"/>
          <p:cNvPicPr preferRelativeResize="0"/>
          <p:nvPr/>
        </p:nvPicPr>
        <p:blipFill>
          <a:blip r:embed="rId4">
            <a:alphaModFix/>
          </a:blip>
          <a:stretch>
            <a:fillRect/>
          </a:stretch>
        </p:blipFill>
        <p:spPr>
          <a:xfrm>
            <a:off x="5000900" y="1166675"/>
            <a:ext cx="3998525" cy="33148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40"/>
          <p:cNvSpPr txBox="1"/>
          <p:nvPr>
            <p:ph type="ctrTitle"/>
          </p:nvPr>
        </p:nvSpPr>
        <p:spPr>
          <a:xfrm>
            <a:off x="397525" y="117075"/>
            <a:ext cx="8520600" cy="7602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l" sz="3500"/>
              <a:t>Final engineered dataset</a:t>
            </a:r>
            <a:endParaRPr sz="3500"/>
          </a:p>
        </p:txBody>
      </p:sp>
      <p:pic>
        <p:nvPicPr>
          <p:cNvPr id="229" name="Google Shape;229;p40"/>
          <p:cNvPicPr preferRelativeResize="0"/>
          <p:nvPr/>
        </p:nvPicPr>
        <p:blipFill>
          <a:blip r:embed="rId3">
            <a:alphaModFix/>
          </a:blip>
          <a:stretch>
            <a:fillRect/>
          </a:stretch>
        </p:blipFill>
        <p:spPr>
          <a:xfrm>
            <a:off x="152400" y="827325"/>
            <a:ext cx="8612624" cy="41637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41"/>
          <p:cNvSpPr txBox="1"/>
          <p:nvPr>
            <p:ph type="ctrTitle"/>
          </p:nvPr>
        </p:nvSpPr>
        <p:spPr>
          <a:xfrm>
            <a:off x="257050" y="109275"/>
            <a:ext cx="8520600" cy="9942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l"/>
              <a:t>Train/Test/Validation</a:t>
            </a:r>
            <a:endParaRPr/>
          </a:p>
        </p:txBody>
      </p:sp>
      <p:sp>
        <p:nvSpPr>
          <p:cNvPr id="235" name="Google Shape;235;p41"/>
          <p:cNvSpPr txBox="1"/>
          <p:nvPr>
            <p:ph idx="1" type="subTitle"/>
          </p:nvPr>
        </p:nvSpPr>
        <p:spPr>
          <a:xfrm>
            <a:off x="311700" y="1319050"/>
            <a:ext cx="4484400" cy="3246900"/>
          </a:xfrm>
          <a:prstGeom prst="rect">
            <a:avLst/>
          </a:prstGeom>
        </p:spPr>
        <p:txBody>
          <a:bodyPr anchorCtr="0" anchor="t" bIns="91425" lIns="91425" spcFirstLastPara="1" rIns="91425" wrap="square" tIns="91425">
            <a:normAutofit/>
          </a:bodyPr>
          <a:lstStyle/>
          <a:p>
            <a:pPr indent="0" lvl="0" marL="0" rtl="0" algn="ctr">
              <a:lnSpc>
                <a:spcPct val="90000"/>
              </a:lnSpc>
              <a:spcBef>
                <a:spcPts val="0"/>
              </a:spcBef>
              <a:spcAft>
                <a:spcPts val="0"/>
              </a:spcAft>
              <a:buSzPts val="853"/>
              <a:buNone/>
            </a:pPr>
            <a:r>
              <a:rPr lang="el" sz="1770"/>
              <a:t>Το σύνολο δεδομένων χωρίστηκε σε αναλογία 80/10/10% σε σύνολα εκπαίδευσης, επικύρωσης και ελέγχου, με τον διαχωρισμό να πραγματοποιείται σε επίπεδο ερώτησης και όχι σε επίπεδο γραμμής, ώστε να αποτραπεί η διαρροή απαντήσεων της ίδιας ερώτησης μεταξύ των επιμέρους συνόλων.</a:t>
            </a:r>
            <a:endParaRPr sz="1770"/>
          </a:p>
        </p:txBody>
      </p:sp>
      <p:pic>
        <p:nvPicPr>
          <p:cNvPr id="236" name="Google Shape;236;p41"/>
          <p:cNvPicPr preferRelativeResize="0"/>
          <p:nvPr/>
        </p:nvPicPr>
        <p:blipFill>
          <a:blip r:embed="rId3">
            <a:alphaModFix/>
          </a:blip>
          <a:stretch>
            <a:fillRect/>
          </a:stretch>
        </p:blipFill>
        <p:spPr>
          <a:xfrm>
            <a:off x="4796200" y="1319050"/>
            <a:ext cx="3981450" cy="25908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42"/>
          <p:cNvSpPr txBox="1"/>
          <p:nvPr>
            <p:ph type="ctrTitle"/>
          </p:nvPr>
        </p:nvSpPr>
        <p:spPr>
          <a:xfrm>
            <a:off x="397575" y="140475"/>
            <a:ext cx="8520600" cy="9942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l"/>
              <a:t>Models</a:t>
            </a:r>
            <a:endParaRPr/>
          </a:p>
        </p:txBody>
      </p:sp>
      <p:sp>
        <p:nvSpPr>
          <p:cNvPr id="242" name="Google Shape;242;p42"/>
          <p:cNvSpPr txBox="1"/>
          <p:nvPr>
            <p:ph idx="1" type="subTitle"/>
          </p:nvPr>
        </p:nvSpPr>
        <p:spPr>
          <a:xfrm>
            <a:off x="585375" y="1053675"/>
            <a:ext cx="8246700" cy="1873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SzPts val="853"/>
              <a:buNone/>
            </a:pPr>
            <a:r>
              <a:rPr lang="el" sz="1470"/>
              <a:t>Δεδομένης της κατά κύριο λόγο κειμενικής φύσης (NLP) του συνόλου δεδομένων, αξιολογήθηκε και LM (setfit, αλλα και κλασσικα μοντελα ML (βασισμένα σε χαρακτηριστικά και με χρήση embeddings) , με στόχο τη σύγκριση της απόδοσης και της ικανότητας γενίκευσης μεταξύ των διαφορετικών προσεγγίσεων.</a:t>
            </a:r>
            <a:endParaRPr sz="1470"/>
          </a:p>
        </p:txBody>
      </p:sp>
      <p:pic>
        <p:nvPicPr>
          <p:cNvPr id="243" name="Google Shape;243;p42"/>
          <p:cNvPicPr preferRelativeResize="0"/>
          <p:nvPr/>
        </p:nvPicPr>
        <p:blipFill>
          <a:blip r:embed="rId3">
            <a:alphaModFix/>
          </a:blip>
          <a:stretch>
            <a:fillRect/>
          </a:stretch>
        </p:blipFill>
        <p:spPr>
          <a:xfrm>
            <a:off x="397575" y="2707313"/>
            <a:ext cx="6991350" cy="20859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43"/>
          <p:cNvSpPr txBox="1"/>
          <p:nvPr>
            <p:ph type="ctrTitle"/>
          </p:nvPr>
        </p:nvSpPr>
        <p:spPr>
          <a:xfrm>
            <a:off x="311700" y="-117075"/>
            <a:ext cx="8520600" cy="1314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l"/>
              <a:t>Αρχικ</a:t>
            </a:r>
            <a:r>
              <a:rPr lang="el"/>
              <a:t>ές Αποδόσεις</a:t>
            </a:r>
            <a:endParaRPr/>
          </a:p>
        </p:txBody>
      </p:sp>
      <p:pic>
        <p:nvPicPr>
          <p:cNvPr id="249" name="Google Shape;249;p43"/>
          <p:cNvPicPr preferRelativeResize="0"/>
          <p:nvPr/>
        </p:nvPicPr>
        <p:blipFill>
          <a:blip r:embed="rId3">
            <a:alphaModFix/>
          </a:blip>
          <a:stretch>
            <a:fillRect/>
          </a:stretch>
        </p:blipFill>
        <p:spPr>
          <a:xfrm>
            <a:off x="745600" y="1568175"/>
            <a:ext cx="3133500" cy="3092975"/>
          </a:xfrm>
          <a:prstGeom prst="rect">
            <a:avLst/>
          </a:prstGeom>
          <a:noFill/>
          <a:ln>
            <a:noFill/>
          </a:ln>
        </p:spPr>
      </p:pic>
      <p:sp>
        <p:nvSpPr>
          <p:cNvPr id="250" name="Google Shape;250;p43"/>
          <p:cNvSpPr txBox="1"/>
          <p:nvPr>
            <p:ph idx="1" type="subTitle"/>
          </p:nvPr>
        </p:nvSpPr>
        <p:spPr>
          <a:xfrm>
            <a:off x="4074225" y="1115475"/>
            <a:ext cx="4695600" cy="452700"/>
          </a:xfrm>
          <a:prstGeom prst="rect">
            <a:avLst/>
          </a:prstGeom>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l" sz="1800"/>
              <a:t>πχ Knn:</a:t>
            </a:r>
            <a:endParaRPr sz="1800"/>
          </a:p>
        </p:txBody>
      </p:sp>
      <p:pic>
        <p:nvPicPr>
          <p:cNvPr id="251" name="Google Shape;251;p43"/>
          <p:cNvPicPr preferRelativeResize="0"/>
          <p:nvPr/>
        </p:nvPicPr>
        <p:blipFill>
          <a:blip r:embed="rId4">
            <a:alphaModFix/>
          </a:blip>
          <a:stretch>
            <a:fillRect/>
          </a:stretch>
        </p:blipFill>
        <p:spPr>
          <a:xfrm>
            <a:off x="4231825" y="1521975"/>
            <a:ext cx="4380401" cy="34029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4"/>
          <p:cNvSpPr txBox="1"/>
          <p:nvPr>
            <p:ph type="ctrTitle"/>
          </p:nvPr>
        </p:nvSpPr>
        <p:spPr>
          <a:xfrm>
            <a:off x="218025" y="132675"/>
            <a:ext cx="8520600" cy="104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l" sz="4600"/>
              <a:t>Hyperparameter Optimization</a:t>
            </a:r>
            <a:endParaRPr sz="4600"/>
          </a:p>
        </p:txBody>
      </p:sp>
      <p:sp>
        <p:nvSpPr>
          <p:cNvPr id="257" name="Google Shape;257;p44"/>
          <p:cNvSpPr txBox="1"/>
          <p:nvPr>
            <p:ph idx="1" type="subTitle"/>
          </p:nvPr>
        </p:nvSpPr>
        <p:spPr>
          <a:xfrm>
            <a:off x="249250" y="1319050"/>
            <a:ext cx="8520600" cy="1194300"/>
          </a:xfrm>
          <a:prstGeom prst="rect">
            <a:avLst/>
          </a:prstGeom>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l" sz="1800"/>
              <a:t>Δεδομ</a:t>
            </a:r>
            <a:r>
              <a:rPr lang="el" sz="1800"/>
              <a:t>ένου οτι το Grid Search είναι κοστοβόρο για το Dataset και με τους πόρους μας, θα χρησιμοποιήσουμε Random + Bayesian Search</a:t>
            </a:r>
            <a:endParaRPr sz="1800"/>
          </a:p>
          <a:p>
            <a:pPr indent="0" lvl="0" marL="0" rtl="0" algn="ctr">
              <a:spcBef>
                <a:spcPts val="0"/>
              </a:spcBef>
              <a:spcAft>
                <a:spcPts val="0"/>
              </a:spcAft>
              <a:buNone/>
            </a:pPr>
            <a:r>
              <a:t/>
            </a:r>
            <a:endParaRPr sz="1800"/>
          </a:p>
          <a:p>
            <a:pPr indent="0" lvl="0" marL="0" rtl="0" algn="ctr">
              <a:spcBef>
                <a:spcPts val="0"/>
              </a:spcBef>
              <a:spcAft>
                <a:spcPts val="0"/>
              </a:spcAft>
              <a:buNone/>
            </a:pPr>
            <a:r>
              <a:t/>
            </a:r>
            <a:endParaRPr sz="1800"/>
          </a:p>
        </p:txBody>
      </p:sp>
      <p:pic>
        <p:nvPicPr>
          <p:cNvPr id="258" name="Google Shape;258;p44"/>
          <p:cNvPicPr preferRelativeResize="0"/>
          <p:nvPr/>
        </p:nvPicPr>
        <p:blipFill>
          <a:blip r:embed="rId3">
            <a:alphaModFix/>
          </a:blip>
          <a:stretch>
            <a:fillRect/>
          </a:stretch>
        </p:blipFill>
        <p:spPr>
          <a:xfrm>
            <a:off x="1908525" y="2369150"/>
            <a:ext cx="5693902" cy="23253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pic>
        <p:nvPicPr>
          <p:cNvPr id="263" name="Google Shape;263;p45"/>
          <p:cNvPicPr preferRelativeResize="0"/>
          <p:nvPr/>
        </p:nvPicPr>
        <p:blipFill>
          <a:blip r:embed="rId3">
            <a:alphaModFix/>
          </a:blip>
          <a:stretch>
            <a:fillRect/>
          </a:stretch>
        </p:blipFill>
        <p:spPr>
          <a:xfrm>
            <a:off x="190500" y="1510475"/>
            <a:ext cx="8763000" cy="3190875"/>
          </a:xfrm>
          <a:prstGeom prst="rect">
            <a:avLst/>
          </a:prstGeom>
          <a:noFill/>
          <a:ln>
            <a:noFill/>
          </a:ln>
        </p:spPr>
      </p:pic>
      <p:sp>
        <p:nvSpPr>
          <p:cNvPr id="264" name="Google Shape;264;p45"/>
          <p:cNvSpPr txBox="1"/>
          <p:nvPr>
            <p:ph type="ctrTitle"/>
          </p:nvPr>
        </p:nvSpPr>
        <p:spPr>
          <a:xfrm>
            <a:off x="218025" y="132675"/>
            <a:ext cx="8520600" cy="1041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l" sz="4600"/>
              <a:t>HPO Results</a:t>
            </a:r>
            <a:endParaRPr sz="46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46"/>
          <p:cNvSpPr txBox="1"/>
          <p:nvPr>
            <p:ph type="ctrTitle"/>
          </p:nvPr>
        </p:nvSpPr>
        <p:spPr>
          <a:xfrm>
            <a:off x="264875" y="148300"/>
            <a:ext cx="8520600" cy="9942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l"/>
              <a:t>Statistical Significance</a:t>
            </a:r>
            <a:endParaRPr/>
          </a:p>
        </p:txBody>
      </p:sp>
      <p:sp>
        <p:nvSpPr>
          <p:cNvPr id="270" name="Google Shape;270;p46"/>
          <p:cNvSpPr txBox="1"/>
          <p:nvPr>
            <p:ph idx="1" type="subTitle"/>
          </p:nvPr>
        </p:nvSpPr>
        <p:spPr>
          <a:xfrm>
            <a:off x="194625" y="1072250"/>
            <a:ext cx="3770400" cy="1339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l" sz="1800"/>
              <a:t>Using AbstractML’s funcs: </a:t>
            </a:r>
            <a:endParaRPr sz="1800"/>
          </a:p>
          <a:p>
            <a:pPr indent="0" lvl="0" marL="0" rtl="0" algn="l">
              <a:spcBef>
                <a:spcPts val="0"/>
              </a:spcBef>
              <a:spcAft>
                <a:spcPts val="0"/>
              </a:spcAft>
              <a:buNone/>
            </a:pPr>
            <a:r>
              <a:rPr b="1" lang="el" sz="1800"/>
              <a:t>-getConfidenceInterval( ) </a:t>
            </a:r>
            <a:endParaRPr b="1" sz="1800"/>
          </a:p>
          <a:p>
            <a:pPr indent="0" lvl="0" marL="0" rtl="0" algn="l">
              <a:spcBef>
                <a:spcPts val="0"/>
              </a:spcBef>
              <a:spcAft>
                <a:spcPts val="0"/>
              </a:spcAft>
              <a:buNone/>
            </a:pPr>
            <a:r>
              <a:rPr b="1" lang="el" sz="1800"/>
              <a:t>-testAgainstBaseline() </a:t>
            </a:r>
            <a:endParaRPr b="1" sz="1800"/>
          </a:p>
          <a:p>
            <a:pPr indent="0" lvl="0" marL="0" rtl="0" algn="l">
              <a:spcBef>
                <a:spcPts val="0"/>
              </a:spcBef>
              <a:spcAft>
                <a:spcPts val="0"/>
              </a:spcAft>
              <a:buNone/>
            </a:pPr>
            <a:r>
              <a:rPr b="1" lang="el" sz="1800"/>
              <a:t>-performCV()</a:t>
            </a:r>
            <a:endParaRPr b="1" sz="1800"/>
          </a:p>
        </p:txBody>
      </p:sp>
      <p:pic>
        <p:nvPicPr>
          <p:cNvPr id="271" name="Google Shape;271;p46"/>
          <p:cNvPicPr preferRelativeResize="0"/>
          <p:nvPr/>
        </p:nvPicPr>
        <p:blipFill>
          <a:blip r:embed="rId3">
            <a:alphaModFix/>
          </a:blip>
          <a:stretch>
            <a:fillRect/>
          </a:stretch>
        </p:blipFill>
        <p:spPr>
          <a:xfrm>
            <a:off x="264863" y="3122800"/>
            <a:ext cx="4388375" cy="1709300"/>
          </a:xfrm>
          <a:prstGeom prst="rect">
            <a:avLst/>
          </a:prstGeom>
          <a:noFill/>
          <a:ln>
            <a:noFill/>
          </a:ln>
        </p:spPr>
      </p:pic>
      <p:pic>
        <p:nvPicPr>
          <p:cNvPr id="272" name="Google Shape;272;p46"/>
          <p:cNvPicPr preferRelativeResize="0"/>
          <p:nvPr/>
        </p:nvPicPr>
        <p:blipFill>
          <a:blip r:embed="rId4">
            <a:alphaModFix/>
          </a:blip>
          <a:stretch>
            <a:fillRect/>
          </a:stretch>
        </p:blipFill>
        <p:spPr>
          <a:xfrm>
            <a:off x="3683975" y="1142500"/>
            <a:ext cx="4734126" cy="1710100"/>
          </a:xfrm>
          <a:prstGeom prst="rect">
            <a:avLst/>
          </a:prstGeom>
          <a:noFill/>
          <a:ln>
            <a:noFill/>
          </a:ln>
        </p:spPr>
      </p:pic>
      <p:sp>
        <p:nvSpPr>
          <p:cNvPr id="273" name="Google Shape;273;p46"/>
          <p:cNvSpPr txBox="1"/>
          <p:nvPr>
            <p:ph idx="1" type="subTitle"/>
          </p:nvPr>
        </p:nvSpPr>
        <p:spPr>
          <a:xfrm>
            <a:off x="4905150" y="3246150"/>
            <a:ext cx="3770400" cy="1339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l" sz="1800"/>
              <a:t>Σε Wilson και Bootstrap παιρνουσαν το baseline 0,5(p&lt;0.001)</a:t>
            </a:r>
            <a:endParaRPr b="1" sz="18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7"/>
          <p:cNvSpPr txBox="1"/>
          <p:nvPr>
            <p:ph type="ctrTitle"/>
          </p:nvPr>
        </p:nvSpPr>
        <p:spPr>
          <a:xfrm>
            <a:off x="218050" y="249775"/>
            <a:ext cx="8520600" cy="978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l"/>
              <a:t>Συμπεράσματα</a:t>
            </a:r>
            <a:endParaRPr/>
          </a:p>
        </p:txBody>
      </p:sp>
      <p:sp>
        <p:nvSpPr>
          <p:cNvPr id="279" name="Google Shape;279;p47"/>
          <p:cNvSpPr txBox="1"/>
          <p:nvPr>
            <p:ph idx="1" type="subTitle"/>
          </p:nvPr>
        </p:nvSpPr>
        <p:spPr>
          <a:xfrm>
            <a:off x="311700" y="1467350"/>
            <a:ext cx="8520600" cy="2856600"/>
          </a:xfrm>
          <a:prstGeom prst="rect">
            <a:avLst/>
          </a:prstGeom>
        </p:spPr>
        <p:txBody>
          <a:bodyPr anchorCtr="0" anchor="t" bIns="91425" lIns="91425" spcFirstLastPara="1" rIns="91425" wrap="square" tIns="91425">
            <a:normAutofit fontScale="70000" lnSpcReduction="20000"/>
          </a:bodyPr>
          <a:lstStyle/>
          <a:p>
            <a:pPr indent="0" lvl="0" marL="0" rtl="0" algn="ctr">
              <a:spcBef>
                <a:spcPts val="0"/>
              </a:spcBef>
              <a:spcAft>
                <a:spcPts val="0"/>
              </a:spcAft>
              <a:buNone/>
            </a:pPr>
            <a:r>
              <a:t/>
            </a:r>
            <a:endParaRPr/>
          </a:p>
          <a:p>
            <a:pPr indent="0" lvl="0" marL="0" rtl="0" algn="ctr">
              <a:spcBef>
                <a:spcPts val="0"/>
              </a:spcBef>
              <a:spcAft>
                <a:spcPts val="0"/>
              </a:spcAft>
              <a:buNone/>
            </a:pPr>
            <a:r>
              <a:rPr lang="el"/>
              <a:t>Παρουσι</a:t>
            </a:r>
            <a:r>
              <a:rPr lang="el"/>
              <a:t>άσαμε μία Αρχιτεκτονική Αποκεντρωμένου ΑΙ και γιατί ειναι σημαντική για το μέλλον. Τεκμηριώσαμε τη σημασία της ανίχνευσης κειμένου που παράγεται από τεχνητή νοημοσύνη και έχουμε προτείνει ορισμένα γενικά σημεία αναφοράς (benchmarks) και λύσεις για το συγκεκριμένο σύνολο δεδομένων, αξιοποιώντας τον δικό μας χώρο αναζήτησης, μοντέλα και συνθήκες. Προφανώς αν θέλουμε Πλήρη γενίκευση γνώσης των μοντέλων χρειάζεται ευρύτερη Έρευνα.</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8"/>
          <p:cNvSpPr txBox="1"/>
          <p:nvPr>
            <p:ph type="ctrTitle"/>
          </p:nvPr>
        </p:nvSpPr>
        <p:spPr>
          <a:xfrm>
            <a:off x="491200" y="398050"/>
            <a:ext cx="8520600" cy="35778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l"/>
              <a:t>Τελος παρουσ</a:t>
            </a:r>
            <a:r>
              <a:rPr lang="el"/>
              <a:t>ίασης</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l"/>
              <a:t>Ευχαριστώ για την </a:t>
            </a:r>
            <a:endParaRPr/>
          </a:p>
          <a:p>
            <a:pPr indent="0" lvl="0" marL="0" rtl="0" algn="ctr">
              <a:spcBef>
                <a:spcPts val="0"/>
              </a:spcBef>
              <a:spcAft>
                <a:spcPts val="0"/>
              </a:spcAft>
              <a:buNone/>
            </a:pPr>
            <a:r>
              <a:rPr lang="el"/>
              <a:t>Προσοχή σας!!</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