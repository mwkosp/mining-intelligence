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Lst>
  <p:sldSz cy="5143500" cx="9144000"/>
  <p:notesSz cx="6858000" cy="9144000"/>
  <p:embeddedFontLst>
    <p:embeddedFont>
      <p:font typeface="Lato"/>
      <p:regular r:id="rId36"/>
      <p:bold r:id="rId37"/>
      <p:italic r:id="rId38"/>
      <p:boldItalic r:id="rId3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945F317-B448-406A-808D-762D3F587DA6}">
  <a:tblStyle styleId="{1945F317-B448-406A-808D-762D3F587DA6}"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font" Target="fonts/Lato-bold.fntdata"/><Relationship Id="rId14" Type="http://schemas.openxmlformats.org/officeDocument/2006/relationships/slide" Target="slides/slide8.xml"/><Relationship Id="rId36" Type="http://schemas.openxmlformats.org/officeDocument/2006/relationships/font" Target="fonts/Lato-regular.fntdata"/><Relationship Id="rId17" Type="http://schemas.openxmlformats.org/officeDocument/2006/relationships/slide" Target="slides/slide11.xml"/><Relationship Id="rId39" Type="http://schemas.openxmlformats.org/officeDocument/2006/relationships/font" Target="fonts/Lato-boldItalic.fntdata"/><Relationship Id="rId16" Type="http://schemas.openxmlformats.org/officeDocument/2006/relationships/slide" Target="slides/slide10.xml"/><Relationship Id="rId38" Type="http://schemas.openxmlformats.org/officeDocument/2006/relationships/font" Target="fonts/Lato-italic.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3f8e64f50d7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3f8e64f50d7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3f8e64f50d7_7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3f8e64f50d7_7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f8e64f50d7_7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3f8e64f50d7_7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f8e64f50d7_7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3f8e64f50d7_7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f8e64f50d7_7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3f8e64f50d7_7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f8e64f50d7_7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3f8e64f50d7_7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f8e64f50d7_7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3f8e64f50d7_7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f8e64f50d7_7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3f8e64f50d7_7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f8e64f50d7_7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3f8e64f50d7_7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3f8e64f50d7_7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3f8e64f50d7_7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f8e64f50d7_7_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 name="Google Shape;196;g3f8e64f50d7_7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3f8e64f50d7_7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5" name="Google Shape;205;g3f8e64f50d7_7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3f8e64f50d7_7_1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3f8e64f50d7_7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3f8e64f50d7_7_1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8" name="Google Shape;228;g3f8e64f50d7_7_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3f8e64f50d7_7_5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1" name="Google Shape;241;g3f8e64f50d7_7_5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3f8e64f50d7_7_1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9" name="Google Shape;249;g3f8e64f50d7_7_1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3f8e64f50d7_7_1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2" name="Google Shape;262;g3f8e64f50d7_7_1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3f8e64f50d7_7_1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3" name="Google Shape;273;g3f8e64f50d7_7_1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3f8e64f50d7_7_1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6" name="Google Shape;286;g3f8e64f50d7_7_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3f8e64f50d7_7_1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5" name="Google Shape;295;g3f8e64f50d7_7_1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g3f8e64f50d7_7_1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6" name="Google Shape;306;g3f8e64f50d7_7_1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g3f8e64f50d7_7_1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0" name="Google Shape;320;g3f8e64f50d7_7_1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g3f8e64f50d7_7_1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9" name="Google Shape;329;g3f8e64f50d7_7_1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g3f8e64f50d7_7_2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8" name="Google Shape;338;g3f8e64f50d7_7_2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g3f8e64f50d7_7_2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8" name="Google Shape;348;g3f8e64f50d7_7_2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g3f8e64f50d7_7_2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8" name="Google Shape;358;g3f8e64f50d7_7_2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g3f8e64f50d7_7_2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8" name="Google Shape;368;g3f8e64f50d7_7_2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g3f8e64f50d7_7_2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7" name="Google Shape;377;g3f8e64f50d7_7_2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l"/>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 Id="rId3" Type="http://schemas.openxmlformats.org/officeDocument/2006/relationships/image" Target="../media/image5.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8.png"/><Relationship Id="rId4" Type="http://schemas.openxmlformats.org/officeDocument/2006/relationships/image" Target="../media/image2.png"/><Relationship Id="rId5"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8.png"/><Relationship Id="rId4" Type="http://schemas.openxmlformats.org/officeDocument/2006/relationships/image" Target="../media/image15.png"/><Relationship Id="rId5" Type="http://schemas.openxmlformats.org/officeDocument/2006/relationships/image" Target="../media/image11.png"/><Relationship Id="rId6" Type="http://schemas.openxmlformats.org/officeDocument/2006/relationships/image" Target="../media/image9.png"/><Relationship Id="rId7" Type="http://schemas.openxmlformats.org/officeDocument/2006/relationships/image" Target="../media/image7.png"/><Relationship Id="rId8" Type="http://schemas.openxmlformats.org/officeDocument/2006/relationships/image" Target="../media/image1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10.png"/><Relationship Id="rId5" Type="http://schemas.openxmlformats.org/officeDocument/2006/relationships/image" Target="../media/image1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6.png"/><Relationship Id="rId4" Type="http://schemas.openxmlformats.org/officeDocument/2006/relationships/image" Target="../media/image12.png"/><Relationship Id="rId5" Type="http://schemas.openxmlformats.org/officeDocument/2006/relationships/image" Target="../media/image4.png"/><Relationship Id="rId6" Type="http://schemas.openxmlformats.org/officeDocument/2006/relationships/image" Target="../media/image2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7.png"/><Relationship Id="rId4" Type="http://schemas.openxmlformats.org/officeDocument/2006/relationships/image" Target="../media/image2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9.png"/><Relationship Id="rId4" Type="http://schemas.openxmlformats.org/officeDocument/2006/relationships/image" Target="../media/image4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4.png"/><Relationship Id="rId4" Type="http://schemas.openxmlformats.org/officeDocument/2006/relationships/image" Target="../media/image26.png"/><Relationship Id="rId5" Type="http://schemas.openxmlformats.org/officeDocument/2006/relationships/image" Target="../media/image3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3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5.png"/><Relationship Id="rId4" Type="http://schemas.openxmlformats.org/officeDocument/2006/relationships/image" Target="../media/image3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2.png"/><Relationship Id="rId4" Type="http://schemas.openxmlformats.org/officeDocument/2006/relationships/image" Target="../media/image3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3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42.png"/><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4.png"/><Relationship Id="rId4" Type="http://schemas.openxmlformats.org/officeDocument/2006/relationships/image" Target="../media/image3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4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4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39.png"/><Relationship Id="rId4" Type="http://schemas.openxmlformats.org/officeDocument/2006/relationships/image" Target="../media/image3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2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2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47.png"/><Relationship Id="rId4" Type="http://schemas.openxmlformats.org/officeDocument/2006/relationships/image" Target="../media/image40.png"/><Relationship Id="rId5" Type="http://schemas.openxmlformats.org/officeDocument/2006/relationships/image" Target="../media/image29.png"/><Relationship Id="rId6" Type="http://schemas.openxmlformats.org/officeDocument/2006/relationships/image" Target="../media/image3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3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4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50.png"/><Relationship Id="rId4" Type="http://schemas.openxmlformats.org/officeDocument/2006/relationships/image" Target="../media/image5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45.png"/><Relationship Id="rId4" Type="http://schemas.openxmlformats.org/officeDocument/2006/relationships/image" Target="../media/image4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4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hyperlink" Target="mailto:mwkospanagiotis@gmail.com" TargetMode="Externa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3" name="Shape 53"/>
        <p:cNvGrpSpPr/>
        <p:nvPr/>
      </p:nvGrpSpPr>
      <p:grpSpPr>
        <a:xfrm>
          <a:off x="0" y="0"/>
          <a:ext cx="0" cy="0"/>
          <a:chOff x="0" y="0"/>
          <a:chExt cx="0" cy="0"/>
        </a:xfrm>
      </p:grpSpPr>
      <p:sp>
        <p:nvSpPr>
          <p:cNvPr id="54" name="Google Shape;54;p13"/>
          <p:cNvSpPr txBox="1"/>
          <p:nvPr>
            <p:ph type="title"/>
          </p:nvPr>
        </p:nvSpPr>
        <p:spPr>
          <a:xfrm>
            <a:off x="280475" y="2811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SzPct val="44595"/>
              <a:buNone/>
            </a:pPr>
            <a:r>
              <a:rPr b="1" i="1" lang="el" sz="2220"/>
              <a:t>Mining Inelligence: </a:t>
            </a:r>
            <a:endParaRPr b="1" i="1" sz="2220"/>
          </a:p>
          <a:p>
            <a:pPr indent="0" lvl="0" marL="0" rtl="0" algn="ctr">
              <a:spcBef>
                <a:spcPts val="0"/>
              </a:spcBef>
              <a:spcAft>
                <a:spcPts val="0"/>
              </a:spcAft>
              <a:buSzPct val="44595"/>
              <a:buNone/>
            </a:pPr>
            <a:r>
              <a:rPr b="1" i="1" lang="el" sz="2220"/>
              <a:t>Towards Decentralized, Permissionless AI </a:t>
            </a:r>
            <a:endParaRPr b="1" i="1" sz="2220"/>
          </a:p>
        </p:txBody>
      </p:sp>
      <p:sp>
        <p:nvSpPr>
          <p:cNvPr id="55" name="Google Shape;55;p1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l" sz="1600"/>
              <a:t>A Bittensor (τ) Architecture Thesis on Solving Real World ML Problems</a:t>
            </a:r>
            <a:endParaRPr sz="1600"/>
          </a:p>
          <a:p>
            <a:pPr indent="0" lvl="0" marL="0" rtl="0" algn="l">
              <a:spcBef>
                <a:spcPts val="1200"/>
              </a:spcBef>
              <a:spcAft>
                <a:spcPts val="0"/>
              </a:spcAft>
              <a:buNone/>
            </a:pPr>
            <a:r>
              <a:rPr lang="el" sz="1600"/>
              <a:t>																																																																																																																																																</a:t>
            </a:r>
            <a:endParaRPr sz="1600"/>
          </a:p>
          <a:p>
            <a:pPr indent="0" lvl="0" marL="6400800" rtl="0" algn="l">
              <a:spcBef>
                <a:spcPts val="1200"/>
              </a:spcBef>
              <a:spcAft>
                <a:spcPts val="1200"/>
              </a:spcAft>
              <a:buNone/>
            </a:pPr>
            <a:r>
              <a:t/>
            </a:r>
            <a:endParaRPr sz="1600"/>
          </a:p>
        </p:txBody>
      </p:sp>
      <p:pic>
        <p:nvPicPr>
          <p:cNvPr id="56" name="Google Shape;56;p13"/>
          <p:cNvPicPr preferRelativeResize="0"/>
          <p:nvPr/>
        </p:nvPicPr>
        <p:blipFill>
          <a:blip r:embed="rId3">
            <a:alphaModFix/>
          </a:blip>
          <a:stretch>
            <a:fillRect/>
          </a:stretch>
        </p:blipFill>
        <p:spPr>
          <a:xfrm>
            <a:off x="2320250" y="1305138"/>
            <a:ext cx="4503475" cy="2533225"/>
          </a:xfrm>
          <a:prstGeom prst="rect">
            <a:avLst/>
          </a:prstGeom>
          <a:noFill/>
          <a:ln>
            <a:noFill/>
          </a:ln>
        </p:spPr>
      </p:pic>
      <p:pic>
        <p:nvPicPr>
          <p:cNvPr id="57" name="Google Shape;57;p13"/>
          <p:cNvPicPr preferRelativeResize="0"/>
          <p:nvPr/>
        </p:nvPicPr>
        <p:blipFill>
          <a:blip r:embed="rId4">
            <a:alphaModFix/>
          </a:blip>
          <a:stretch>
            <a:fillRect/>
          </a:stretch>
        </p:blipFill>
        <p:spPr>
          <a:xfrm>
            <a:off x="0" y="0"/>
            <a:ext cx="1256600" cy="1256600"/>
          </a:xfrm>
          <a:prstGeom prst="rect">
            <a:avLst/>
          </a:prstGeom>
          <a:noFill/>
          <a:ln>
            <a:noFill/>
          </a:ln>
        </p:spPr>
      </p:pic>
      <p:cxnSp>
        <p:nvCxnSpPr>
          <p:cNvPr id="58" name="Google Shape;58;p13"/>
          <p:cNvCxnSpPr/>
          <p:nvPr/>
        </p:nvCxnSpPr>
        <p:spPr>
          <a:xfrm>
            <a:off x="404175" y="3621550"/>
            <a:ext cx="8132700" cy="7800"/>
          </a:xfrm>
          <a:prstGeom prst="straightConnector1">
            <a:avLst/>
          </a:prstGeom>
          <a:noFill/>
          <a:ln cap="flat" cmpd="sng" w="9525">
            <a:solidFill>
              <a:schemeClr val="dk2"/>
            </a:solidFill>
            <a:prstDash val="solid"/>
            <a:round/>
            <a:headEnd len="med" w="med" type="none"/>
            <a:tailEnd len="med" w="med" type="none"/>
          </a:ln>
        </p:spPr>
      </p:cxnSp>
      <p:sp>
        <p:nvSpPr>
          <p:cNvPr id="59" name="Google Shape;59;p1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l"/>
              <a:t>‹#›</a:t>
            </a:fld>
            <a:endParaRPr/>
          </a:p>
        </p:txBody>
      </p:sp>
      <p:cxnSp>
        <p:nvCxnSpPr>
          <p:cNvPr id="60" name="Google Shape;60;p13"/>
          <p:cNvCxnSpPr/>
          <p:nvPr/>
        </p:nvCxnSpPr>
        <p:spPr>
          <a:xfrm>
            <a:off x="311700" y="1152475"/>
            <a:ext cx="8132700" cy="7800"/>
          </a:xfrm>
          <a:prstGeom prst="straightConnector1">
            <a:avLst/>
          </a:prstGeom>
          <a:noFill/>
          <a:ln cap="flat" cmpd="sng" w="9525">
            <a:solidFill>
              <a:schemeClr val="dk2"/>
            </a:solidFill>
            <a:prstDash val="solid"/>
            <a:round/>
            <a:headEnd len="med" w="med" type="none"/>
            <a:tailEnd len="med" w="med" type="none"/>
          </a:ln>
        </p:spPr>
      </p:cxnSp>
      <p:sp>
        <p:nvSpPr>
          <p:cNvPr id="61" name="Google Shape;61;p13"/>
          <p:cNvSpPr txBox="1"/>
          <p:nvPr/>
        </p:nvSpPr>
        <p:spPr>
          <a:xfrm>
            <a:off x="421475" y="3652750"/>
            <a:ext cx="4503600" cy="1256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l" sz="1200">
                <a:solidFill>
                  <a:schemeClr val="dk1"/>
                </a:solidFill>
              </a:rPr>
              <a:t>Author: Panagiotis Mokos	 (</a:t>
            </a:r>
            <a:r>
              <a:rPr b="1" i="1" lang="el" sz="1500">
                <a:solidFill>
                  <a:schemeClr val="dk1"/>
                </a:solidFill>
                <a:latin typeface="Times New Roman"/>
                <a:ea typeface="Times New Roman"/>
                <a:cs typeface="Times New Roman"/>
                <a:sym typeface="Times New Roman"/>
              </a:rPr>
              <a:t>mwkospanagiotis@gmail.com)</a:t>
            </a:r>
            <a:endParaRPr sz="1200">
              <a:solidFill>
                <a:schemeClr val="dk1"/>
              </a:solidFill>
            </a:endParaRPr>
          </a:p>
          <a:p>
            <a:pPr indent="0" lvl="0" marL="0" rtl="0" algn="l">
              <a:lnSpc>
                <a:spcPct val="115000"/>
              </a:lnSpc>
              <a:spcBef>
                <a:spcPts val="1200"/>
              </a:spcBef>
              <a:spcAft>
                <a:spcPts val="1200"/>
              </a:spcAft>
              <a:buClr>
                <a:schemeClr val="dk1"/>
              </a:buClr>
              <a:buSzPts val="1100"/>
              <a:buFont typeface="Arial"/>
              <a:buNone/>
            </a:pPr>
            <a:r>
              <a:rPr lang="el" sz="1200">
                <a:solidFill>
                  <a:schemeClr val="dk1"/>
                </a:solidFill>
              </a:rPr>
              <a:t>Supervisors: Manolis Steiakakis, Eutuxios Protopapadakis </a:t>
            </a:r>
            <a:endParaRPr sz="1200">
              <a:solidFill>
                <a:schemeClr val="dk1"/>
              </a:solidFill>
            </a:endParaRPr>
          </a:p>
        </p:txBody>
      </p:sp>
      <p:sp>
        <p:nvSpPr>
          <p:cNvPr id="62" name="Google Shape;62;p13"/>
          <p:cNvSpPr txBox="1"/>
          <p:nvPr/>
        </p:nvSpPr>
        <p:spPr>
          <a:xfrm>
            <a:off x="5143500" y="3652750"/>
            <a:ext cx="3328800" cy="12567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l" sz="1200">
                <a:solidFill>
                  <a:schemeClr val="dk1"/>
                </a:solidFill>
              </a:rPr>
              <a:t>Applied Informatics</a:t>
            </a:r>
            <a:endParaRPr sz="1200">
              <a:solidFill>
                <a:schemeClr val="dk1"/>
              </a:solidFill>
            </a:endParaRPr>
          </a:p>
          <a:p>
            <a:pPr indent="0" lvl="0" marL="0" rtl="0" algn="r">
              <a:spcBef>
                <a:spcPts val="0"/>
              </a:spcBef>
              <a:spcAft>
                <a:spcPts val="0"/>
              </a:spcAft>
              <a:buNone/>
            </a:pPr>
            <a:r>
              <a:rPr lang="el" sz="1200">
                <a:solidFill>
                  <a:schemeClr val="dk1"/>
                </a:solidFill>
              </a:rPr>
              <a:t>Academic Year 2025-26</a:t>
            </a:r>
            <a:endParaRPr sz="1200">
              <a:solidFill>
                <a:schemeClr val="dk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4"/>
          <p:cNvSpPr txBox="1"/>
          <p:nvPr>
            <p:ph type="ctrTitle"/>
          </p:nvPr>
        </p:nvSpPr>
        <p:spPr>
          <a:xfrm>
            <a:off x="350700" y="-90550"/>
            <a:ext cx="8520600" cy="10506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l" sz="3900">
                <a:latin typeface="Times New Roman"/>
                <a:ea typeface="Times New Roman"/>
                <a:cs typeface="Times New Roman"/>
                <a:sym typeface="Times New Roman"/>
              </a:rPr>
              <a:t>Εισαγωγή -</a:t>
            </a:r>
            <a:endParaRPr sz="3900">
              <a:latin typeface="Times New Roman"/>
              <a:ea typeface="Times New Roman"/>
              <a:cs typeface="Times New Roman"/>
              <a:sym typeface="Times New Roman"/>
            </a:endParaRPr>
          </a:p>
          <a:p>
            <a:pPr indent="0" lvl="0" marL="0" rtl="0" algn="ctr">
              <a:spcBef>
                <a:spcPts val="0"/>
              </a:spcBef>
              <a:spcAft>
                <a:spcPts val="0"/>
              </a:spcAft>
              <a:buNone/>
            </a:pPr>
            <a:r>
              <a:rPr lang="el" sz="2278">
                <a:latin typeface="Times New Roman"/>
                <a:ea typeface="Times New Roman"/>
                <a:cs typeface="Times New Roman"/>
                <a:sym typeface="Times New Roman"/>
              </a:rPr>
              <a:t>(Κίνητρο </a:t>
            </a:r>
            <a:r>
              <a:rPr lang="el" sz="2278">
                <a:latin typeface="Times New Roman"/>
                <a:ea typeface="Times New Roman"/>
                <a:cs typeface="Times New Roman"/>
                <a:sym typeface="Times New Roman"/>
              </a:rPr>
              <a:t>Πτυχιακής </a:t>
            </a:r>
            <a:r>
              <a:rPr lang="el" sz="2278">
                <a:latin typeface="Times New Roman"/>
                <a:ea typeface="Times New Roman"/>
                <a:cs typeface="Times New Roman"/>
                <a:sym typeface="Times New Roman"/>
              </a:rPr>
              <a:t>&amp; Πρόβλημα)</a:t>
            </a:r>
            <a:endParaRPr sz="2278">
              <a:latin typeface="Times New Roman"/>
              <a:ea typeface="Times New Roman"/>
              <a:cs typeface="Times New Roman"/>
              <a:sym typeface="Times New Roman"/>
            </a:endParaRPr>
          </a:p>
        </p:txBody>
      </p:sp>
      <p:sp>
        <p:nvSpPr>
          <p:cNvPr id="68" name="Google Shape;68;p14"/>
          <p:cNvSpPr txBox="1"/>
          <p:nvPr>
            <p:ph idx="1" type="subTitle"/>
          </p:nvPr>
        </p:nvSpPr>
        <p:spPr>
          <a:xfrm>
            <a:off x="233650" y="1825475"/>
            <a:ext cx="8520600" cy="30564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b="1" i="1" lang="el" sz="1800" u="sng">
                <a:latin typeface="Times New Roman"/>
                <a:ea typeface="Times New Roman"/>
                <a:cs typeface="Times New Roman"/>
                <a:sym typeface="Times New Roman"/>
              </a:rPr>
              <a:t>“</a:t>
            </a:r>
            <a:r>
              <a:rPr b="1" i="1" lang="el" sz="1800" u="sng">
                <a:latin typeface="Times New Roman"/>
                <a:ea typeface="Times New Roman"/>
                <a:cs typeface="Times New Roman"/>
                <a:sym typeface="Times New Roman"/>
              </a:rPr>
              <a:t>Η Ολο</a:t>
            </a:r>
            <a:r>
              <a:rPr b="1" i="1" lang="el" sz="1800" u="sng">
                <a:latin typeface="Times New Roman"/>
                <a:ea typeface="Times New Roman"/>
                <a:cs typeface="Times New Roman"/>
                <a:sym typeface="Times New Roman"/>
              </a:rPr>
              <a:t>ένα και μεγαλύτερη αύξηση της συγκέντρωσης του AI αρχίζει να δίνει Μονοπωλιακή δύναμη σε συγκεκριμένους.”</a:t>
            </a:r>
            <a:endParaRPr b="1" i="1" sz="1800" u="sng">
              <a:latin typeface="Times New Roman"/>
              <a:ea typeface="Times New Roman"/>
              <a:cs typeface="Times New Roman"/>
              <a:sym typeface="Times New Roman"/>
            </a:endParaRPr>
          </a:p>
          <a:p>
            <a:pPr indent="0" lvl="0" marL="0" rtl="0" algn="ctr">
              <a:spcBef>
                <a:spcPts val="0"/>
              </a:spcBef>
              <a:spcAft>
                <a:spcPts val="0"/>
              </a:spcAft>
              <a:buNone/>
            </a:pPr>
            <a:r>
              <a:t/>
            </a:r>
            <a:endParaRPr sz="1800">
              <a:latin typeface="Times New Roman"/>
              <a:ea typeface="Times New Roman"/>
              <a:cs typeface="Times New Roman"/>
              <a:sym typeface="Times New Roman"/>
            </a:endParaRPr>
          </a:p>
          <a:p>
            <a:pPr indent="0" lvl="0" marL="0" rtl="0" algn="l">
              <a:spcBef>
                <a:spcPts val="0"/>
              </a:spcBef>
              <a:spcAft>
                <a:spcPts val="0"/>
              </a:spcAft>
              <a:buNone/>
            </a:pPr>
            <a:r>
              <a:rPr lang="el" sz="1800">
                <a:latin typeface="Times New Roman"/>
                <a:ea typeface="Times New Roman"/>
                <a:cs typeface="Times New Roman"/>
                <a:sym typeface="Times New Roman"/>
              </a:rPr>
              <a:t> </a:t>
            </a:r>
            <a:endParaRPr sz="1800">
              <a:latin typeface="Times New Roman"/>
              <a:ea typeface="Times New Roman"/>
              <a:cs typeface="Times New Roman"/>
              <a:sym typeface="Times New Roman"/>
            </a:endParaRPr>
          </a:p>
        </p:txBody>
      </p:sp>
      <p:sp>
        <p:nvSpPr>
          <p:cNvPr id="69" name="Google Shape;69;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l"/>
              <a:t>‹#›</a:t>
            </a:fld>
            <a:endParaRPr/>
          </a:p>
        </p:txBody>
      </p:sp>
      <p:pic>
        <p:nvPicPr>
          <p:cNvPr id="70" name="Google Shape;70;p14"/>
          <p:cNvPicPr preferRelativeResize="0"/>
          <p:nvPr/>
        </p:nvPicPr>
        <p:blipFill>
          <a:blip r:embed="rId3">
            <a:alphaModFix/>
          </a:blip>
          <a:stretch>
            <a:fillRect/>
          </a:stretch>
        </p:blipFill>
        <p:spPr>
          <a:xfrm>
            <a:off x="539713" y="864704"/>
            <a:ext cx="601475" cy="601475"/>
          </a:xfrm>
          <a:prstGeom prst="rect">
            <a:avLst/>
          </a:prstGeom>
          <a:noFill/>
          <a:ln>
            <a:noFill/>
          </a:ln>
        </p:spPr>
      </p:pic>
      <p:pic>
        <p:nvPicPr>
          <p:cNvPr id="71" name="Google Shape;71;p14"/>
          <p:cNvPicPr preferRelativeResize="0"/>
          <p:nvPr/>
        </p:nvPicPr>
        <p:blipFill>
          <a:blip r:embed="rId4">
            <a:alphaModFix/>
          </a:blip>
          <a:stretch>
            <a:fillRect/>
          </a:stretch>
        </p:blipFill>
        <p:spPr>
          <a:xfrm>
            <a:off x="7354825" y="814859"/>
            <a:ext cx="703325" cy="701147"/>
          </a:xfrm>
          <a:prstGeom prst="rect">
            <a:avLst/>
          </a:prstGeom>
          <a:noFill/>
          <a:ln>
            <a:noFill/>
          </a:ln>
        </p:spPr>
      </p:pic>
      <p:cxnSp>
        <p:nvCxnSpPr>
          <p:cNvPr id="72" name="Google Shape;72;p14"/>
          <p:cNvCxnSpPr/>
          <p:nvPr/>
        </p:nvCxnSpPr>
        <p:spPr>
          <a:xfrm>
            <a:off x="2589600" y="960050"/>
            <a:ext cx="4042800" cy="7800"/>
          </a:xfrm>
          <a:prstGeom prst="straightConnector1">
            <a:avLst/>
          </a:prstGeom>
          <a:noFill/>
          <a:ln cap="flat" cmpd="sng" w="9525">
            <a:solidFill>
              <a:schemeClr val="dk2"/>
            </a:solidFill>
            <a:prstDash val="solid"/>
            <a:round/>
            <a:headEnd len="med" w="med" type="none"/>
            <a:tailEnd len="med" w="med" type="none"/>
          </a:ln>
        </p:spPr>
      </p:cxnSp>
      <p:pic>
        <p:nvPicPr>
          <p:cNvPr id="73" name="Google Shape;73;p14"/>
          <p:cNvPicPr preferRelativeResize="0"/>
          <p:nvPr/>
        </p:nvPicPr>
        <p:blipFill>
          <a:blip r:embed="rId5">
            <a:alphaModFix/>
          </a:blip>
          <a:stretch>
            <a:fillRect/>
          </a:stretch>
        </p:blipFill>
        <p:spPr>
          <a:xfrm>
            <a:off x="268200" y="301900"/>
            <a:ext cx="1082050" cy="703299"/>
          </a:xfrm>
          <a:prstGeom prst="rect">
            <a:avLst/>
          </a:prstGeom>
          <a:noFill/>
          <a:ln>
            <a:noFill/>
          </a:ln>
        </p:spPr>
      </p:pic>
      <p:pic>
        <p:nvPicPr>
          <p:cNvPr id="74" name="Google Shape;74;p14"/>
          <p:cNvPicPr preferRelativeResize="0"/>
          <p:nvPr/>
        </p:nvPicPr>
        <p:blipFill>
          <a:blip r:embed="rId5">
            <a:alphaModFix/>
          </a:blip>
          <a:stretch>
            <a:fillRect/>
          </a:stretch>
        </p:blipFill>
        <p:spPr>
          <a:xfrm>
            <a:off x="7165463" y="348725"/>
            <a:ext cx="1082050" cy="703299"/>
          </a:xfrm>
          <a:prstGeom prst="rect">
            <a:avLst/>
          </a:prstGeom>
          <a:noFill/>
          <a:ln>
            <a:noFill/>
          </a:ln>
        </p:spPr>
      </p:pic>
      <p:sp>
        <p:nvSpPr>
          <p:cNvPr id="75" name="Google Shape;75;p14"/>
          <p:cNvSpPr/>
          <p:nvPr/>
        </p:nvSpPr>
        <p:spPr>
          <a:xfrm>
            <a:off x="232350" y="2430050"/>
            <a:ext cx="8679300" cy="1971900"/>
          </a:xfrm>
          <a:prstGeom prst="horizontalScroll">
            <a:avLst>
              <a:gd fmla="val 125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6" name="Google Shape;76;p14"/>
          <p:cNvSpPr txBox="1"/>
          <p:nvPr/>
        </p:nvSpPr>
        <p:spPr>
          <a:xfrm>
            <a:off x="733675" y="2786400"/>
            <a:ext cx="7836300" cy="115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l" sz="1700">
                <a:solidFill>
                  <a:schemeClr val="dk2"/>
                </a:solidFill>
                <a:latin typeface="Times New Roman"/>
                <a:ea typeface="Times New Roman"/>
                <a:cs typeface="Times New Roman"/>
                <a:sym typeface="Times New Roman"/>
              </a:rPr>
              <a:t>Όποιος (θα) κατέχει την τεχνολογία αυτή θα έχει παντα προβάδισμα. Επομένως αφού καταλαβαίνουμε γιατί είναι τόσο σημαντικό να αποτρέψουμε κάτι τέτοιο, θα δούμε πως μπορεί να εκδημοκρατιστεί και αποκεντρωθεί μια τετοια τεχνολογια. </a:t>
            </a:r>
            <a:endParaRPr b="1" sz="1700">
              <a:solidFill>
                <a:schemeClr val="dk2"/>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t/>
            </a:r>
            <a:endParaRPr b="1" sz="1700">
              <a:solidFill>
                <a:schemeClr val="dk2"/>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t/>
            </a:r>
            <a:endParaRPr b="1" sz="1700">
              <a:solidFill>
                <a:schemeClr val="dk2"/>
              </a:solidFill>
              <a:latin typeface="Times New Roman"/>
              <a:ea typeface="Times New Roman"/>
              <a:cs typeface="Times New Roman"/>
              <a:sym typeface="Times New Roman"/>
            </a:endParaRPr>
          </a:p>
          <a:p>
            <a:pPr indent="0" lvl="0" marL="0" rtl="0" algn="l">
              <a:spcBef>
                <a:spcPts val="0"/>
              </a:spcBef>
              <a:spcAft>
                <a:spcPts val="0"/>
              </a:spcAft>
              <a:buNone/>
            </a:pPr>
            <a:r>
              <a:t/>
            </a:r>
            <a:endParaRPr b="1" sz="1700">
              <a:solidFill>
                <a:schemeClr val="dk2"/>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5"/>
          <p:cNvSpPr txBox="1"/>
          <p:nvPr>
            <p:ph type="ctrTitle"/>
          </p:nvPr>
        </p:nvSpPr>
        <p:spPr>
          <a:xfrm>
            <a:off x="225825" y="-49775"/>
            <a:ext cx="8520600" cy="9552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SzPts val="990"/>
              <a:buNone/>
            </a:pPr>
            <a:r>
              <a:rPr lang="el" sz="3280">
                <a:latin typeface="Times New Roman"/>
                <a:ea typeface="Times New Roman"/>
                <a:cs typeface="Times New Roman"/>
                <a:sym typeface="Times New Roman"/>
              </a:rPr>
              <a:t>Η Ιστορ</a:t>
            </a:r>
            <a:r>
              <a:rPr lang="el" sz="3280">
                <a:latin typeface="Times New Roman"/>
                <a:ea typeface="Times New Roman"/>
                <a:cs typeface="Times New Roman"/>
                <a:sym typeface="Times New Roman"/>
              </a:rPr>
              <a:t>ία του χρήματος</a:t>
            </a:r>
            <a:endParaRPr sz="3280">
              <a:latin typeface="Times New Roman"/>
              <a:ea typeface="Times New Roman"/>
              <a:cs typeface="Times New Roman"/>
              <a:sym typeface="Times New Roman"/>
            </a:endParaRPr>
          </a:p>
        </p:txBody>
      </p:sp>
      <p:sp>
        <p:nvSpPr>
          <p:cNvPr id="82" name="Google Shape;82;p15"/>
          <p:cNvSpPr txBox="1"/>
          <p:nvPr>
            <p:ph idx="1" type="subTitle"/>
          </p:nvPr>
        </p:nvSpPr>
        <p:spPr>
          <a:xfrm>
            <a:off x="264875" y="1014675"/>
            <a:ext cx="8520600" cy="3902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l" sz="1200">
                <a:latin typeface="Times New Roman"/>
                <a:ea typeface="Times New Roman"/>
                <a:cs typeface="Times New Roman"/>
                <a:sym typeface="Times New Roman"/>
              </a:rPr>
              <a:t>Barter → Commodity Money → Metal Coins → Gold Standard → Paper Notes → Fiat → Digital Money → (?)</a:t>
            </a:r>
            <a:endParaRPr sz="1200">
              <a:latin typeface="Times New Roman"/>
              <a:ea typeface="Times New Roman"/>
              <a:cs typeface="Times New Roman"/>
              <a:sym typeface="Times New Roman"/>
            </a:endParaRPr>
          </a:p>
          <a:p>
            <a:pPr indent="0" lvl="0" marL="0" rtl="0" algn="ctr">
              <a:spcBef>
                <a:spcPts val="0"/>
              </a:spcBef>
              <a:spcAft>
                <a:spcPts val="0"/>
              </a:spcAft>
              <a:buNone/>
            </a:pPr>
            <a:r>
              <a:t/>
            </a:r>
            <a:endParaRPr sz="2700">
              <a:latin typeface="Times New Roman"/>
              <a:ea typeface="Times New Roman"/>
              <a:cs typeface="Times New Roman"/>
              <a:sym typeface="Times New Roman"/>
            </a:endParaRPr>
          </a:p>
          <a:p>
            <a:pPr indent="0" lvl="0" marL="0" rtl="0" algn="ctr">
              <a:spcBef>
                <a:spcPts val="0"/>
              </a:spcBef>
              <a:spcAft>
                <a:spcPts val="0"/>
              </a:spcAft>
              <a:buNone/>
            </a:pPr>
            <a:r>
              <a:t/>
            </a:r>
            <a:endParaRPr sz="3200">
              <a:latin typeface="Times New Roman"/>
              <a:ea typeface="Times New Roman"/>
              <a:cs typeface="Times New Roman"/>
              <a:sym typeface="Times New Roman"/>
            </a:endParaRPr>
          </a:p>
          <a:p>
            <a:pPr indent="0" lvl="0" marL="0" rtl="0" algn="ctr">
              <a:spcBef>
                <a:spcPts val="0"/>
              </a:spcBef>
              <a:spcAft>
                <a:spcPts val="0"/>
              </a:spcAft>
              <a:buNone/>
            </a:pPr>
            <a:r>
              <a:t/>
            </a:r>
            <a:endParaRPr sz="3200">
              <a:latin typeface="Times New Roman"/>
              <a:ea typeface="Times New Roman"/>
              <a:cs typeface="Times New Roman"/>
              <a:sym typeface="Times New Roman"/>
            </a:endParaRPr>
          </a:p>
          <a:p>
            <a:pPr indent="0" lvl="0" marL="0" rtl="0" algn="ctr">
              <a:spcBef>
                <a:spcPts val="0"/>
              </a:spcBef>
              <a:spcAft>
                <a:spcPts val="0"/>
              </a:spcAft>
              <a:buNone/>
            </a:pPr>
            <a:r>
              <a:t/>
            </a:r>
            <a:endParaRPr>
              <a:latin typeface="Times New Roman"/>
              <a:ea typeface="Times New Roman"/>
              <a:cs typeface="Times New Roman"/>
              <a:sym typeface="Times New Roman"/>
            </a:endParaRPr>
          </a:p>
        </p:txBody>
      </p:sp>
      <p:sp>
        <p:nvSpPr>
          <p:cNvPr id="83" name="Google Shape;83;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l"/>
              <a:t>‹#›</a:t>
            </a:fld>
            <a:endParaRPr/>
          </a:p>
        </p:txBody>
      </p:sp>
      <p:cxnSp>
        <p:nvCxnSpPr>
          <p:cNvPr id="84" name="Google Shape;84;p15"/>
          <p:cNvCxnSpPr/>
          <p:nvPr/>
        </p:nvCxnSpPr>
        <p:spPr>
          <a:xfrm>
            <a:off x="91975" y="952250"/>
            <a:ext cx="4684800" cy="15600"/>
          </a:xfrm>
          <a:prstGeom prst="straightConnector1">
            <a:avLst/>
          </a:prstGeom>
          <a:noFill/>
          <a:ln cap="flat" cmpd="sng" w="9525">
            <a:solidFill>
              <a:schemeClr val="dk2"/>
            </a:solidFill>
            <a:prstDash val="solid"/>
            <a:round/>
            <a:headEnd len="med" w="med" type="none"/>
            <a:tailEnd len="med" w="med" type="none"/>
          </a:ln>
        </p:spPr>
      </p:cxnSp>
      <p:pic>
        <p:nvPicPr>
          <p:cNvPr id="85" name="Google Shape;85;p15"/>
          <p:cNvPicPr preferRelativeResize="0"/>
          <p:nvPr/>
        </p:nvPicPr>
        <p:blipFill>
          <a:blip r:embed="rId3">
            <a:alphaModFix/>
          </a:blip>
          <a:stretch>
            <a:fillRect/>
          </a:stretch>
        </p:blipFill>
        <p:spPr>
          <a:xfrm>
            <a:off x="5135775" y="1435616"/>
            <a:ext cx="749200" cy="749200"/>
          </a:xfrm>
          <a:prstGeom prst="rect">
            <a:avLst/>
          </a:prstGeom>
          <a:noFill/>
          <a:ln>
            <a:noFill/>
          </a:ln>
        </p:spPr>
      </p:pic>
      <p:pic>
        <p:nvPicPr>
          <p:cNvPr id="86" name="Google Shape;86;p15"/>
          <p:cNvPicPr preferRelativeResize="0"/>
          <p:nvPr/>
        </p:nvPicPr>
        <p:blipFill>
          <a:blip r:embed="rId4">
            <a:alphaModFix/>
          </a:blip>
          <a:stretch>
            <a:fillRect/>
          </a:stretch>
        </p:blipFill>
        <p:spPr>
          <a:xfrm>
            <a:off x="3675550" y="1417175"/>
            <a:ext cx="679750" cy="679750"/>
          </a:xfrm>
          <a:prstGeom prst="rect">
            <a:avLst/>
          </a:prstGeom>
          <a:noFill/>
          <a:ln>
            <a:noFill/>
          </a:ln>
        </p:spPr>
      </p:pic>
      <p:pic>
        <p:nvPicPr>
          <p:cNvPr id="87" name="Google Shape;87;p15"/>
          <p:cNvPicPr preferRelativeResize="0"/>
          <p:nvPr/>
        </p:nvPicPr>
        <p:blipFill>
          <a:blip r:embed="rId5">
            <a:alphaModFix/>
          </a:blip>
          <a:stretch>
            <a:fillRect/>
          </a:stretch>
        </p:blipFill>
        <p:spPr>
          <a:xfrm>
            <a:off x="639500" y="1535875"/>
            <a:ext cx="548700" cy="548700"/>
          </a:xfrm>
          <a:prstGeom prst="rect">
            <a:avLst/>
          </a:prstGeom>
          <a:noFill/>
          <a:ln>
            <a:noFill/>
          </a:ln>
        </p:spPr>
      </p:pic>
      <p:pic>
        <p:nvPicPr>
          <p:cNvPr id="88" name="Google Shape;88;p15"/>
          <p:cNvPicPr preferRelativeResize="0"/>
          <p:nvPr/>
        </p:nvPicPr>
        <p:blipFill>
          <a:blip r:embed="rId6">
            <a:alphaModFix/>
          </a:blip>
          <a:stretch>
            <a:fillRect/>
          </a:stretch>
        </p:blipFill>
        <p:spPr>
          <a:xfrm>
            <a:off x="2197925" y="1523525"/>
            <a:ext cx="548701" cy="573410"/>
          </a:xfrm>
          <a:prstGeom prst="rect">
            <a:avLst/>
          </a:prstGeom>
          <a:noFill/>
          <a:ln>
            <a:noFill/>
          </a:ln>
        </p:spPr>
      </p:pic>
      <p:pic>
        <p:nvPicPr>
          <p:cNvPr id="89" name="Google Shape;89;p15"/>
          <p:cNvPicPr preferRelativeResize="0"/>
          <p:nvPr/>
        </p:nvPicPr>
        <p:blipFill>
          <a:blip r:embed="rId7">
            <a:alphaModFix/>
          </a:blip>
          <a:stretch>
            <a:fillRect/>
          </a:stretch>
        </p:blipFill>
        <p:spPr>
          <a:xfrm>
            <a:off x="6594775" y="1535875"/>
            <a:ext cx="679750" cy="679750"/>
          </a:xfrm>
          <a:prstGeom prst="rect">
            <a:avLst/>
          </a:prstGeom>
          <a:noFill/>
          <a:ln>
            <a:noFill/>
          </a:ln>
        </p:spPr>
      </p:pic>
      <p:pic>
        <p:nvPicPr>
          <p:cNvPr id="90" name="Google Shape;90;p15"/>
          <p:cNvPicPr preferRelativeResize="0"/>
          <p:nvPr/>
        </p:nvPicPr>
        <p:blipFill>
          <a:blip r:embed="rId8">
            <a:alphaModFix/>
          </a:blip>
          <a:stretch>
            <a:fillRect/>
          </a:stretch>
        </p:blipFill>
        <p:spPr>
          <a:xfrm>
            <a:off x="7984321" y="1589049"/>
            <a:ext cx="608254" cy="573400"/>
          </a:xfrm>
          <a:prstGeom prst="rect">
            <a:avLst/>
          </a:prstGeom>
          <a:noFill/>
          <a:ln>
            <a:noFill/>
          </a:ln>
        </p:spPr>
      </p:pic>
      <p:sp>
        <p:nvSpPr>
          <p:cNvPr id="91" name="Google Shape;91;p15"/>
          <p:cNvSpPr/>
          <p:nvPr/>
        </p:nvSpPr>
        <p:spPr>
          <a:xfrm>
            <a:off x="370675" y="2825400"/>
            <a:ext cx="1764000" cy="1397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2" name="Google Shape;92;p15"/>
          <p:cNvSpPr txBox="1"/>
          <p:nvPr/>
        </p:nvSpPr>
        <p:spPr>
          <a:xfrm>
            <a:off x="444900" y="2891775"/>
            <a:ext cx="1553100" cy="1014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l" sz="1200">
                <a:solidFill>
                  <a:schemeClr val="dk1"/>
                </a:solidFill>
                <a:latin typeface="Times New Roman"/>
                <a:ea typeface="Times New Roman"/>
                <a:cs typeface="Times New Roman"/>
                <a:sym typeface="Times New Roman"/>
              </a:rPr>
              <a:t>Ξ</a:t>
            </a:r>
            <a:r>
              <a:rPr lang="el" sz="1200">
                <a:solidFill>
                  <a:schemeClr val="dk1"/>
                </a:solidFill>
                <a:latin typeface="Times New Roman"/>
                <a:ea typeface="Times New Roman"/>
                <a:cs typeface="Times New Roman"/>
                <a:sym typeface="Times New Roman"/>
              </a:rPr>
              <a:t>εκίνησε ως </a:t>
            </a:r>
            <a:r>
              <a:rPr b="1" lang="el" sz="1200">
                <a:solidFill>
                  <a:schemeClr val="dk1"/>
                </a:solidFill>
                <a:latin typeface="Times New Roman"/>
                <a:ea typeface="Times New Roman"/>
                <a:cs typeface="Times New Roman"/>
                <a:sym typeface="Times New Roman"/>
              </a:rPr>
              <a:t>κοινωνική συμφωνία</a:t>
            </a:r>
            <a:r>
              <a:rPr lang="el" sz="1200">
                <a:solidFill>
                  <a:schemeClr val="dk1"/>
                </a:solidFill>
                <a:latin typeface="Times New Roman"/>
                <a:ea typeface="Times New Roman"/>
                <a:cs typeface="Times New Roman"/>
                <a:sym typeface="Times New Roman"/>
              </a:rPr>
              <a:t>: αξίζει όσο πιστεύει η κοινότητα ότι αξίζει</a:t>
            </a:r>
            <a:endParaRPr sz="1200">
              <a:solidFill>
                <a:schemeClr val="dk1"/>
              </a:solidFill>
              <a:latin typeface="Times New Roman"/>
              <a:ea typeface="Times New Roman"/>
              <a:cs typeface="Times New Roman"/>
              <a:sym typeface="Times New Roman"/>
            </a:endParaRPr>
          </a:p>
          <a:p>
            <a:pPr indent="0" lvl="0" marL="0" rtl="0" algn="ctr">
              <a:spcBef>
                <a:spcPts val="0"/>
              </a:spcBef>
              <a:spcAft>
                <a:spcPts val="0"/>
              </a:spcAft>
              <a:buClr>
                <a:schemeClr val="dk1"/>
              </a:buClr>
              <a:buSzPts val="1100"/>
              <a:buFont typeface="Arial"/>
              <a:buNone/>
            </a:pPr>
            <a:r>
              <a:t/>
            </a:r>
            <a:endParaRPr sz="1200">
              <a:solidFill>
                <a:schemeClr val="dk2"/>
              </a:solidFill>
              <a:latin typeface="Times New Roman"/>
              <a:ea typeface="Times New Roman"/>
              <a:cs typeface="Times New Roman"/>
              <a:sym typeface="Times New Roman"/>
            </a:endParaRPr>
          </a:p>
          <a:p>
            <a:pPr indent="0" lvl="0" marL="0" rtl="0" algn="l">
              <a:spcBef>
                <a:spcPts val="0"/>
              </a:spcBef>
              <a:spcAft>
                <a:spcPts val="0"/>
              </a:spcAft>
              <a:buNone/>
            </a:pPr>
            <a:r>
              <a:t/>
            </a:r>
            <a:endParaRPr sz="1200">
              <a:solidFill>
                <a:schemeClr val="dk2"/>
              </a:solidFill>
              <a:latin typeface="Times New Roman"/>
              <a:ea typeface="Times New Roman"/>
              <a:cs typeface="Times New Roman"/>
              <a:sym typeface="Times New Roman"/>
            </a:endParaRPr>
          </a:p>
        </p:txBody>
      </p:sp>
      <p:sp>
        <p:nvSpPr>
          <p:cNvPr id="93" name="Google Shape;93;p15"/>
          <p:cNvSpPr/>
          <p:nvPr/>
        </p:nvSpPr>
        <p:spPr>
          <a:xfrm>
            <a:off x="2808000" y="2825400"/>
            <a:ext cx="1764000" cy="1397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4" name="Google Shape;94;p15"/>
          <p:cNvSpPr/>
          <p:nvPr/>
        </p:nvSpPr>
        <p:spPr>
          <a:xfrm>
            <a:off x="5171175" y="2846075"/>
            <a:ext cx="1764000" cy="1397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5" name="Google Shape;95;p15"/>
          <p:cNvSpPr txBox="1"/>
          <p:nvPr/>
        </p:nvSpPr>
        <p:spPr>
          <a:xfrm>
            <a:off x="2966550" y="2911350"/>
            <a:ext cx="1553100" cy="1225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l" sz="1200">
                <a:solidFill>
                  <a:schemeClr val="dk1"/>
                </a:solidFill>
                <a:latin typeface="Times New Roman"/>
                <a:ea typeface="Times New Roman"/>
                <a:cs typeface="Times New Roman"/>
                <a:sym typeface="Times New Roman"/>
              </a:rPr>
              <a:t>Σε κεντρικούς θεσμούς</a:t>
            </a:r>
            <a:r>
              <a:rPr lang="el" sz="1200">
                <a:solidFill>
                  <a:schemeClr val="dk1"/>
                </a:solidFill>
                <a:latin typeface="Times New Roman"/>
                <a:ea typeface="Times New Roman"/>
                <a:cs typeface="Times New Roman"/>
                <a:sym typeface="Times New Roman"/>
              </a:rPr>
              <a:t>: βασιλείς, τράπεζες, κεντρικές τράπεζες</a:t>
            </a:r>
            <a:endParaRPr sz="12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t/>
            </a:r>
            <a:endParaRPr sz="12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1200">
              <a:solidFill>
                <a:schemeClr val="dk1"/>
              </a:solidFill>
              <a:latin typeface="Times New Roman"/>
              <a:ea typeface="Times New Roman"/>
              <a:cs typeface="Times New Roman"/>
              <a:sym typeface="Times New Roman"/>
            </a:endParaRPr>
          </a:p>
        </p:txBody>
      </p:sp>
      <p:sp>
        <p:nvSpPr>
          <p:cNvPr id="96" name="Google Shape;96;p15"/>
          <p:cNvSpPr txBox="1"/>
          <p:nvPr/>
        </p:nvSpPr>
        <p:spPr>
          <a:xfrm>
            <a:off x="5171175" y="2942475"/>
            <a:ext cx="1764000" cy="91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l" sz="1200">
                <a:solidFill>
                  <a:schemeClr val="dk1"/>
                </a:solidFill>
                <a:latin typeface="Times New Roman"/>
                <a:ea typeface="Times New Roman"/>
                <a:cs typeface="Times New Roman"/>
                <a:sym typeface="Times New Roman"/>
              </a:rPr>
              <a:t>Κράτος</a:t>
            </a:r>
            <a:r>
              <a:rPr b="1" lang="el" sz="1200">
                <a:solidFill>
                  <a:schemeClr val="dk1"/>
                </a:solidFill>
                <a:latin typeface="Times New Roman"/>
                <a:ea typeface="Times New Roman"/>
                <a:cs typeface="Times New Roman"/>
                <a:sym typeface="Times New Roman"/>
              </a:rPr>
              <a:t> απέκτησε </a:t>
            </a:r>
            <a:r>
              <a:rPr lang="el" sz="1200">
                <a:solidFill>
                  <a:schemeClr val="dk1"/>
                </a:solidFill>
                <a:latin typeface="Times New Roman"/>
                <a:ea typeface="Times New Roman"/>
                <a:cs typeface="Times New Roman"/>
                <a:sym typeface="Times New Roman"/>
              </a:rPr>
              <a:t>εργαλεία χρηματοδότησης </a:t>
            </a:r>
            <a:endParaRPr sz="12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1200">
              <a:solidFill>
                <a:schemeClr val="dk1"/>
              </a:solidFill>
              <a:latin typeface="Times New Roman"/>
              <a:ea typeface="Times New Roman"/>
              <a:cs typeface="Times New Roman"/>
              <a:sym typeface="Times New Roman"/>
            </a:endParaRPr>
          </a:p>
        </p:txBody>
      </p:sp>
      <p:sp>
        <p:nvSpPr>
          <p:cNvPr id="97" name="Google Shape;97;p15"/>
          <p:cNvSpPr txBox="1"/>
          <p:nvPr/>
        </p:nvSpPr>
        <p:spPr>
          <a:xfrm>
            <a:off x="7742375" y="2846075"/>
            <a:ext cx="1220700" cy="1225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l" sz="1200">
                <a:solidFill>
                  <a:schemeClr val="dk1"/>
                </a:solidFill>
                <a:latin typeface="Times New Roman"/>
                <a:ea typeface="Times New Roman"/>
                <a:cs typeface="Times New Roman"/>
                <a:sym typeface="Times New Roman"/>
              </a:rPr>
              <a:t>Ο έλεγχος του χρήματος έγινε </a:t>
            </a:r>
            <a:r>
              <a:rPr b="1" lang="el" sz="1200">
                <a:solidFill>
                  <a:schemeClr val="dk1"/>
                </a:solidFill>
                <a:latin typeface="Times New Roman"/>
                <a:ea typeface="Times New Roman"/>
                <a:cs typeface="Times New Roman"/>
                <a:sym typeface="Times New Roman"/>
              </a:rPr>
              <a:t>έλεγχος της κοινωνίας</a:t>
            </a:r>
            <a:endParaRPr b="1" sz="12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t/>
            </a:r>
            <a:endParaRPr sz="1200">
              <a:solidFill>
                <a:schemeClr val="dk1"/>
              </a:solidFill>
              <a:latin typeface="Times New Roman"/>
              <a:ea typeface="Times New Roman"/>
              <a:cs typeface="Times New Roman"/>
              <a:sym typeface="Times New Roman"/>
            </a:endParaRPr>
          </a:p>
        </p:txBody>
      </p:sp>
      <p:sp>
        <p:nvSpPr>
          <p:cNvPr id="98" name="Google Shape;98;p15"/>
          <p:cNvSpPr/>
          <p:nvPr/>
        </p:nvSpPr>
        <p:spPr>
          <a:xfrm>
            <a:off x="6993275" y="3223475"/>
            <a:ext cx="749100" cy="288900"/>
          </a:xfrm>
          <a:prstGeom prst="rightArrow">
            <a:avLst>
              <a:gd fmla="val 50000" name="adj1"/>
              <a:gd fmla="val 50000" name="adj2"/>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highlight>
                <a:schemeClr val="dk1"/>
              </a:highlight>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16"/>
          <p:cNvSpPr txBox="1"/>
          <p:nvPr>
            <p:ph type="ctrTitle"/>
          </p:nvPr>
        </p:nvSpPr>
        <p:spPr>
          <a:xfrm>
            <a:off x="405375" y="0"/>
            <a:ext cx="8520600" cy="9552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l" sz="3400">
                <a:latin typeface="Times New Roman"/>
                <a:ea typeface="Times New Roman"/>
                <a:cs typeface="Times New Roman"/>
                <a:sym typeface="Times New Roman"/>
              </a:rPr>
              <a:t>Bittorrent / Tor</a:t>
            </a:r>
            <a:endParaRPr sz="3400">
              <a:latin typeface="Times New Roman"/>
              <a:ea typeface="Times New Roman"/>
              <a:cs typeface="Times New Roman"/>
              <a:sym typeface="Times New Roman"/>
            </a:endParaRPr>
          </a:p>
        </p:txBody>
      </p:sp>
      <p:sp>
        <p:nvSpPr>
          <p:cNvPr id="104" name="Google Shape;104;p16"/>
          <p:cNvSpPr txBox="1"/>
          <p:nvPr>
            <p:ph idx="1" type="subTitle"/>
          </p:nvPr>
        </p:nvSpPr>
        <p:spPr>
          <a:xfrm>
            <a:off x="311700" y="1038075"/>
            <a:ext cx="8520600" cy="891900"/>
          </a:xfrm>
          <a:prstGeom prst="rect">
            <a:avLst/>
          </a:prstGeom>
        </p:spPr>
        <p:txBody>
          <a:bodyPr anchorCtr="0" anchor="t" bIns="91425" lIns="91425" spcFirstLastPara="1" rIns="91425" wrap="square" tIns="91425">
            <a:normAutofit/>
          </a:bodyPr>
          <a:lstStyle/>
          <a:p>
            <a:pPr indent="0" lvl="0" marL="0" rtl="0" algn="ctr">
              <a:lnSpc>
                <a:spcPct val="80000"/>
              </a:lnSpc>
              <a:spcBef>
                <a:spcPts val="0"/>
              </a:spcBef>
              <a:spcAft>
                <a:spcPts val="0"/>
              </a:spcAft>
              <a:buSzPts val="853"/>
              <a:buNone/>
            </a:pPr>
            <a:r>
              <a:rPr b="1" i="1" lang="el" sz="1870" u="sng">
                <a:latin typeface="Times New Roman"/>
                <a:ea typeface="Times New Roman"/>
                <a:cs typeface="Times New Roman"/>
                <a:sym typeface="Times New Roman"/>
              </a:rPr>
              <a:t>“</a:t>
            </a:r>
            <a:r>
              <a:rPr b="1" i="1" lang="el" sz="1870" u="sng">
                <a:latin typeface="Times New Roman"/>
                <a:ea typeface="Times New Roman"/>
                <a:cs typeface="Times New Roman"/>
                <a:sym typeface="Times New Roman"/>
              </a:rPr>
              <a:t>Necessity is the mother of invention”</a:t>
            </a:r>
            <a:endParaRPr b="1" i="1" sz="1870" u="sng">
              <a:latin typeface="Times New Roman"/>
              <a:ea typeface="Times New Roman"/>
              <a:cs typeface="Times New Roman"/>
              <a:sym typeface="Times New Roman"/>
            </a:endParaRPr>
          </a:p>
          <a:p>
            <a:pPr indent="0" lvl="0" marL="0" rtl="0" algn="ctr">
              <a:lnSpc>
                <a:spcPct val="80000"/>
              </a:lnSpc>
              <a:spcBef>
                <a:spcPts val="0"/>
              </a:spcBef>
              <a:spcAft>
                <a:spcPts val="0"/>
              </a:spcAft>
              <a:buSzPts val="853"/>
              <a:buNone/>
            </a:pPr>
            <a:r>
              <a:t/>
            </a:r>
            <a:endParaRPr sz="1870">
              <a:latin typeface="Times New Roman"/>
              <a:ea typeface="Times New Roman"/>
              <a:cs typeface="Times New Roman"/>
              <a:sym typeface="Times New Roman"/>
            </a:endParaRPr>
          </a:p>
          <a:p>
            <a:pPr indent="0" lvl="0" marL="0" rtl="0" algn="l">
              <a:lnSpc>
                <a:spcPct val="80000"/>
              </a:lnSpc>
              <a:spcBef>
                <a:spcPts val="0"/>
              </a:spcBef>
              <a:spcAft>
                <a:spcPts val="0"/>
              </a:spcAft>
              <a:buSzPts val="853"/>
              <a:buNone/>
            </a:pPr>
            <a:r>
              <a:t/>
            </a:r>
            <a:endParaRPr sz="1870">
              <a:latin typeface="Times New Roman"/>
              <a:ea typeface="Times New Roman"/>
              <a:cs typeface="Times New Roman"/>
              <a:sym typeface="Times New Roman"/>
            </a:endParaRPr>
          </a:p>
        </p:txBody>
      </p:sp>
      <p:sp>
        <p:nvSpPr>
          <p:cNvPr id="105" name="Google Shape;105;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l"/>
              <a:t>‹#›</a:t>
            </a:fld>
            <a:endParaRPr/>
          </a:p>
        </p:txBody>
      </p:sp>
      <p:pic>
        <p:nvPicPr>
          <p:cNvPr id="106" name="Google Shape;106;p16"/>
          <p:cNvPicPr preferRelativeResize="0"/>
          <p:nvPr/>
        </p:nvPicPr>
        <p:blipFill>
          <a:blip r:embed="rId3">
            <a:alphaModFix/>
          </a:blip>
          <a:stretch>
            <a:fillRect/>
          </a:stretch>
        </p:blipFill>
        <p:spPr>
          <a:xfrm>
            <a:off x="4572001" y="4175700"/>
            <a:ext cx="3526426" cy="697950"/>
          </a:xfrm>
          <a:prstGeom prst="rect">
            <a:avLst/>
          </a:prstGeom>
          <a:noFill/>
          <a:ln>
            <a:noFill/>
          </a:ln>
        </p:spPr>
      </p:pic>
      <p:pic>
        <p:nvPicPr>
          <p:cNvPr id="107" name="Google Shape;107;p16"/>
          <p:cNvPicPr preferRelativeResize="0"/>
          <p:nvPr/>
        </p:nvPicPr>
        <p:blipFill>
          <a:blip r:embed="rId4">
            <a:alphaModFix/>
          </a:blip>
          <a:stretch>
            <a:fillRect/>
          </a:stretch>
        </p:blipFill>
        <p:spPr>
          <a:xfrm>
            <a:off x="548675" y="4043075"/>
            <a:ext cx="1071626" cy="647799"/>
          </a:xfrm>
          <a:prstGeom prst="rect">
            <a:avLst/>
          </a:prstGeom>
          <a:noFill/>
          <a:ln>
            <a:noFill/>
          </a:ln>
        </p:spPr>
      </p:pic>
      <p:cxnSp>
        <p:nvCxnSpPr>
          <p:cNvPr id="108" name="Google Shape;108;p16"/>
          <p:cNvCxnSpPr/>
          <p:nvPr/>
        </p:nvCxnSpPr>
        <p:spPr>
          <a:xfrm>
            <a:off x="91975" y="952250"/>
            <a:ext cx="4684800" cy="15600"/>
          </a:xfrm>
          <a:prstGeom prst="straightConnector1">
            <a:avLst/>
          </a:prstGeom>
          <a:noFill/>
          <a:ln cap="flat" cmpd="sng" w="9525">
            <a:solidFill>
              <a:schemeClr val="dk2"/>
            </a:solidFill>
            <a:prstDash val="solid"/>
            <a:round/>
            <a:headEnd len="med" w="med" type="none"/>
            <a:tailEnd len="med" w="med" type="none"/>
          </a:ln>
        </p:spPr>
      </p:cxnSp>
      <p:pic>
        <p:nvPicPr>
          <p:cNvPr id="109" name="Google Shape;109;p16"/>
          <p:cNvPicPr preferRelativeResize="0"/>
          <p:nvPr/>
        </p:nvPicPr>
        <p:blipFill>
          <a:blip r:embed="rId5">
            <a:alphaModFix/>
          </a:blip>
          <a:stretch>
            <a:fillRect/>
          </a:stretch>
        </p:blipFill>
        <p:spPr>
          <a:xfrm>
            <a:off x="457100" y="3502324"/>
            <a:ext cx="1457703" cy="891950"/>
          </a:xfrm>
          <a:prstGeom prst="rect">
            <a:avLst/>
          </a:prstGeom>
          <a:noFill/>
          <a:ln>
            <a:noFill/>
          </a:ln>
        </p:spPr>
      </p:pic>
      <p:pic>
        <p:nvPicPr>
          <p:cNvPr id="110" name="Google Shape;110;p16"/>
          <p:cNvPicPr preferRelativeResize="0"/>
          <p:nvPr/>
        </p:nvPicPr>
        <p:blipFill>
          <a:blip r:embed="rId5">
            <a:alphaModFix/>
          </a:blip>
          <a:stretch>
            <a:fillRect/>
          </a:stretch>
        </p:blipFill>
        <p:spPr>
          <a:xfrm>
            <a:off x="5222275" y="3502325"/>
            <a:ext cx="2091025" cy="1104650"/>
          </a:xfrm>
          <a:prstGeom prst="rect">
            <a:avLst/>
          </a:prstGeom>
          <a:noFill/>
          <a:ln>
            <a:noFill/>
          </a:ln>
        </p:spPr>
      </p:pic>
      <p:sp>
        <p:nvSpPr>
          <p:cNvPr id="111" name="Google Shape;111;p16"/>
          <p:cNvSpPr txBox="1"/>
          <p:nvPr/>
        </p:nvSpPr>
        <p:spPr>
          <a:xfrm>
            <a:off x="91975" y="1397100"/>
            <a:ext cx="7911000" cy="1365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l" sz="1800">
                <a:solidFill>
                  <a:schemeClr val="dk2"/>
                </a:solidFill>
                <a:latin typeface="Times New Roman"/>
                <a:ea typeface="Times New Roman"/>
                <a:cs typeface="Times New Roman"/>
                <a:sym typeface="Times New Roman"/>
              </a:rPr>
              <a:t>Προβλήματα: </a:t>
            </a:r>
            <a:r>
              <a:rPr lang="el" sz="1800">
                <a:solidFill>
                  <a:schemeClr val="dk2"/>
                </a:solidFill>
                <a:latin typeface="Times New Roman"/>
                <a:ea typeface="Times New Roman"/>
                <a:cs typeface="Times New Roman"/>
                <a:sym typeface="Times New Roman"/>
              </a:rPr>
              <a:t> </a:t>
            </a:r>
            <a:endParaRPr sz="1800">
              <a:solidFill>
                <a:schemeClr val="dk2"/>
              </a:solidFill>
              <a:latin typeface="Times New Roman"/>
              <a:ea typeface="Times New Roman"/>
              <a:cs typeface="Times New Roman"/>
              <a:sym typeface="Times New Roman"/>
            </a:endParaRPr>
          </a:p>
          <a:p>
            <a:pPr indent="-342900" lvl="0" marL="457200" rtl="0" algn="l">
              <a:spcBef>
                <a:spcPts val="0"/>
              </a:spcBef>
              <a:spcAft>
                <a:spcPts val="0"/>
              </a:spcAft>
              <a:buClr>
                <a:schemeClr val="dk2"/>
              </a:buClr>
              <a:buSzPts val="1800"/>
              <a:buChar char="-"/>
            </a:pPr>
            <a:r>
              <a:rPr lang="el" sz="1800">
                <a:solidFill>
                  <a:schemeClr val="dk2"/>
                </a:solidFill>
                <a:latin typeface="Times New Roman"/>
                <a:ea typeface="Times New Roman"/>
                <a:cs typeface="Times New Roman"/>
                <a:sym typeface="Times New Roman"/>
              </a:rPr>
              <a:t>video,image streaming ήταν κοστοβόρο:      </a:t>
            </a:r>
            <a:r>
              <a:rPr b="1" i="1" lang="el" sz="1800">
                <a:solidFill>
                  <a:schemeClr val="dk2"/>
                </a:solidFill>
                <a:latin typeface="Times New Roman"/>
                <a:ea typeface="Times New Roman"/>
                <a:cs typeface="Times New Roman"/>
                <a:sym typeface="Times New Roman"/>
              </a:rPr>
              <a:t>BitTorent</a:t>
            </a:r>
            <a:endParaRPr b="1" i="1" sz="1800">
              <a:solidFill>
                <a:schemeClr val="dk2"/>
              </a:solidFill>
              <a:latin typeface="Times New Roman"/>
              <a:ea typeface="Times New Roman"/>
              <a:cs typeface="Times New Roman"/>
              <a:sym typeface="Times New Roman"/>
            </a:endParaRPr>
          </a:p>
          <a:p>
            <a:pPr indent="-342900" lvl="0" marL="457200" rtl="0" algn="l">
              <a:spcBef>
                <a:spcPts val="0"/>
              </a:spcBef>
              <a:spcAft>
                <a:spcPts val="0"/>
              </a:spcAft>
              <a:buClr>
                <a:schemeClr val="dk2"/>
              </a:buClr>
              <a:buSzPts val="1800"/>
              <a:buChar char="-"/>
            </a:pPr>
            <a:r>
              <a:rPr lang="el" sz="1800">
                <a:solidFill>
                  <a:schemeClr val="dk2"/>
                </a:solidFill>
                <a:latin typeface="Times New Roman"/>
                <a:ea typeface="Times New Roman"/>
                <a:cs typeface="Times New Roman"/>
                <a:sym typeface="Times New Roman"/>
              </a:rPr>
              <a:t>Ανώνυμη περιήγηση χωρίς ISP να βλέπει:   </a:t>
            </a:r>
            <a:r>
              <a:rPr b="1" i="1" lang="el" sz="1800">
                <a:solidFill>
                  <a:schemeClr val="dk2"/>
                </a:solidFill>
                <a:latin typeface="Times New Roman"/>
                <a:ea typeface="Times New Roman"/>
                <a:cs typeface="Times New Roman"/>
                <a:sym typeface="Times New Roman"/>
              </a:rPr>
              <a:t>Tor</a:t>
            </a:r>
            <a:endParaRPr b="1" i="1" sz="1800">
              <a:solidFill>
                <a:schemeClr val="dk2"/>
              </a:solidFill>
              <a:latin typeface="Times New Roman"/>
              <a:ea typeface="Times New Roman"/>
              <a:cs typeface="Times New Roman"/>
              <a:sym typeface="Times New Roman"/>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t/>
            </a:r>
            <a:endParaRPr sz="1800">
              <a:solidFill>
                <a:schemeClr val="dk2"/>
              </a:solidFill>
            </a:endParaRPr>
          </a:p>
        </p:txBody>
      </p:sp>
      <p:sp>
        <p:nvSpPr>
          <p:cNvPr id="112" name="Google Shape;112;p16"/>
          <p:cNvSpPr/>
          <p:nvPr/>
        </p:nvSpPr>
        <p:spPr>
          <a:xfrm rot="7141791">
            <a:off x="1865293" y="2789786"/>
            <a:ext cx="876634" cy="647518"/>
          </a:xfrm>
          <a:prstGeom prst="stripedRightArrow">
            <a:avLst>
              <a:gd fmla="val 44565"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3" name="Google Shape;113;p16"/>
          <p:cNvSpPr/>
          <p:nvPr/>
        </p:nvSpPr>
        <p:spPr>
          <a:xfrm rot="3600867">
            <a:off x="4227189" y="2789767"/>
            <a:ext cx="876983" cy="647580"/>
          </a:xfrm>
          <a:prstGeom prst="stripedRightArrow">
            <a:avLst>
              <a:gd fmla="val 44565"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17"/>
          <p:cNvSpPr txBox="1"/>
          <p:nvPr>
            <p:ph type="ctrTitle"/>
          </p:nvPr>
        </p:nvSpPr>
        <p:spPr>
          <a:xfrm>
            <a:off x="311700" y="-132675"/>
            <a:ext cx="2716800" cy="10770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l" sz="3400">
                <a:latin typeface="Times New Roman"/>
                <a:ea typeface="Times New Roman"/>
                <a:cs typeface="Times New Roman"/>
                <a:sym typeface="Times New Roman"/>
              </a:rPr>
              <a:t>Bitcoin</a:t>
            </a:r>
            <a:endParaRPr sz="3400">
              <a:latin typeface="Times New Roman"/>
              <a:ea typeface="Times New Roman"/>
              <a:cs typeface="Times New Roman"/>
              <a:sym typeface="Times New Roman"/>
            </a:endParaRPr>
          </a:p>
        </p:txBody>
      </p:sp>
      <p:sp>
        <p:nvSpPr>
          <p:cNvPr id="119" name="Google Shape;119;p17"/>
          <p:cNvSpPr txBox="1"/>
          <p:nvPr>
            <p:ph idx="1" type="subTitle"/>
          </p:nvPr>
        </p:nvSpPr>
        <p:spPr>
          <a:xfrm>
            <a:off x="210250" y="1350275"/>
            <a:ext cx="5385900" cy="3348300"/>
          </a:xfrm>
          <a:prstGeom prst="rect">
            <a:avLst/>
          </a:prstGeom>
        </p:spPr>
        <p:txBody>
          <a:bodyPr anchorCtr="0" anchor="t" bIns="91425" lIns="91425" spcFirstLastPara="1" rIns="91425" wrap="square" tIns="91425">
            <a:normAutofit/>
          </a:bodyPr>
          <a:lstStyle/>
          <a:p>
            <a:pPr indent="-348615" lvl="0" marL="457200" rtl="0" algn="l">
              <a:spcBef>
                <a:spcPts val="0"/>
              </a:spcBef>
              <a:spcAft>
                <a:spcPts val="0"/>
              </a:spcAft>
              <a:buSzPts val="1890"/>
              <a:buFont typeface="Times New Roman"/>
              <a:buChar char="●"/>
            </a:pPr>
            <a:r>
              <a:rPr lang="el" sz="1890">
                <a:latin typeface="Times New Roman"/>
                <a:ea typeface="Times New Roman"/>
                <a:cs typeface="Times New Roman"/>
                <a:sym typeface="Times New Roman"/>
              </a:rPr>
              <a:t>1ο Ηλεκτρονικό Χρήμα χωρίς Κεντρική Αρχή (αποκεντρωμένο)</a:t>
            </a:r>
            <a:endParaRPr sz="1890">
              <a:latin typeface="Times New Roman"/>
              <a:ea typeface="Times New Roman"/>
              <a:cs typeface="Times New Roman"/>
              <a:sym typeface="Times New Roman"/>
            </a:endParaRPr>
          </a:p>
          <a:p>
            <a:pPr indent="-348615" lvl="0" marL="457200" rtl="0" algn="l">
              <a:spcBef>
                <a:spcPts val="0"/>
              </a:spcBef>
              <a:spcAft>
                <a:spcPts val="0"/>
              </a:spcAft>
              <a:buSzPts val="1890"/>
              <a:buFont typeface="Times New Roman"/>
              <a:buChar char="●"/>
            </a:pPr>
            <a:r>
              <a:rPr lang="el" sz="1890">
                <a:latin typeface="Times New Roman"/>
                <a:ea typeface="Times New Roman"/>
                <a:cs typeface="Times New Roman"/>
                <a:sym typeface="Times New Roman"/>
              </a:rPr>
              <a:t>Αποφυγή Double spending</a:t>
            </a:r>
            <a:endParaRPr sz="1890">
              <a:latin typeface="Times New Roman"/>
              <a:ea typeface="Times New Roman"/>
              <a:cs typeface="Times New Roman"/>
              <a:sym typeface="Times New Roman"/>
            </a:endParaRPr>
          </a:p>
          <a:p>
            <a:pPr indent="-348615" lvl="0" marL="457200" rtl="0" algn="l">
              <a:spcBef>
                <a:spcPts val="0"/>
              </a:spcBef>
              <a:spcAft>
                <a:spcPts val="0"/>
              </a:spcAft>
              <a:buSzPts val="1890"/>
              <a:buFont typeface="Times New Roman"/>
              <a:buChar char="●"/>
            </a:pPr>
            <a:r>
              <a:rPr lang="el" sz="1890">
                <a:latin typeface="Times New Roman"/>
                <a:ea typeface="Times New Roman"/>
                <a:cs typeface="Times New Roman"/>
                <a:sym typeface="Times New Roman"/>
              </a:rPr>
              <a:t>Unhackable (μέχρι στιγμής) εκτός </a:t>
            </a:r>
            <a:r>
              <a:rPr lang="el" sz="1890">
                <a:latin typeface="Times New Roman"/>
                <a:ea typeface="Times New Roman"/>
                <a:cs typeface="Times New Roman"/>
                <a:sym typeface="Times New Roman"/>
              </a:rPr>
              <a:t>από</a:t>
            </a:r>
            <a:r>
              <a:rPr lang="el" sz="1890">
                <a:latin typeface="Times New Roman"/>
                <a:ea typeface="Times New Roman"/>
                <a:cs typeface="Times New Roman"/>
                <a:sym typeface="Times New Roman"/>
              </a:rPr>
              <a:t> επιθέσεις 51% </a:t>
            </a:r>
            <a:endParaRPr sz="1890">
              <a:latin typeface="Times New Roman"/>
              <a:ea typeface="Times New Roman"/>
              <a:cs typeface="Times New Roman"/>
              <a:sym typeface="Times New Roman"/>
            </a:endParaRPr>
          </a:p>
          <a:p>
            <a:pPr indent="-348615" lvl="0" marL="457200" rtl="0" algn="l">
              <a:spcBef>
                <a:spcPts val="0"/>
              </a:spcBef>
              <a:spcAft>
                <a:spcPts val="0"/>
              </a:spcAft>
              <a:buSzPts val="1890"/>
              <a:buFont typeface="Times New Roman"/>
              <a:buChar char="●"/>
            </a:pPr>
            <a:r>
              <a:rPr lang="el" sz="1890">
                <a:latin typeface="Times New Roman"/>
                <a:ea typeface="Times New Roman"/>
                <a:cs typeface="Times New Roman"/>
                <a:sym typeface="Times New Roman"/>
              </a:rPr>
              <a:t>Συγκεκριμένη Προσφορά (21Μ) για αποφυγή πληθωρισμού</a:t>
            </a:r>
            <a:endParaRPr sz="1890">
              <a:latin typeface="Times New Roman"/>
              <a:ea typeface="Times New Roman"/>
              <a:cs typeface="Times New Roman"/>
              <a:sym typeface="Times New Roman"/>
            </a:endParaRPr>
          </a:p>
        </p:txBody>
      </p:sp>
      <p:sp>
        <p:nvSpPr>
          <p:cNvPr id="120" name="Google Shape;120;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l"/>
              <a:t>‹#›</a:t>
            </a:fld>
            <a:endParaRPr/>
          </a:p>
        </p:txBody>
      </p:sp>
      <p:pic>
        <p:nvPicPr>
          <p:cNvPr id="121" name="Google Shape;121;p17"/>
          <p:cNvPicPr preferRelativeResize="0"/>
          <p:nvPr/>
        </p:nvPicPr>
        <p:blipFill>
          <a:blip r:embed="rId3">
            <a:alphaModFix/>
          </a:blip>
          <a:stretch>
            <a:fillRect/>
          </a:stretch>
        </p:blipFill>
        <p:spPr>
          <a:xfrm>
            <a:off x="7617524" y="273175"/>
            <a:ext cx="712025" cy="671225"/>
          </a:xfrm>
          <a:prstGeom prst="rect">
            <a:avLst/>
          </a:prstGeom>
          <a:noFill/>
          <a:ln>
            <a:noFill/>
          </a:ln>
        </p:spPr>
      </p:pic>
      <p:cxnSp>
        <p:nvCxnSpPr>
          <p:cNvPr id="122" name="Google Shape;122;p17"/>
          <p:cNvCxnSpPr/>
          <p:nvPr/>
        </p:nvCxnSpPr>
        <p:spPr>
          <a:xfrm>
            <a:off x="91975" y="952250"/>
            <a:ext cx="4684800" cy="15600"/>
          </a:xfrm>
          <a:prstGeom prst="straightConnector1">
            <a:avLst/>
          </a:prstGeom>
          <a:noFill/>
          <a:ln cap="flat" cmpd="sng" w="9525">
            <a:solidFill>
              <a:schemeClr val="dk2"/>
            </a:solidFill>
            <a:prstDash val="solid"/>
            <a:round/>
            <a:headEnd len="med" w="med" type="none"/>
            <a:tailEnd len="med" w="med" type="none"/>
          </a:ln>
        </p:spPr>
      </p:cxnSp>
      <p:pic>
        <p:nvPicPr>
          <p:cNvPr id="123" name="Google Shape;123;p17"/>
          <p:cNvPicPr preferRelativeResize="0"/>
          <p:nvPr/>
        </p:nvPicPr>
        <p:blipFill>
          <a:blip r:embed="rId4">
            <a:alphaModFix/>
          </a:blip>
          <a:stretch>
            <a:fillRect/>
          </a:stretch>
        </p:blipFill>
        <p:spPr>
          <a:xfrm>
            <a:off x="6841700" y="1678075"/>
            <a:ext cx="1591750" cy="2188651"/>
          </a:xfrm>
          <a:prstGeom prst="rect">
            <a:avLst/>
          </a:prstGeom>
          <a:noFill/>
          <a:ln>
            <a:noFill/>
          </a:ln>
        </p:spPr>
      </p:pic>
      <p:pic>
        <p:nvPicPr>
          <p:cNvPr id="124" name="Google Shape;124;p17"/>
          <p:cNvPicPr preferRelativeResize="0"/>
          <p:nvPr/>
        </p:nvPicPr>
        <p:blipFill>
          <a:blip r:embed="rId5">
            <a:alphaModFix/>
          </a:blip>
          <a:stretch>
            <a:fillRect/>
          </a:stretch>
        </p:blipFill>
        <p:spPr>
          <a:xfrm>
            <a:off x="5915202" y="1555050"/>
            <a:ext cx="3613626" cy="2033400"/>
          </a:xfrm>
          <a:prstGeom prst="rect">
            <a:avLst/>
          </a:prstGeom>
          <a:noFill/>
          <a:ln>
            <a:noFill/>
          </a:ln>
        </p:spPr>
      </p:pic>
      <p:sp>
        <p:nvSpPr>
          <p:cNvPr id="125" name="Google Shape;125;p17"/>
          <p:cNvSpPr txBox="1"/>
          <p:nvPr>
            <p:ph idx="1" type="subTitle"/>
          </p:nvPr>
        </p:nvSpPr>
        <p:spPr>
          <a:xfrm>
            <a:off x="4010500" y="4217625"/>
            <a:ext cx="1475700" cy="637200"/>
          </a:xfrm>
          <a:prstGeom prst="rect">
            <a:avLst/>
          </a:prstGeom>
        </p:spPr>
        <p:txBody>
          <a:bodyPr anchorCtr="0" anchor="t" bIns="91425" lIns="91425" spcFirstLastPara="1" rIns="91425" wrap="square" tIns="91425">
            <a:normAutofit/>
          </a:bodyPr>
          <a:lstStyle/>
          <a:p>
            <a:pPr indent="0" lvl="0" marL="0" rtl="0" algn="l">
              <a:lnSpc>
                <a:spcPct val="80000"/>
              </a:lnSpc>
              <a:spcBef>
                <a:spcPts val="0"/>
              </a:spcBef>
              <a:spcAft>
                <a:spcPts val="0"/>
              </a:spcAft>
              <a:buNone/>
            </a:pPr>
            <a:r>
              <a:rPr b="1" lang="el" sz="1800"/>
              <a:t>Bitcoin: </a:t>
            </a:r>
            <a:endParaRPr b="1" sz="1800"/>
          </a:p>
          <a:p>
            <a:pPr indent="0" lvl="0" marL="0" rtl="0" algn="l">
              <a:lnSpc>
                <a:spcPct val="80000"/>
              </a:lnSpc>
              <a:spcBef>
                <a:spcPts val="0"/>
              </a:spcBef>
              <a:spcAft>
                <a:spcPts val="0"/>
              </a:spcAft>
              <a:buNone/>
            </a:pPr>
            <a:r>
              <a:t/>
            </a:r>
            <a:endParaRPr b="1" sz="600"/>
          </a:p>
        </p:txBody>
      </p:sp>
      <p:pic>
        <p:nvPicPr>
          <p:cNvPr id="126" name="Google Shape;126;p17"/>
          <p:cNvPicPr preferRelativeResize="0"/>
          <p:nvPr/>
        </p:nvPicPr>
        <p:blipFill>
          <a:blip r:embed="rId6">
            <a:alphaModFix/>
          </a:blip>
          <a:stretch>
            <a:fillRect/>
          </a:stretch>
        </p:blipFill>
        <p:spPr>
          <a:xfrm>
            <a:off x="5713550" y="3964675"/>
            <a:ext cx="1080800" cy="9344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18"/>
          <p:cNvSpPr txBox="1"/>
          <p:nvPr>
            <p:ph type="ctrTitle"/>
          </p:nvPr>
        </p:nvSpPr>
        <p:spPr>
          <a:xfrm>
            <a:off x="140000" y="0"/>
            <a:ext cx="4347900" cy="10566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l" sz="3400">
                <a:latin typeface="Times New Roman"/>
                <a:ea typeface="Times New Roman"/>
                <a:cs typeface="Times New Roman"/>
                <a:sym typeface="Times New Roman"/>
              </a:rPr>
              <a:t>Ethereum</a:t>
            </a:r>
            <a:endParaRPr sz="3400">
              <a:latin typeface="Times New Roman"/>
              <a:ea typeface="Times New Roman"/>
              <a:cs typeface="Times New Roman"/>
              <a:sym typeface="Times New Roman"/>
            </a:endParaRPr>
          </a:p>
        </p:txBody>
      </p:sp>
      <p:sp>
        <p:nvSpPr>
          <p:cNvPr id="132" name="Google Shape;132;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l"/>
              <a:t>‹#›</a:t>
            </a:fld>
            <a:endParaRPr/>
          </a:p>
        </p:txBody>
      </p:sp>
      <p:cxnSp>
        <p:nvCxnSpPr>
          <p:cNvPr id="133" name="Google Shape;133;p18"/>
          <p:cNvCxnSpPr/>
          <p:nvPr/>
        </p:nvCxnSpPr>
        <p:spPr>
          <a:xfrm>
            <a:off x="91975" y="952250"/>
            <a:ext cx="4684800" cy="15600"/>
          </a:xfrm>
          <a:prstGeom prst="straightConnector1">
            <a:avLst/>
          </a:prstGeom>
          <a:noFill/>
          <a:ln cap="flat" cmpd="sng" w="9525">
            <a:solidFill>
              <a:schemeClr val="dk2"/>
            </a:solidFill>
            <a:prstDash val="solid"/>
            <a:round/>
            <a:headEnd len="med" w="med" type="none"/>
            <a:tailEnd len="med" w="med" type="none"/>
          </a:ln>
        </p:spPr>
      </p:cxnSp>
      <p:sp>
        <p:nvSpPr>
          <p:cNvPr id="134" name="Google Shape;134;p18"/>
          <p:cNvSpPr txBox="1"/>
          <p:nvPr>
            <p:ph idx="1" type="subTitle"/>
          </p:nvPr>
        </p:nvSpPr>
        <p:spPr>
          <a:xfrm>
            <a:off x="185625" y="1654650"/>
            <a:ext cx="5385900" cy="3348300"/>
          </a:xfrm>
          <a:prstGeom prst="rect">
            <a:avLst/>
          </a:prstGeom>
        </p:spPr>
        <p:txBody>
          <a:bodyPr anchorCtr="0" anchor="t" bIns="91425" lIns="91425" spcFirstLastPara="1" rIns="91425" wrap="square" tIns="91425">
            <a:normAutofit/>
          </a:bodyPr>
          <a:lstStyle/>
          <a:p>
            <a:pPr indent="-348615" lvl="0" marL="457200" rtl="0" algn="l">
              <a:spcBef>
                <a:spcPts val="0"/>
              </a:spcBef>
              <a:spcAft>
                <a:spcPts val="0"/>
              </a:spcAft>
              <a:buSzPts val="1890"/>
              <a:buFont typeface="Times New Roman"/>
              <a:buChar char="●"/>
            </a:pPr>
            <a:r>
              <a:rPr lang="el" sz="1890">
                <a:latin typeface="Times New Roman"/>
                <a:ea typeface="Times New Roman"/>
                <a:cs typeface="Times New Roman"/>
                <a:sym typeface="Times New Roman"/>
              </a:rPr>
              <a:t>1ο αποκεντρωμένο δ</a:t>
            </a:r>
            <a:r>
              <a:rPr lang="el" sz="1890">
                <a:latin typeface="Times New Roman"/>
                <a:ea typeface="Times New Roman"/>
                <a:cs typeface="Times New Roman"/>
                <a:sym typeface="Times New Roman"/>
              </a:rPr>
              <a:t>ίκτυο Smart Contracts</a:t>
            </a:r>
            <a:endParaRPr sz="1890">
              <a:latin typeface="Times New Roman"/>
              <a:ea typeface="Times New Roman"/>
              <a:cs typeface="Times New Roman"/>
              <a:sym typeface="Times New Roman"/>
            </a:endParaRPr>
          </a:p>
          <a:p>
            <a:pPr indent="-348615" lvl="0" marL="457200" rtl="0" algn="l">
              <a:spcBef>
                <a:spcPts val="0"/>
              </a:spcBef>
              <a:spcAft>
                <a:spcPts val="0"/>
              </a:spcAft>
              <a:buSzPts val="1890"/>
              <a:buChar char="●"/>
            </a:pPr>
            <a:r>
              <a:rPr lang="el" sz="1890">
                <a:latin typeface="Times New Roman"/>
                <a:ea typeface="Times New Roman"/>
                <a:cs typeface="Times New Roman"/>
                <a:sym typeface="Times New Roman"/>
              </a:rPr>
              <a:t>Τρ</a:t>
            </a:r>
            <a:r>
              <a:rPr lang="el" sz="1890">
                <a:latin typeface="Times New Roman"/>
                <a:ea typeface="Times New Roman"/>
                <a:cs typeface="Times New Roman"/>
                <a:sym typeface="Times New Roman"/>
              </a:rPr>
              <a:t>έχεις σε Blockchain </a:t>
            </a:r>
            <a:r>
              <a:rPr b="1" lang="el" sz="1890">
                <a:latin typeface="Times New Roman"/>
                <a:ea typeface="Times New Roman"/>
                <a:cs typeface="Times New Roman"/>
                <a:sym typeface="Times New Roman"/>
              </a:rPr>
              <a:t>Κώδικα</a:t>
            </a:r>
            <a:endParaRPr b="1" sz="1890">
              <a:latin typeface="Times New Roman"/>
              <a:ea typeface="Times New Roman"/>
              <a:cs typeface="Times New Roman"/>
              <a:sym typeface="Times New Roman"/>
            </a:endParaRPr>
          </a:p>
          <a:p>
            <a:pPr indent="-348615" lvl="0" marL="457200" rtl="0" algn="l">
              <a:spcBef>
                <a:spcPts val="0"/>
              </a:spcBef>
              <a:spcAft>
                <a:spcPts val="0"/>
              </a:spcAft>
              <a:buSzPts val="1890"/>
              <a:buFont typeface="Times New Roman"/>
              <a:buChar char="●"/>
            </a:pPr>
            <a:r>
              <a:rPr lang="el" sz="1890">
                <a:latin typeface="Times New Roman"/>
                <a:ea typeface="Times New Roman"/>
                <a:cs typeface="Times New Roman"/>
                <a:sym typeface="Times New Roman"/>
              </a:rPr>
              <a:t>Γρήγορο</a:t>
            </a:r>
            <a:endParaRPr sz="1890">
              <a:latin typeface="Times New Roman"/>
              <a:ea typeface="Times New Roman"/>
              <a:cs typeface="Times New Roman"/>
              <a:sym typeface="Times New Roman"/>
            </a:endParaRPr>
          </a:p>
          <a:p>
            <a:pPr indent="-348615" lvl="0" marL="457200" rtl="0" algn="l">
              <a:spcBef>
                <a:spcPts val="0"/>
              </a:spcBef>
              <a:spcAft>
                <a:spcPts val="0"/>
              </a:spcAft>
              <a:buSzPts val="1890"/>
              <a:buFont typeface="Times New Roman"/>
              <a:buChar char="●"/>
            </a:pPr>
            <a:r>
              <a:rPr lang="el" sz="1890">
                <a:latin typeface="Times New Roman"/>
                <a:ea typeface="Times New Roman"/>
                <a:cs typeface="Times New Roman"/>
                <a:sym typeface="Times New Roman"/>
              </a:rPr>
              <a:t>Γέννησε το Defi</a:t>
            </a:r>
            <a:r>
              <a:rPr lang="el" sz="1890">
                <a:latin typeface="Times New Roman"/>
                <a:ea typeface="Times New Roman"/>
                <a:cs typeface="Times New Roman"/>
                <a:sym typeface="Times New Roman"/>
              </a:rPr>
              <a:t> </a:t>
            </a:r>
            <a:endParaRPr sz="1890">
              <a:latin typeface="Times New Roman"/>
              <a:ea typeface="Times New Roman"/>
              <a:cs typeface="Times New Roman"/>
              <a:sym typeface="Times New Roman"/>
            </a:endParaRPr>
          </a:p>
          <a:p>
            <a:pPr indent="-348615" lvl="0" marL="457200" rtl="0" algn="l">
              <a:spcBef>
                <a:spcPts val="0"/>
              </a:spcBef>
              <a:spcAft>
                <a:spcPts val="0"/>
              </a:spcAft>
              <a:buSzPts val="1890"/>
              <a:buFont typeface="Times New Roman"/>
              <a:buChar char="●"/>
            </a:pPr>
            <a:r>
              <a:rPr lang="el" sz="1890">
                <a:latin typeface="Times New Roman"/>
                <a:ea typeface="Times New Roman"/>
                <a:cs typeface="Times New Roman"/>
                <a:sym typeface="Times New Roman"/>
              </a:rPr>
              <a:t>Έστησε τα </a:t>
            </a:r>
            <a:r>
              <a:rPr lang="el" sz="1890">
                <a:latin typeface="Times New Roman"/>
                <a:ea typeface="Times New Roman"/>
                <a:cs typeface="Times New Roman"/>
                <a:sym typeface="Times New Roman"/>
              </a:rPr>
              <a:t>θεμέλια για Tokenized Stocks/Builings κτλπ..</a:t>
            </a:r>
            <a:r>
              <a:rPr lang="el" sz="1890">
                <a:latin typeface="Times New Roman"/>
                <a:ea typeface="Times New Roman"/>
                <a:cs typeface="Times New Roman"/>
                <a:sym typeface="Times New Roman"/>
              </a:rPr>
              <a:t> </a:t>
            </a:r>
            <a:endParaRPr sz="1890">
              <a:latin typeface="Times New Roman"/>
              <a:ea typeface="Times New Roman"/>
              <a:cs typeface="Times New Roman"/>
              <a:sym typeface="Times New Roman"/>
            </a:endParaRPr>
          </a:p>
        </p:txBody>
      </p:sp>
      <p:pic>
        <p:nvPicPr>
          <p:cNvPr id="135" name="Google Shape;135;p18"/>
          <p:cNvPicPr preferRelativeResize="0"/>
          <p:nvPr/>
        </p:nvPicPr>
        <p:blipFill>
          <a:blip r:embed="rId3">
            <a:alphaModFix/>
          </a:blip>
          <a:stretch>
            <a:fillRect/>
          </a:stretch>
        </p:blipFill>
        <p:spPr>
          <a:xfrm>
            <a:off x="7676793" y="172193"/>
            <a:ext cx="795648" cy="795648"/>
          </a:xfrm>
          <a:prstGeom prst="rect">
            <a:avLst/>
          </a:prstGeom>
          <a:noFill/>
          <a:ln>
            <a:noFill/>
          </a:ln>
        </p:spPr>
      </p:pic>
      <p:sp>
        <p:nvSpPr>
          <p:cNvPr id="136" name="Google Shape;136;p18"/>
          <p:cNvSpPr txBox="1"/>
          <p:nvPr>
            <p:ph idx="1" type="subTitle"/>
          </p:nvPr>
        </p:nvSpPr>
        <p:spPr>
          <a:xfrm>
            <a:off x="4455400" y="4096375"/>
            <a:ext cx="1475700" cy="637200"/>
          </a:xfrm>
          <a:prstGeom prst="rect">
            <a:avLst/>
          </a:prstGeom>
        </p:spPr>
        <p:txBody>
          <a:bodyPr anchorCtr="0" anchor="t" bIns="91425" lIns="91425" spcFirstLastPara="1" rIns="91425" wrap="square" tIns="91425">
            <a:normAutofit/>
          </a:bodyPr>
          <a:lstStyle/>
          <a:p>
            <a:pPr indent="0" lvl="0" marL="0" rtl="0" algn="l">
              <a:lnSpc>
                <a:spcPct val="80000"/>
              </a:lnSpc>
              <a:spcBef>
                <a:spcPts val="0"/>
              </a:spcBef>
              <a:spcAft>
                <a:spcPts val="0"/>
              </a:spcAft>
              <a:buNone/>
            </a:pPr>
            <a:r>
              <a:rPr b="1" lang="el" sz="1800"/>
              <a:t>Ethereum</a:t>
            </a:r>
            <a:r>
              <a:rPr b="1" lang="el" sz="1800"/>
              <a:t>: </a:t>
            </a:r>
            <a:endParaRPr b="1" sz="1800"/>
          </a:p>
          <a:p>
            <a:pPr indent="0" lvl="0" marL="0" rtl="0" algn="l">
              <a:lnSpc>
                <a:spcPct val="80000"/>
              </a:lnSpc>
              <a:spcBef>
                <a:spcPts val="0"/>
              </a:spcBef>
              <a:spcAft>
                <a:spcPts val="0"/>
              </a:spcAft>
              <a:buNone/>
            </a:pPr>
            <a:r>
              <a:t/>
            </a:r>
            <a:endParaRPr b="1" sz="600"/>
          </a:p>
        </p:txBody>
      </p:sp>
      <p:pic>
        <p:nvPicPr>
          <p:cNvPr id="137" name="Google Shape;137;p18"/>
          <p:cNvPicPr preferRelativeResize="0"/>
          <p:nvPr/>
        </p:nvPicPr>
        <p:blipFill>
          <a:blip r:embed="rId4">
            <a:alphaModFix/>
          </a:blip>
          <a:stretch>
            <a:fillRect/>
          </a:stretch>
        </p:blipFill>
        <p:spPr>
          <a:xfrm>
            <a:off x="6021050" y="3591000"/>
            <a:ext cx="1378100" cy="11425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19"/>
          <p:cNvSpPr txBox="1"/>
          <p:nvPr>
            <p:ph idx="1" type="subTitle"/>
          </p:nvPr>
        </p:nvSpPr>
        <p:spPr>
          <a:xfrm>
            <a:off x="91975" y="1056600"/>
            <a:ext cx="5668200" cy="1823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l" sz="1400">
                <a:latin typeface="Times New Roman"/>
                <a:ea typeface="Times New Roman"/>
                <a:cs typeface="Times New Roman"/>
                <a:sym typeface="Times New Roman"/>
              </a:rPr>
              <a:t>Consensus: Ο τρόπος αποδοχής ενός transaction ή οτιδήποτε θέλουμε μεταξύ των συμμετεχόντων του δικτύου</a:t>
            </a:r>
            <a:endParaRPr sz="1400">
              <a:latin typeface="Times New Roman"/>
              <a:ea typeface="Times New Roman"/>
              <a:cs typeface="Times New Roman"/>
              <a:sym typeface="Times New Roman"/>
            </a:endParaRPr>
          </a:p>
          <a:p>
            <a:pPr indent="0" lvl="0" marL="0" rtl="0" algn="l">
              <a:spcBef>
                <a:spcPts val="0"/>
              </a:spcBef>
              <a:spcAft>
                <a:spcPts val="0"/>
              </a:spcAft>
              <a:buNone/>
            </a:pPr>
            <a:r>
              <a:t/>
            </a:r>
            <a:endParaRPr sz="1400">
              <a:latin typeface="Times New Roman"/>
              <a:ea typeface="Times New Roman"/>
              <a:cs typeface="Times New Roman"/>
              <a:sym typeface="Times New Roman"/>
            </a:endParaRPr>
          </a:p>
          <a:p>
            <a:pPr indent="0" lvl="0" marL="0" rtl="0" algn="l">
              <a:spcBef>
                <a:spcPts val="0"/>
              </a:spcBef>
              <a:spcAft>
                <a:spcPts val="0"/>
              </a:spcAft>
              <a:buNone/>
            </a:pPr>
            <a:r>
              <a:rPr lang="el" sz="1400">
                <a:latin typeface="Times New Roman"/>
                <a:ea typeface="Times New Roman"/>
                <a:cs typeface="Times New Roman"/>
                <a:sym typeface="Times New Roman"/>
              </a:rPr>
              <a:t>∀ Δ</a:t>
            </a:r>
            <a:r>
              <a:rPr lang="el" sz="1400">
                <a:latin typeface="Times New Roman"/>
                <a:ea typeface="Times New Roman"/>
                <a:cs typeface="Times New Roman"/>
                <a:sym typeface="Times New Roman"/>
              </a:rPr>
              <a:t>ίκτυο μπορεί να διαφέρει αναλόγως τι θέλουμε να πετύχουμε.. </a:t>
            </a:r>
            <a:endParaRPr sz="1400">
              <a:latin typeface="Times New Roman"/>
              <a:ea typeface="Times New Roman"/>
              <a:cs typeface="Times New Roman"/>
              <a:sym typeface="Times New Roman"/>
            </a:endParaRPr>
          </a:p>
        </p:txBody>
      </p:sp>
      <p:sp>
        <p:nvSpPr>
          <p:cNvPr id="143" name="Google Shape;143;p19"/>
          <p:cNvSpPr txBox="1"/>
          <p:nvPr>
            <p:ph type="ctrTitle"/>
          </p:nvPr>
        </p:nvSpPr>
        <p:spPr>
          <a:xfrm>
            <a:off x="91975" y="0"/>
            <a:ext cx="8520600" cy="10566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l" sz="3400">
                <a:latin typeface="Times New Roman"/>
                <a:ea typeface="Times New Roman"/>
                <a:cs typeface="Times New Roman"/>
                <a:sym typeface="Times New Roman"/>
              </a:rPr>
              <a:t>Consensus Mechanism</a:t>
            </a:r>
            <a:endParaRPr sz="3400">
              <a:latin typeface="Times New Roman"/>
              <a:ea typeface="Times New Roman"/>
              <a:cs typeface="Times New Roman"/>
              <a:sym typeface="Times New Roman"/>
            </a:endParaRPr>
          </a:p>
        </p:txBody>
      </p:sp>
      <p:sp>
        <p:nvSpPr>
          <p:cNvPr id="144" name="Google Shape;144;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l"/>
              <a:t>‹#›</a:t>
            </a:fld>
            <a:endParaRPr/>
          </a:p>
        </p:txBody>
      </p:sp>
      <p:cxnSp>
        <p:nvCxnSpPr>
          <p:cNvPr id="145" name="Google Shape;145;p19"/>
          <p:cNvCxnSpPr/>
          <p:nvPr/>
        </p:nvCxnSpPr>
        <p:spPr>
          <a:xfrm>
            <a:off x="91975" y="952250"/>
            <a:ext cx="4684800" cy="15600"/>
          </a:xfrm>
          <a:prstGeom prst="straightConnector1">
            <a:avLst/>
          </a:prstGeom>
          <a:noFill/>
          <a:ln cap="flat" cmpd="sng" w="9525">
            <a:solidFill>
              <a:schemeClr val="dk2"/>
            </a:solidFill>
            <a:prstDash val="solid"/>
            <a:round/>
            <a:headEnd len="med" w="med" type="none"/>
            <a:tailEnd len="med" w="med" type="none"/>
          </a:ln>
        </p:spPr>
      </p:cxnSp>
      <p:pic>
        <p:nvPicPr>
          <p:cNvPr id="146" name="Google Shape;146;p19"/>
          <p:cNvPicPr preferRelativeResize="0"/>
          <p:nvPr/>
        </p:nvPicPr>
        <p:blipFill>
          <a:blip r:embed="rId3">
            <a:alphaModFix/>
          </a:blip>
          <a:stretch>
            <a:fillRect/>
          </a:stretch>
        </p:blipFill>
        <p:spPr>
          <a:xfrm>
            <a:off x="5611800" y="615037"/>
            <a:ext cx="3305550" cy="3011025"/>
          </a:xfrm>
          <a:prstGeom prst="rect">
            <a:avLst/>
          </a:prstGeom>
          <a:noFill/>
          <a:ln>
            <a:noFill/>
          </a:ln>
        </p:spPr>
      </p:pic>
      <p:pic>
        <p:nvPicPr>
          <p:cNvPr id="147" name="Google Shape;147;p19"/>
          <p:cNvPicPr preferRelativeResize="0"/>
          <p:nvPr/>
        </p:nvPicPr>
        <p:blipFill>
          <a:blip r:embed="rId4">
            <a:alphaModFix/>
          </a:blip>
          <a:stretch>
            <a:fillRect/>
          </a:stretch>
        </p:blipFill>
        <p:spPr>
          <a:xfrm>
            <a:off x="959212" y="2052400"/>
            <a:ext cx="3933724" cy="2848099"/>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0"/>
          <p:cNvSpPr txBox="1"/>
          <p:nvPr>
            <p:ph type="ctrTitle"/>
          </p:nvPr>
        </p:nvSpPr>
        <p:spPr>
          <a:xfrm>
            <a:off x="139975" y="-132675"/>
            <a:ext cx="4129500" cy="10848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l" sz="3400">
                <a:latin typeface="Times New Roman"/>
                <a:ea typeface="Times New Roman"/>
                <a:cs typeface="Times New Roman"/>
                <a:sym typeface="Times New Roman"/>
              </a:rPr>
              <a:t>Οι έμπνευσεις</a:t>
            </a:r>
            <a:endParaRPr sz="3400">
              <a:latin typeface="Times New Roman"/>
              <a:ea typeface="Times New Roman"/>
              <a:cs typeface="Times New Roman"/>
              <a:sym typeface="Times New Roman"/>
            </a:endParaRPr>
          </a:p>
        </p:txBody>
      </p:sp>
      <p:sp>
        <p:nvSpPr>
          <p:cNvPr id="153" name="Google Shape;153;p20"/>
          <p:cNvSpPr txBox="1"/>
          <p:nvPr>
            <p:ph idx="1" type="subTitle"/>
          </p:nvPr>
        </p:nvSpPr>
        <p:spPr>
          <a:xfrm>
            <a:off x="1699800" y="1197925"/>
            <a:ext cx="4372500" cy="3465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35"/>
              <a:buNone/>
            </a:pPr>
            <a:r>
              <a:rPr i="1" lang="el" sz="1400">
                <a:latin typeface="Times New Roman"/>
                <a:ea typeface="Times New Roman"/>
                <a:cs typeface="Times New Roman"/>
                <a:sym typeface="Times New Roman"/>
              </a:rPr>
              <a:t>~ Github: Open Source (Linux, SQL, και πάρα πολλά άλλα)</a:t>
            </a:r>
            <a:endParaRPr i="1" sz="1400">
              <a:latin typeface="Times New Roman"/>
              <a:ea typeface="Times New Roman"/>
              <a:cs typeface="Times New Roman"/>
              <a:sym typeface="Times New Roman"/>
            </a:endParaRPr>
          </a:p>
          <a:p>
            <a:pPr indent="0" lvl="0" marL="0" rtl="0" algn="l">
              <a:spcBef>
                <a:spcPts val="0"/>
              </a:spcBef>
              <a:spcAft>
                <a:spcPts val="0"/>
              </a:spcAft>
              <a:buSzPts val="935"/>
              <a:buNone/>
            </a:pPr>
            <a:r>
              <a:t/>
            </a:r>
            <a:endParaRPr i="1" sz="1400">
              <a:latin typeface="Times New Roman"/>
              <a:ea typeface="Times New Roman"/>
              <a:cs typeface="Times New Roman"/>
              <a:sym typeface="Times New Roman"/>
            </a:endParaRPr>
          </a:p>
          <a:p>
            <a:pPr indent="0" lvl="0" marL="0" rtl="0" algn="l">
              <a:spcBef>
                <a:spcPts val="0"/>
              </a:spcBef>
              <a:spcAft>
                <a:spcPts val="0"/>
              </a:spcAft>
              <a:buSzPts val="935"/>
              <a:buNone/>
            </a:pPr>
            <a:r>
              <a:t/>
            </a:r>
            <a:endParaRPr i="1" sz="1400">
              <a:latin typeface="Times New Roman"/>
              <a:ea typeface="Times New Roman"/>
              <a:cs typeface="Times New Roman"/>
              <a:sym typeface="Times New Roman"/>
            </a:endParaRPr>
          </a:p>
          <a:p>
            <a:pPr indent="0" lvl="0" marL="0" rtl="0" algn="l">
              <a:spcBef>
                <a:spcPts val="0"/>
              </a:spcBef>
              <a:spcAft>
                <a:spcPts val="0"/>
              </a:spcAft>
              <a:buSzPts val="935"/>
              <a:buNone/>
            </a:pPr>
            <a:r>
              <a:t/>
            </a:r>
            <a:endParaRPr i="1" sz="1400">
              <a:latin typeface="Times New Roman"/>
              <a:ea typeface="Times New Roman"/>
              <a:cs typeface="Times New Roman"/>
              <a:sym typeface="Times New Roman"/>
            </a:endParaRPr>
          </a:p>
          <a:p>
            <a:pPr indent="0" lvl="0" marL="0" rtl="0" algn="l">
              <a:spcBef>
                <a:spcPts val="0"/>
              </a:spcBef>
              <a:spcAft>
                <a:spcPts val="0"/>
              </a:spcAft>
              <a:buSzPts val="935"/>
              <a:buNone/>
            </a:pPr>
            <a:r>
              <a:rPr i="1" lang="el" sz="1400">
                <a:latin typeface="Times New Roman"/>
                <a:ea typeface="Times New Roman"/>
                <a:cs typeface="Times New Roman"/>
                <a:sym typeface="Times New Roman"/>
              </a:rPr>
              <a:t>~ Kaggle: Ανοιχτός ανταγωνισμός(ML): ορίζεις ένα task, το ανοίγεις σε όλους, αμείβονται τα καλύτερα αποτελέσματα.</a:t>
            </a:r>
            <a:endParaRPr i="1" sz="1400">
              <a:latin typeface="Times New Roman"/>
              <a:ea typeface="Times New Roman"/>
              <a:cs typeface="Times New Roman"/>
              <a:sym typeface="Times New Roman"/>
            </a:endParaRPr>
          </a:p>
          <a:p>
            <a:pPr indent="0" lvl="0" marL="0" rtl="0" algn="l">
              <a:spcBef>
                <a:spcPts val="0"/>
              </a:spcBef>
              <a:spcAft>
                <a:spcPts val="0"/>
              </a:spcAft>
              <a:buSzPts val="935"/>
              <a:buNone/>
            </a:pPr>
            <a:r>
              <a:t/>
            </a:r>
            <a:endParaRPr i="1" sz="1400">
              <a:latin typeface="Times New Roman"/>
              <a:ea typeface="Times New Roman"/>
              <a:cs typeface="Times New Roman"/>
              <a:sym typeface="Times New Roman"/>
            </a:endParaRPr>
          </a:p>
          <a:p>
            <a:pPr indent="0" lvl="0" marL="0" rtl="0" algn="l">
              <a:spcBef>
                <a:spcPts val="0"/>
              </a:spcBef>
              <a:spcAft>
                <a:spcPts val="0"/>
              </a:spcAft>
              <a:buSzPts val="935"/>
              <a:buNone/>
            </a:pPr>
            <a:r>
              <a:t/>
            </a:r>
            <a:endParaRPr i="1" sz="1400">
              <a:latin typeface="Times New Roman"/>
              <a:ea typeface="Times New Roman"/>
              <a:cs typeface="Times New Roman"/>
              <a:sym typeface="Times New Roman"/>
            </a:endParaRPr>
          </a:p>
          <a:p>
            <a:pPr indent="0" lvl="0" marL="0" rtl="0" algn="l">
              <a:spcBef>
                <a:spcPts val="0"/>
              </a:spcBef>
              <a:spcAft>
                <a:spcPts val="0"/>
              </a:spcAft>
              <a:buSzPts val="935"/>
              <a:buNone/>
            </a:pPr>
            <a:r>
              <a:t/>
            </a:r>
            <a:endParaRPr i="1" sz="1400">
              <a:latin typeface="Times New Roman"/>
              <a:ea typeface="Times New Roman"/>
              <a:cs typeface="Times New Roman"/>
              <a:sym typeface="Times New Roman"/>
            </a:endParaRPr>
          </a:p>
          <a:p>
            <a:pPr indent="0" lvl="0" marL="0" rtl="0" algn="l">
              <a:spcBef>
                <a:spcPts val="0"/>
              </a:spcBef>
              <a:spcAft>
                <a:spcPts val="0"/>
              </a:spcAft>
              <a:buSzPts val="935"/>
              <a:buNone/>
            </a:pPr>
            <a:r>
              <a:rPr i="1" lang="el" sz="1400">
                <a:latin typeface="Times New Roman"/>
                <a:ea typeface="Times New Roman"/>
                <a:cs typeface="Times New Roman"/>
                <a:sym typeface="Times New Roman"/>
              </a:rPr>
              <a:t>~ HuggingFace/Ollama: Ανοιχτή και δωρεαν συνεισφορά και κατέβασμα μοντέλων(open weights,code).  </a:t>
            </a:r>
            <a:endParaRPr i="1" sz="1400">
              <a:latin typeface="Times New Roman"/>
              <a:ea typeface="Times New Roman"/>
              <a:cs typeface="Times New Roman"/>
              <a:sym typeface="Times New Roman"/>
            </a:endParaRPr>
          </a:p>
        </p:txBody>
      </p:sp>
      <p:sp>
        <p:nvSpPr>
          <p:cNvPr id="154" name="Google Shape;154;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l"/>
              <a:t>‹#›</a:t>
            </a:fld>
            <a:endParaRPr/>
          </a:p>
        </p:txBody>
      </p:sp>
      <p:cxnSp>
        <p:nvCxnSpPr>
          <p:cNvPr id="155" name="Google Shape;155;p20"/>
          <p:cNvCxnSpPr/>
          <p:nvPr/>
        </p:nvCxnSpPr>
        <p:spPr>
          <a:xfrm>
            <a:off x="91975" y="952250"/>
            <a:ext cx="4684800" cy="15600"/>
          </a:xfrm>
          <a:prstGeom prst="straightConnector1">
            <a:avLst/>
          </a:prstGeom>
          <a:noFill/>
          <a:ln cap="flat" cmpd="sng" w="9525">
            <a:solidFill>
              <a:schemeClr val="dk2"/>
            </a:solidFill>
            <a:prstDash val="solid"/>
            <a:round/>
            <a:headEnd len="med" w="med" type="none"/>
            <a:tailEnd len="med" w="med" type="none"/>
          </a:ln>
        </p:spPr>
      </p:cxnSp>
      <p:pic>
        <p:nvPicPr>
          <p:cNvPr id="156" name="Google Shape;156;p20"/>
          <p:cNvPicPr preferRelativeResize="0"/>
          <p:nvPr/>
        </p:nvPicPr>
        <p:blipFill>
          <a:blip r:embed="rId3">
            <a:alphaModFix/>
          </a:blip>
          <a:stretch>
            <a:fillRect/>
          </a:stretch>
        </p:blipFill>
        <p:spPr>
          <a:xfrm>
            <a:off x="263650" y="1116100"/>
            <a:ext cx="928826" cy="928826"/>
          </a:xfrm>
          <a:prstGeom prst="rect">
            <a:avLst/>
          </a:prstGeom>
          <a:noFill/>
          <a:ln>
            <a:noFill/>
          </a:ln>
        </p:spPr>
      </p:pic>
      <p:pic>
        <p:nvPicPr>
          <p:cNvPr id="157" name="Google Shape;157;p20"/>
          <p:cNvPicPr preferRelativeResize="0"/>
          <p:nvPr/>
        </p:nvPicPr>
        <p:blipFill>
          <a:blip r:embed="rId4">
            <a:alphaModFix/>
          </a:blip>
          <a:stretch>
            <a:fillRect/>
          </a:stretch>
        </p:blipFill>
        <p:spPr>
          <a:xfrm>
            <a:off x="202425" y="2614252"/>
            <a:ext cx="1246226" cy="433223"/>
          </a:xfrm>
          <a:prstGeom prst="rect">
            <a:avLst/>
          </a:prstGeom>
          <a:noFill/>
          <a:ln>
            <a:noFill/>
          </a:ln>
        </p:spPr>
      </p:pic>
      <p:pic>
        <p:nvPicPr>
          <p:cNvPr id="158" name="Google Shape;158;p20"/>
          <p:cNvPicPr preferRelativeResize="0"/>
          <p:nvPr/>
        </p:nvPicPr>
        <p:blipFill>
          <a:blip r:embed="rId5">
            <a:alphaModFix/>
          </a:blip>
          <a:stretch>
            <a:fillRect/>
          </a:stretch>
        </p:blipFill>
        <p:spPr>
          <a:xfrm>
            <a:off x="164325" y="3168425"/>
            <a:ext cx="1246225" cy="1246225"/>
          </a:xfrm>
          <a:prstGeom prst="rect">
            <a:avLst/>
          </a:prstGeom>
          <a:noFill/>
          <a:ln>
            <a:noFill/>
          </a:ln>
        </p:spPr>
      </p:pic>
      <p:sp>
        <p:nvSpPr>
          <p:cNvPr id="159" name="Google Shape;159;p20"/>
          <p:cNvSpPr/>
          <p:nvPr/>
        </p:nvSpPr>
        <p:spPr>
          <a:xfrm>
            <a:off x="5994250" y="577550"/>
            <a:ext cx="3118500" cy="3156900"/>
          </a:xfrm>
          <a:prstGeom prst="cloudCallout">
            <a:avLst>
              <a:gd fmla="val -20833" name="adj1"/>
              <a:gd fmla="val 625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0" name="Google Shape;160;p20"/>
          <p:cNvSpPr txBox="1"/>
          <p:nvPr/>
        </p:nvSpPr>
        <p:spPr>
          <a:xfrm>
            <a:off x="6290800" y="1116100"/>
            <a:ext cx="2525400" cy="2357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i="1" lang="el" sz="1100">
                <a:solidFill>
                  <a:schemeClr val="dk1"/>
                </a:solidFill>
                <a:latin typeface="Times New Roman"/>
                <a:ea typeface="Times New Roman"/>
                <a:cs typeface="Times New Roman"/>
                <a:sym typeface="Times New Roman"/>
              </a:rPr>
              <a:t>Ένα ανοιχτό δίκτυο όπου οποιοσδήποτε μπορεί να προσφέρει χρήσιμη εργασία (κώδικα, μοντέλα, υπολογιστική ισχύ, αλγορίθμους). Η εργασία αξιολογείται από ανεξάρτητους αξιολογητές χωρίς κεντρική αρχή, και η αξία μοιράζεται ανάλογα με τη μετρήσιμη συνεισφορά.</a:t>
            </a:r>
            <a:endParaRPr i="1" sz="1100">
              <a:solidFill>
                <a:schemeClr val="dk1"/>
              </a:solidFill>
              <a:latin typeface="Times New Roman"/>
              <a:ea typeface="Times New Roman"/>
              <a:cs typeface="Times New Roman"/>
              <a:sym typeface="Times New Roman"/>
            </a:endParaRPr>
          </a:p>
          <a:p>
            <a:pPr indent="0" lvl="0" marL="0" rtl="0" algn="ctr">
              <a:spcBef>
                <a:spcPts val="0"/>
              </a:spcBef>
              <a:spcAft>
                <a:spcPts val="0"/>
              </a:spcAft>
              <a:buNone/>
            </a:pPr>
            <a:r>
              <a:rPr i="1" lang="el" sz="1000">
                <a:solidFill>
                  <a:schemeClr val="dk2"/>
                </a:solidFill>
                <a:latin typeface="Times New Roman"/>
                <a:ea typeface="Times New Roman"/>
                <a:cs typeface="Times New Roman"/>
                <a:sym typeface="Times New Roman"/>
              </a:rPr>
              <a:t> </a:t>
            </a:r>
            <a:endParaRPr i="1" sz="1000">
              <a:solidFill>
                <a:schemeClr val="dk2"/>
              </a:solidFill>
              <a:latin typeface="Times New Roman"/>
              <a:ea typeface="Times New Roman"/>
              <a:cs typeface="Times New Roman"/>
              <a:sym typeface="Times New Roman"/>
            </a:endParaRPr>
          </a:p>
          <a:p>
            <a:pPr indent="0" lvl="0" marL="0" rtl="0" algn="ctr">
              <a:spcBef>
                <a:spcPts val="0"/>
              </a:spcBef>
              <a:spcAft>
                <a:spcPts val="0"/>
              </a:spcAft>
              <a:buClr>
                <a:schemeClr val="dk1"/>
              </a:buClr>
              <a:buSzPts val="1100"/>
              <a:buFont typeface="Arial"/>
              <a:buNone/>
            </a:pPr>
            <a:r>
              <a:t/>
            </a:r>
            <a:endParaRPr i="1" sz="1000">
              <a:solidFill>
                <a:schemeClr val="dk2"/>
              </a:solidFill>
              <a:latin typeface="Times New Roman"/>
              <a:ea typeface="Times New Roman"/>
              <a:cs typeface="Times New Roman"/>
              <a:sym typeface="Times New Roman"/>
            </a:endParaRPr>
          </a:p>
        </p:txBody>
      </p:sp>
      <p:sp>
        <p:nvSpPr>
          <p:cNvPr id="161" name="Google Shape;161;p20"/>
          <p:cNvSpPr txBox="1"/>
          <p:nvPr/>
        </p:nvSpPr>
        <p:spPr>
          <a:xfrm>
            <a:off x="5225550" y="4300575"/>
            <a:ext cx="32469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Clr>
                <a:schemeClr val="dk1"/>
              </a:buClr>
              <a:buSzPts val="1100"/>
              <a:buFont typeface="Arial"/>
              <a:buNone/>
            </a:pPr>
            <a:r>
              <a:rPr b="1" i="1" lang="el" u="sng">
                <a:solidFill>
                  <a:schemeClr val="dk2"/>
                </a:solidFill>
                <a:latin typeface="Times New Roman"/>
                <a:ea typeface="Times New Roman"/>
                <a:cs typeface="Times New Roman"/>
                <a:sym typeface="Times New Roman"/>
              </a:rPr>
              <a:t>θα μπορούσαμε να ενώσουμε όλες αυτες τις ιδεολογίες σε ένα δίκτυο?  </a:t>
            </a:r>
            <a:endParaRPr b="1" i="1" u="sng">
              <a:solidFill>
                <a:schemeClr val="dk2"/>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21"/>
          <p:cNvSpPr txBox="1"/>
          <p:nvPr>
            <p:ph type="ctrTitle"/>
          </p:nvPr>
        </p:nvSpPr>
        <p:spPr>
          <a:xfrm>
            <a:off x="1713925" y="23425"/>
            <a:ext cx="5624400" cy="9210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l" sz="3800">
                <a:latin typeface="Times New Roman"/>
                <a:ea typeface="Times New Roman"/>
                <a:cs typeface="Times New Roman"/>
                <a:sym typeface="Times New Roman"/>
              </a:rPr>
              <a:t>Bittensor (τ)</a:t>
            </a:r>
            <a:endParaRPr sz="3800">
              <a:latin typeface="Times New Roman"/>
              <a:ea typeface="Times New Roman"/>
              <a:cs typeface="Times New Roman"/>
              <a:sym typeface="Times New Roman"/>
            </a:endParaRPr>
          </a:p>
        </p:txBody>
      </p:sp>
      <p:sp>
        <p:nvSpPr>
          <p:cNvPr id="167" name="Google Shape;167;p21"/>
          <p:cNvSpPr txBox="1"/>
          <p:nvPr>
            <p:ph idx="1" type="subTitle"/>
          </p:nvPr>
        </p:nvSpPr>
        <p:spPr>
          <a:xfrm>
            <a:off x="350725" y="1129725"/>
            <a:ext cx="8520600" cy="3709500"/>
          </a:xfrm>
          <a:prstGeom prst="rect">
            <a:avLst/>
          </a:prstGeom>
        </p:spPr>
        <p:txBody>
          <a:bodyPr anchorCtr="0" anchor="t" bIns="91425" lIns="91425" spcFirstLastPara="1" rIns="91425" wrap="square" tIns="91425">
            <a:normAutofit fontScale="55000" lnSpcReduction="20000"/>
          </a:bodyPr>
          <a:lstStyle/>
          <a:p>
            <a:pPr indent="0" lvl="0" marL="0" rtl="0" algn="ctr">
              <a:spcBef>
                <a:spcPts val="0"/>
              </a:spcBef>
              <a:spcAft>
                <a:spcPts val="0"/>
              </a:spcAft>
              <a:buNone/>
            </a:pPr>
            <a:r>
              <a:rPr b="1" i="1" lang="el">
                <a:latin typeface="Times New Roman"/>
                <a:ea typeface="Times New Roman"/>
                <a:cs typeface="Times New Roman"/>
                <a:sym typeface="Times New Roman"/>
              </a:rPr>
              <a:t>Decentralized Intelligence (Web4)</a:t>
            </a:r>
            <a:endParaRPr b="1" i="1">
              <a:latin typeface="Times New Roman"/>
              <a:ea typeface="Times New Roman"/>
              <a:cs typeface="Times New Roman"/>
              <a:sym typeface="Times New Roman"/>
            </a:endParaRPr>
          </a:p>
          <a:p>
            <a:pPr indent="0" lvl="0" marL="0" rtl="0" algn="l">
              <a:spcBef>
                <a:spcPts val="0"/>
              </a:spcBef>
              <a:spcAft>
                <a:spcPts val="0"/>
              </a:spcAft>
              <a:buNone/>
            </a:pPr>
            <a:r>
              <a:t/>
            </a:r>
            <a:endParaRPr b="1" i="1">
              <a:latin typeface="Times New Roman"/>
              <a:ea typeface="Times New Roman"/>
              <a:cs typeface="Times New Roman"/>
              <a:sym typeface="Times New Roman"/>
            </a:endParaRPr>
          </a:p>
          <a:p>
            <a:pPr indent="0" lvl="0" marL="0" rtl="0" algn="l">
              <a:spcBef>
                <a:spcPts val="0"/>
              </a:spcBef>
              <a:spcAft>
                <a:spcPts val="0"/>
              </a:spcAft>
              <a:buNone/>
            </a:pPr>
            <a:r>
              <a:t/>
            </a:r>
            <a:endParaRPr b="1" i="1">
              <a:latin typeface="Times New Roman"/>
              <a:ea typeface="Times New Roman"/>
              <a:cs typeface="Times New Roman"/>
              <a:sym typeface="Times New Roman"/>
            </a:endParaRPr>
          </a:p>
          <a:p>
            <a:pPr indent="0" lvl="0" marL="0" rtl="0" algn="l">
              <a:spcBef>
                <a:spcPts val="0"/>
              </a:spcBef>
              <a:spcAft>
                <a:spcPts val="0"/>
              </a:spcAft>
              <a:buNone/>
            </a:pPr>
            <a:r>
              <a:rPr b="1" i="1" lang="el">
                <a:latin typeface="Times New Roman"/>
                <a:ea typeface="Times New Roman"/>
                <a:cs typeface="Times New Roman"/>
                <a:sym typeface="Times New Roman"/>
              </a:rPr>
              <a:t>AI x Blockchain                         Bittensor = Global Coordination Layer for Problem Solving           </a:t>
            </a:r>
            <a:endParaRPr b="1" i="1">
              <a:latin typeface="Times New Roman"/>
              <a:ea typeface="Times New Roman"/>
              <a:cs typeface="Times New Roman"/>
              <a:sym typeface="Times New Roman"/>
            </a:endParaRPr>
          </a:p>
          <a:p>
            <a:pPr indent="0" lvl="0" marL="0" rtl="0" algn="l">
              <a:spcBef>
                <a:spcPts val="0"/>
              </a:spcBef>
              <a:spcAft>
                <a:spcPts val="0"/>
              </a:spcAft>
              <a:buNone/>
            </a:pPr>
            <a:r>
              <a:t/>
            </a:r>
            <a:endParaRPr i="1">
              <a:latin typeface="Times New Roman"/>
              <a:ea typeface="Times New Roman"/>
              <a:cs typeface="Times New Roman"/>
              <a:sym typeface="Times New Roman"/>
            </a:endParaRPr>
          </a:p>
          <a:p>
            <a:pPr indent="0" lvl="0" marL="0" rtl="0" algn="l">
              <a:spcBef>
                <a:spcPts val="0"/>
              </a:spcBef>
              <a:spcAft>
                <a:spcPts val="0"/>
              </a:spcAft>
              <a:buNone/>
            </a:pPr>
            <a:r>
              <a:t/>
            </a:r>
            <a:endParaRPr i="1">
              <a:latin typeface="Times New Roman"/>
              <a:ea typeface="Times New Roman"/>
              <a:cs typeface="Times New Roman"/>
              <a:sym typeface="Times New Roman"/>
            </a:endParaRPr>
          </a:p>
          <a:p>
            <a:pPr indent="0" lvl="0" marL="0" rtl="0" algn="l">
              <a:spcBef>
                <a:spcPts val="0"/>
              </a:spcBef>
              <a:spcAft>
                <a:spcPts val="0"/>
              </a:spcAft>
              <a:buNone/>
            </a:pPr>
            <a:r>
              <a:rPr i="1" lang="el">
                <a:latin typeface="Times New Roman"/>
                <a:ea typeface="Times New Roman"/>
                <a:cs typeface="Times New Roman"/>
                <a:sym typeface="Times New Roman"/>
              </a:rPr>
              <a:t>~ Μεμονωμένες “εταιρείες”(Subnets) ανταγωνίζονται μεταξύ τους για να </a:t>
            </a:r>
            <a:r>
              <a:rPr i="1" lang="el">
                <a:latin typeface="Times New Roman"/>
                <a:ea typeface="Times New Roman"/>
                <a:cs typeface="Times New Roman"/>
                <a:sym typeface="Times New Roman"/>
              </a:rPr>
              <a:t>παραγουν</a:t>
            </a:r>
            <a:r>
              <a:rPr i="1" lang="el">
                <a:latin typeface="Times New Roman"/>
                <a:ea typeface="Times New Roman"/>
                <a:cs typeface="Times New Roman"/>
                <a:sym typeface="Times New Roman"/>
              </a:rPr>
              <a:t> τα καλύτερα </a:t>
            </a:r>
            <a:r>
              <a:rPr i="1" lang="el">
                <a:latin typeface="Times New Roman"/>
                <a:ea typeface="Times New Roman"/>
                <a:cs typeface="Times New Roman"/>
                <a:sym typeface="Times New Roman"/>
              </a:rPr>
              <a:t>προϊόντα</a:t>
            </a:r>
            <a:r>
              <a:rPr i="1" lang="el">
                <a:latin typeface="Times New Roman"/>
                <a:ea typeface="Times New Roman"/>
                <a:cs typeface="Times New Roman"/>
                <a:sym typeface="Times New Roman"/>
              </a:rPr>
              <a:t>. </a:t>
            </a:r>
            <a:endParaRPr i="1">
              <a:latin typeface="Times New Roman"/>
              <a:ea typeface="Times New Roman"/>
              <a:cs typeface="Times New Roman"/>
              <a:sym typeface="Times New Roman"/>
            </a:endParaRPr>
          </a:p>
          <a:p>
            <a:pPr indent="0" lvl="0" marL="0" rtl="0" algn="l">
              <a:spcBef>
                <a:spcPts val="0"/>
              </a:spcBef>
              <a:spcAft>
                <a:spcPts val="0"/>
              </a:spcAft>
              <a:buNone/>
            </a:pPr>
            <a:r>
              <a:t/>
            </a:r>
            <a:endParaRPr i="1">
              <a:latin typeface="Times New Roman"/>
              <a:ea typeface="Times New Roman"/>
              <a:cs typeface="Times New Roman"/>
              <a:sym typeface="Times New Roman"/>
            </a:endParaRPr>
          </a:p>
          <a:p>
            <a:pPr indent="0" lvl="0" marL="0" rtl="0" algn="l">
              <a:spcBef>
                <a:spcPts val="0"/>
              </a:spcBef>
              <a:spcAft>
                <a:spcPts val="0"/>
              </a:spcAft>
              <a:buNone/>
            </a:pPr>
            <a:r>
              <a:rPr i="1" lang="el">
                <a:latin typeface="Times New Roman"/>
                <a:ea typeface="Times New Roman"/>
                <a:cs typeface="Times New Roman"/>
                <a:sym typeface="Times New Roman"/>
              </a:rPr>
              <a:t>~Οι “εργατες”(Miners) ανταγωνίζονται μεταξύ τους για να </a:t>
            </a:r>
            <a:r>
              <a:rPr i="1" lang="el">
                <a:latin typeface="Times New Roman"/>
                <a:ea typeface="Times New Roman"/>
                <a:cs typeface="Times New Roman"/>
                <a:sym typeface="Times New Roman"/>
              </a:rPr>
              <a:t>παράγουν</a:t>
            </a:r>
            <a:r>
              <a:rPr i="1" lang="el">
                <a:latin typeface="Times New Roman"/>
                <a:ea typeface="Times New Roman"/>
                <a:cs typeface="Times New Roman"/>
                <a:sym typeface="Times New Roman"/>
              </a:rPr>
              <a:t> την καλύτερη δουλειά που έχει ανατεθεί. </a:t>
            </a:r>
            <a:endParaRPr i="1">
              <a:latin typeface="Times New Roman"/>
              <a:ea typeface="Times New Roman"/>
              <a:cs typeface="Times New Roman"/>
              <a:sym typeface="Times New Roman"/>
            </a:endParaRPr>
          </a:p>
          <a:p>
            <a:pPr indent="0" lvl="0" marL="0" rtl="0" algn="l">
              <a:spcBef>
                <a:spcPts val="0"/>
              </a:spcBef>
              <a:spcAft>
                <a:spcPts val="0"/>
              </a:spcAft>
              <a:buNone/>
            </a:pPr>
            <a:r>
              <a:t/>
            </a:r>
            <a:endParaRPr i="1">
              <a:latin typeface="Times New Roman"/>
              <a:ea typeface="Times New Roman"/>
              <a:cs typeface="Times New Roman"/>
              <a:sym typeface="Times New Roman"/>
            </a:endParaRPr>
          </a:p>
          <a:p>
            <a:pPr indent="0" lvl="0" marL="0" rtl="0" algn="l">
              <a:spcBef>
                <a:spcPts val="0"/>
              </a:spcBef>
              <a:spcAft>
                <a:spcPts val="0"/>
              </a:spcAft>
              <a:buNone/>
            </a:pPr>
            <a:r>
              <a:rPr i="1" lang="el">
                <a:latin typeface="Times New Roman"/>
                <a:ea typeface="Times New Roman"/>
                <a:cs typeface="Times New Roman"/>
                <a:sym typeface="Times New Roman"/>
              </a:rPr>
              <a:t>~Οι “επιβλέπων”(Validators) ανταγωνίζονται μεταξύ τους ελέγχωντας την δουλειά των εργατών. </a:t>
            </a:r>
            <a:endParaRPr i="1">
              <a:latin typeface="Times New Roman"/>
              <a:ea typeface="Times New Roman"/>
              <a:cs typeface="Times New Roman"/>
              <a:sym typeface="Times New Roman"/>
            </a:endParaRPr>
          </a:p>
          <a:p>
            <a:pPr indent="0" lvl="0" marL="0" rtl="0" algn="l">
              <a:spcBef>
                <a:spcPts val="0"/>
              </a:spcBef>
              <a:spcAft>
                <a:spcPts val="0"/>
              </a:spcAft>
              <a:buNone/>
            </a:pPr>
            <a:r>
              <a:t/>
            </a:r>
            <a:endParaRPr i="1">
              <a:latin typeface="Times New Roman"/>
              <a:ea typeface="Times New Roman"/>
              <a:cs typeface="Times New Roman"/>
              <a:sym typeface="Times New Roman"/>
            </a:endParaRPr>
          </a:p>
          <a:p>
            <a:pPr indent="0" lvl="0" marL="0" rtl="0" algn="l">
              <a:spcBef>
                <a:spcPts val="0"/>
              </a:spcBef>
              <a:spcAft>
                <a:spcPts val="0"/>
              </a:spcAft>
              <a:buNone/>
            </a:pPr>
            <a:r>
              <a:t/>
            </a:r>
            <a:endParaRPr i="1">
              <a:latin typeface="Times New Roman"/>
              <a:ea typeface="Times New Roman"/>
              <a:cs typeface="Times New Roman"/>
              <a:sym typeface="Times New Roman"/>
            </a:endParaRPr>
          </a:p>
          <a:p>
            <a:pPr indent="0" lvl="0" marL="0" rtl="0" algn="l">
              <a:spcBef>
                <a:spcPts val="0"/>
              </a:spcBef>
              <a:spcAft>
                <a:spcPts val="0"/>
              </a:spcAft>
              <a:buNone/>
            </a:pPr>
            <a:r>
              <a:rPr i="1" lang="el">
                <a:latin typeface="Times New Roman"/>
                <a:ea typeface="Times New Roman"/>
                <a:cs typeface="Times New Roman"/>
                <a:sym typeface="Times New Roman"/>
              </a:rPr>
              <a:t>Είναι αρκετά Ικανός?                                                                  </a:t>
            </a:r>
            <a:r>
              <a:rPr i="1" lang="el">
                <a:latin typeface="Times New Roman"/>
                <a:ea typeface="Times New Roman"/>
                <a:cs typeface="Times New Roman"/>
                <a:sym typeface="Times New Roman"/>
              </a:rPr>
              <a:t>Αμείβεται</a:t>
            </a:r>
            <a:endParaRPr i="1">
              <a:latin typeface="Times New Roman"/>
              <a:ea typeface="Times New Roman"/>
              <a:cs typeface="Times New Roman"/>
              <a:sym typeface="Times New Roman"/>
            </a:endParaRPr>
          </a:p>
          <a:p>
            <a:pPr indent="0" lvl="0" marL="0" rtl="0" algn="l">
              <a:spcBef>
                <a:spcPts val="0"/>
              </a:spcBef>
              <a:spcAft>
                <a:spcPts val="0"/>
              </a:spcAft>
              <a:buNone/>
            </a:pPr>
            <a:r>
              <a:t/>
            </a:r>
            <a:endParaRPr i="1">
              <a:latin typeface="Times New Roman"/>
              <a:ea typeface="Times New Roman"/>
              <a:cs typeface="Times New Roman"/>
              <a:sym typeface="Times New Roman"/>
            </a:endParaRPr>
          </a:p>
          <a:p>
            <a:pPr indent="0" lvl="0" marL="0" rtl="0" algn="l">
              <a:spcBef>
                <a:spcPts val="0"/>
              </a:spcBef>
              <a:spcAft>
                <a:spcPts val="0"/>
              </a:spcAft>
              <a:buNone/>
            </a:pPr>
            <a:r>
              <a:t/>
            </a:r>
            <a:endParaRPr i="1">
              <a:latin typeface="Times New Roman"/>
              <a:ea typeface="Times New Roman"/>
              <a:cs typeface="Times New Roman"/>
              <a:sym typeface="Times New Roman"/>
            </a:endParaRPr>
          </a:p>
        </p:txBody>
      </p:sp>
      <p:sp>
        <p:nvSpPr>
          <p:cNvPr id="168" name="Google Shape;168;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l"/>
              <a:t>‹#›</a:t>
            </a:fld>
            <a:endParaRPr/>
          </a:p>
        </p:txBody>
      </p:sp>
      <p:cxnSp>
        <p:nvCxnSpPr>
          <p:cNvPr id="169" name="Google Shape;169;p21"/>
          <p:cNvCxnSpPr/>
          <p:nvPr/>
        </p:nvCxnSpPr>
        <p:spPr>
          <a:xfrm>
            <a:off x="2183725" y="928825"/>
            <a:ext cx="4684800" cy="15600"/>
          </a:xfrm>
          <a:prstGeom prst="straightConnector1">
            <a:avLst/>
          </a:prstGeom>
          <a:noFill/>
          <a:ln cap="flat" cmpd="sng" w="9525">
            <a:solidFill>
              <a:schemeClr val="dk2"/>
            </a:solidFill>
            <a:prstDash val="solid"/>
            <a:round/>
            <a:headEnd len="med" w="med" type="none"/>
            <a:tailEnd len="med" w="med" type="none"/>
          </a:ln>
        </p:spPr>
      </p:cxnSp>
      <p:pic>
        <p:nvPicPr>
          <p:cNvPr id="170" name="Google Shape;170;p21"/>
          <p:cNvPicPr preferRelativeResize="0"/>
          <p:nvPr/>
        </p:nvPicPr>
        <p:blipFill>
          <a:blip r:embed="rId3">
            <a:alphaModFix/>
          </a:blip>
          <a:stretch>
            <a:fillRect/>
          </a:stretch>
        </p:blipFill>
        <p:spPr>
          <a:xfrm>
            <a:off x="7764350" y="220725"/>
            <a:ext cx="708101" cy="708101"/>
          </a:xfrm>
          <a:prstGeom prst="rect">
            <a:avLst/>
          </a:prstGeom>
          <a:noFill/>
          <a:ln>
            <a:noFill/>
          </a:ln>
        </p:spPr>
      </p:pic>
      <p:sp>
        <p:nvSpPr>
          <p:cNvPr id="171" name="Google Shape;171;p21"/>
          <p:cNvSpPr/>
          <p:nvPr/>
        </p:nvSpPr>
        <p:spPr>
          <a:xfrm>
            <a:off x="2240025" y="3785425"/>
            <a:ext cx="2973600" cy="257700"/>
          </a:xfrm>
          <a:prstGeom prst="notched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2"/>
          <p:cNvSpPr txBox="1"/>
          <p:nvPr>
            <p:ph type="ctrTitle"/>
          </p:nvPr>
        </p:nvSpPr>
        <p:spPr>
          <a:xfrm>
            <a:off x="-1025" y="0"/>
            <a:ext cx="4870800" cy="10068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l" sz="3400">
                <a:latin typeface="Times New Roman"/>
                <a:ea typeface="Times New Roman"/>
                <a:cs typeface="Times New Roman"/>
                <a:sym typeface="Times New Roman"/>
              </a:rPr>
              <a:t>Πως λειτουργε</a:t>
            </a:r>
            <a:r>
              <a:rPr lang="el" sz="3400">
                <a:latin typeface="Times New Roman"/>
                <a:ea typeface="Times New Roman"/>
                <a:cs typeface="Times New Roman"/>
                <a:sym typeface="Times New Roman"/>
              </a:rPr>
              <a:t>ί;</a:t>
            </a:r>
            <a:endParaRPr sz="3400">
              <a:latin typeface="Times New Roman"/>
              <a:ea typeface="Times New Roman"/>
              <a:cs typeface="Times New Roman"/>
              <a:sym typeface="Times New Roman"/>
            </a:endParaRPr>
          </a:p>
        </p:txBody>
      </p:sp>
      <p:sp>
        <p:nvSpPr>
          <p:cNvPr id="177" name="Google Shape;177;p22"/>
          <p:cNvSpPr txBox="1"/>
          <p:nvPr>
            <p:ph idx="1" type="subTitle"/>
          </p:nvPr>
        </p:nvSpPr>
        <p:spPr>
          <a:xfrm>
            <a:off x="311700" y="1358075"/>
            <a:ext cx="5823000" cy="10068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b="1" i="1" lang="el" sz="1700">
                <a:solidFill>
                  <a:schemeClr val="dk1"/>
                </a:solidFill>
                <a:latin typeface="Times New Roman"/>
                <a:ea typeface="Times New Roman"/>
                <a:cs typeface="Times New Roman"/>
                <a:sym typeface="Times New Roman"/>
              </a:rPr>
              <a:t>Παραδοσιακή αγορά:</a:t>
            </a:r>
            <a:r>
              <a:rPr i="1" lang="el" sz="1700">
                <a:solidFill>
                  <a:schemeClr val="dk1"/>
                </a:solidFill>
                <a:latin typeface="Times New Roman"/>
                <a:ea typeface="Times New Roman"/>
                <a:cs typeface="Times New Roman"/>
                <a:sym typeface="Times New Roman"/>
              </a:rPr>
              <a:t> Τράπεζα ή κάποιος κεντρικός θεσμός αναλαμβάνει την ευθύνη παραγωγής-τυπώματος χρήματος.  </a:t>
            </a:r>
            <a:endParaRPr i="1" sz="1700">
              <a:solidFill>
                <a:schemeClr val="dk1"/>
              </a:solidFill>
              <a:latin typeface="Times New Roman"/>
              <a:ea typeface="Times New Roman"/>
              <a:cs typeface="Times New Roman"/>
              <a:sym typeface="Times New Roman"/>
            </a:endParaRPr>
          </a:p>
          <a:p>
            <a:pPr indent="0" lvl="0" marL="0" rtl="0" algn="ctr">
              <a:spcBef>
                <a:spcPts val="0"/>
              </a:spcBef>
              <a:spcAft>
                <a:spcPts val="0"/>
              </a:spcAft>
              <a:buNone/>
            </a:pPr>
            <a:r>
              <a:rPr i="1" lang="el" sz="1700">
                <a:solidFill>
                  <a:schemeClr val="dk1"/>
                </a:solidFill>
                <a:latin typeface="Times New Roman"/>
                <a:ea typeface="Times New Roman"/>
                <a:cs typeface="Times New Roman"/>
                <a:sym typeface="Times New Roman"/>
              </a:rPr>
              <a:t>Λάθος διαχείριση = Έντονος </a:t>
            </a:r>
            <a:r>
              <a:rPr i="1" lang="el" sz="1700">
                <a:solidFill>
                  <a:schemeClr val="dk1"/>
                </a:solidFill>
                <a:latin typeface="Times New Roman"/>
                <a:ea typeface="Times New Roman"/>
                <a:cs typeface="Times New Roman"/>
                <a:sym typeface="Times New Roman"/>
              </a:rPr>
              <a:t>Πληθωρισμος</a:t>
            </a:r>
            <a:r>
              <a:rPr i="1" lang="el" sz="1700">
                <a:solidFill>
                  <a:schemeClr val="dk1"/>
                </a:solidFill>
                <a:latin typeface="Times New Roman"/>
                <a:ea typeface="Times New Roman"/>
                <a:cs typeface="Times New Roman"/>
                <a:sym typeface="Times New Roman"/>
              </a:rPr>
              <a:t>.  </a:t>
            </a:r>
            <a:endParaRPr i="1">
              <a:latin typeface="Times New Roman"/>
              <a:ea typeface="Times New Roman"/>
              <a:cs typeface="Times New Roman"/>
              <a:sym typeface="Times New Roman"/>
            </a:endParaRPr>
          </a:p>
        </p:txBody>
      </p:sp>
      <p:sp>
        <p:nvSpPr>
          <p:cNvPr id="178" name="Google Shape;178;p2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l"/>
              <a:t>‹#›</a:t>
            </a:fld>
            <a:endParaRPr/>
          </a:p>
        </p:txBody>
      </p:sp>
      <p:cxnSp>
        <p:nvCxnSpPr>
          <p:cNvPr id="179" name="Google Shape;179;p22"/>
          <p:cNvCxnSpPr/>
          <p:nvPr/>
        </p:nvCxnSpPr>
        <p:spPr>
          <a:xfrm>
            <a:off x="91975" y="952250"/>
            <a:ext cx="4684800" cy="15600"/>
          </a:xfrm>
          <a:prstGeom prst="straightConnector1">
            <a:avLst/>
          </a:prstGeom>
          <a:noFill/>
          <a:ln cap="flat" cmpd="sng" w="9525">
            <a:solidFill>
              <a:schemeClr val="dk2"/>
            </a:solidFill>
            <a:prstDash val="solid"/>
            <a:round/>
            <a:headEnd len="med" w="med" type="none"/>
            <a:tailEnd len="med" w="med" type="none"/>
          </a:ln>
        </p:spPr>
      </p:cxnSp>
      <p:pic>
        <p:nvPicPr>
          <p:cNvPr id="180" name="Google Shape;180;p22"/>
          <p:cNvPicPr preferRelativeResize="0"/>
          <p:nvPr/>
        </p:nvPicPr>
        <p:blipFill>
          <a:blip r:embed="rId3">
            <a:alphaModFix/>
          </a:blip>
          <a:stretch>
            <a:fillRect/>
          </a:stretch>
        </p:blipFill>
        <p:spPr>
          <a:xfrm>
            <a:off x="7584800" y="1006800"/>
            <a:ext cx="1436349" cy="1436349"/>
          </a:xfrm>
          <a:prstGeom prst="rect">
            <a:avLst/>
          </a:prstGeom>
          <a:noFill/>
          <a:ln>
            <a:noFill/>
          </a:ln>
        </p:spPr>
      </p:pic>
      <p:pic>
        <p:nvPicPr>
          <p:cNvPr id="181" name="Google Shape;181;p22"/>
          <p:cNvPicPr preferRelativeResize="0"/>
          <p:nvPr/>
        </p:nvPicPr>
        <p:blipFill>
          <a:blip r:embed="rId4">
            <a:alphaModFix/>
          </a:blip>
          <a:stretch>
            <a:fillRect/>
          </a:stretch>
        </p:blipFill>
        <p:spPr>
          <a:xfrm>
            <a:off x="6375817" y="3118425"/>
            <a:ext cx="2556359" cy="1436350"/>
          </a:xfrm>
          <a:prstGeom prst="rect">
            <a:avLst/>
          </a:prstGeom>
          <a:noFill/>
          <a:ln>
            <a:noFill/>
          </a:ln>
        </p:spPr>
      </p:pic>
      <p:sp>
        <p:nvSpPr>
          <p:cNvPr id="182" name="Google Shape;182;p22"/>
          <p:cNvSpPr txBox="1"/>
          <p:nvPr>
            <p:ph idx="1" type="subTitle"/>
          </p:nvPr>
        </p:nvSpPr>
        <p:spPr>
          <a:xfrm>
            <a:off x="311700" y="2755100"/>
            <a:ext cx="5932200" cy="17910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b="1" i="1" lang="el" sz="1700">
                <a:solidFill>
                  <a:schemeClr val="dk1"/>
                </a:solidFill>
                <a:latin typeface="Times New Roman"/>
                <a:ea typeface="Times New Roman"/>
                <a:cs typeface="Times New Roman"/>
                <a:sym typeface="Times New Roman"/>
              </a:rPr>
              <a:t>Bittensor</a:t>
            </a:r>
            <a:r>
              <a:rPr b="1" i="1" lang="el" sz="1700">
                <a:solidFill>
                  <a:schemeClr val="dk1"/>
                </a:solidFill>
                <a:latin typeface="Times New Roman"/>
                <a:ea typeface="Times New Roman"/>
                <a:cs typeface="Times New Roman"/>
                <a:sym typeface="Times New Roman"/>
              </a:rPr>
              <a:t>: </a:t>
            </a:r>
            <a:r>
              <a:rPr i="1" lang="el" sz="1700">
                <a:solidFill>
                  <a:schemeClr val="dk1"/>
                </a:solidFill>
                <a:latin typeface="Times New Roman"/>
                <a:ea typeface="Times New Roman"/>
                <a:cs typeface="Times New Roman"/>
                <a:sym typeface="Times New Roman"/>
              </a:rPr>
              <a:t> </a:t>
            </a:r>
            <a:endParaRPr i="1" sz="1700">
              <a:solidFill>
                <a:schemeClr val="dk1"/>
              </a:solidFill>
              <a:latin typeface="Times New Roman"/>
              <a:ea typeface="Times New Roman"/>
              <a:cs typeface="Times New Roman"/>
              <a:sym typeface="Times New Roman"/>
            </a:endParaRPr>
          </a:p>
          <a:p>
            <a:pPr indent="-328454" lvl="0" marL="457200" rtl="0" algn="l">
              <a:spcBef>
                <a:spcPts val="0"/>
              </a:spcBef>
              <a:spcAft>
                <a:spcPts val="0"/>
              </a:spcAft>
              <a:buClr>
                <a:schemeClr val="dk1"/>
              </a:buClr>
              <a:buSzPct val="100000"/>
              <a:buFont typeface="Times New Roman"/>
              <a:buChar char="-"/>
            </a:pPr>
            <a:r>
              <a:rPr i="1" lang="el" sz="1700">
                <a:solidFill>
                  <a:schemeClr val="dk1"/>
                </a:solidFill>
                <a:latin typeface="Times New Roman"/>
                <a:ea typeface="Times New Roman"/>
                <a:cs typeface="Times New Roman"/>
                <a:sym typeface="Times New Roman"/>
              </a:rPr>
              <a:t>Εκδίδονται TAO με σταθερ</a:t>
            </a:r>
            <a:r>
              <a:rPr i="1" lang="el" sz="1700">
                <a:solidFill>
                  <a:schemeClr val="dk1"/>
                </a:solidFill>
                <a:latin typeface="Times New Roman"/>
                <a:ea typeface="Times New Roman"/>
                <a:cs typeface="Times New Roman"/>
                <a:sym typeface="Times New Roman"/>
              </a:rPr>
              <a:t>ό</a:t>
            </a:r>
            <a:r>
              <a:rPr i="1" lang="el" sz="1700">
                <a:solidFill>
                  <a:schemeClr val="dk1"/>
                </a:solidFill>
                <a:latin typeface="Times New Roman"/>
                <a:ea typeface="Times New Roman"/>
                <a:cs typeface="Times New Roman"/>
                <a:sym typeface="Times New Roman"/>
              </a:rPr>
              <a:t> ρυθμό: μεχρι 21Μ</a:t>
            </a:r>
            <a:endParaRPr i="1" sz="1700">
              <a:solidFill>
                <a:schemeClr val="dk1"/>
              </a:solidFill>
              <a:latin typeface="Times New Roman"/>
              <a:ea typeface="Times New Roman"/>
              <a:cs typeface="Times New Roman"/>
              <a:sym typeface="Times New Roman"/>
            </a:endParaRPr>
          </a:p>
          <a:p>
            <a:pPr indent="-328454" lvl="0" marL="457200" rtl="0" algn="l">
              <a:spcBef>
                <a:spcPts val="0"/>
              </a:spcBef>
              <a:spcAft>
                <a:spcPts val="0"/>
              </a:spcAft>
              <a:buClr>
                <a:schemeClr val="dk1"/>
              </a:buClr>
              <a:buSzPct val="100000"/>
              <a:buFont typeface="Times New Roman"/>
              <a:buChar char="-"/>
            </a:pPr>
            <a:r>
              <a:rPr i="1" lang="el" sz="1700">
                <a:solidFill>
                  <a:schemeClr val="dk1"/>
                </a:solidFill>
                <a:latin typeface="Times New Roman"/>
                <a:ea typeface="Times New Roman"/>
                <a:cs typeface="Times New Roman"/>
                <a:sym typeface="Times New Roman"/>
              </a:rPr>
              <a:t>Halvings </a:t>
            </a:r>
            <a:endParaRPr i="1" sz="1700">
              <a:solidFill>
                <a:schemeClr val="dk1"/>
              </a:solidFill>
              <a:latin typeface="Times New Roman"/>
              <a:ea typeface="Times New Roman"/>
              <a:cs typeface="Times New Roman"/>
              <a:sym typeface="Times New Roman"/>
            </a:endParaRPr>
          </a:p>
          <a:p>
            <a:pPr indent="-328454" lvl="0" marL="457200" rtl="0" algn="l">
              <a:spcBef>
                <a:spcPts val="0"/>
              </a:spcBef>
              <a:spcAft>
                <a:spcPts val="0"/>
              </a:spcAft>
              <a:buClr>
                <a:schemeClr val="dk1"/>
              </a:buClr>
              <a:buSzPct val="100000"/>
              <a:buFont typeface="Times New Roman"/>
              <a:buChar char="-"/>
            </a:pPr>
            <a:r>
              <a:rPr i="1" lang="el" sz="1700">
                <a:solidFill>
                  <a:schemeClr val="dk1"/>
                </a:solidFill>
                <a:latin typeface="Times New Roman"/>
                <a:ea typeface="Times New Roman"/>
                <a:cs typeface="Times New Roman"/>
                <a:sym typeface="Times New Roman"/>
              </a:rPr>
              <a:t>Κανείς δεν τα παίρνει χωρίς να παράγει. </a:t>
            </a:r>
            <a:endParaRPr i="1" sz="1700">
              <a:solidFill>
                <a:schemeClr val="dk1"/>
              </a:solidFill>
              <a:latin typeface="Times New Roman"/>
              <a:ea typeface="Times New Roman"/>
              <a:cs typeface="Times New Roman"/>
              <a:sym typeface="Times New Roman"/>
            </a:endParaRPr>
          </a:p>
          <a:p>
            <a:pPr indent="-328454" lvl="0" marL="457200" rtl="0" algn="l">
              <a:spcBef>
                <a:spcPts val="0"/>
              </a:spcBef>
              <a:spcAft>
                <a:spcPts val="0"/>
              </a:spcAft>
              <a:buClr>
                <a:schemeClr val="dk1"/>
              </a:buClr>
              <a:buSzPct val="100000"/>
              <a:buFont typeface="Times New Roman"/>
              <a:buChar char="-"/>
            </a:pPr>
            <a:r>
              <a:rPr i="1" lang="el" sz="1700">
                <a:solidFill>
                  <a:schemeClr val="dk1"/>
                </a:solidFill>
                <a:latin typeface="Times New Roman"/>
                <a:ea typeface="Times New Roman"/>
                <a:cs typeface="Times New Roman"/>
                <a:sym typeface="Times New Roman"/>
              </a:rPr>
              <a:t>Μοιράζονται μόνο σε όσους προσφέρουν πραγματική ευφυΐα και εξέλιξη στο δίκτυο.</a:t>
            </a:r>
            <a:endParaRPr i="1" sz="17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ct val="64706"/>
              <a:buFont typeface="Arial"/>
              <a:buNone/>
            </a:pPr>
            <a:r>
              <a:t/>
            </a:r>
            <a:endParaRPr i="1" sz="17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i="1" sz="1700">
              <a:solidFill>
                <a:schemeClr val="dk1"/>
              </a:solidFill>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23"/>
          <p:cNvSpPr txBox="1"/>
          <p:nvPr>
            <p:ph type="ctrTitle"/>
          </p:nvPr>
        </p:nvSpPr>
        <p:spPr>
          <a:xfrm>
            <a:off x="91975" y="43850"/>
            <a:ext cx="4355700" cy="9084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l" sz="3400">
                <a:latin typeface="Times New Roman"/>
                <a:ea typeface="Times New Roman"/>
                <a:cs typeface="Times New Roman"/>
                <a:sym typeface="Times New Roman"/>
              </a:rPr>
              <a:t>Αρχιτεκτονικ</a:t>
            </a:r>
            <a:r>
              <a:rPr lang="el" sz="3400">
                <a:latin typeface="Times New Roman"/>
                <a:ea typeface="Times New Roman"/>
                <a:cs typeface="Times New Roman"/>
                <a:sym typeface="Times New Roman"/>
              </a:rPr>
              <a:t>ή</a:t>
            </a:r>
            <a:endParaRPr sz="3400">
              <a:latin typeface="Times New Roman"/>
              <a:ea typeface="Times New Roman"/>
              <a:cs typeface="Times New Roman"/>
              <a:sym typeface="Times New Roman"/>
            </a:endParaRPr>
          </a:p>
        </p:txBody>
      </p:sp>
      <p:sp>
        <p:nvSpPr>
          <p:cNvPr id="188" name="Google Shape;188;p2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l"/>
              <a:t>‹#›</a:t>
            </a:fld>
            <a:endParaRPr/>
          </a:p>
        </p:txBody>
      </p:sp>
      <p:cxnSp>
        <p:nvCxnSpPr>
          <p:cNvPr id="189" name="Google Shape;189;p23"/>
          <p:cNvCxnSpPr/>
          <p:nvPr/>
        </p:nvCxnSpPr>
        <p:spPr>
          <a:xfrm>
            <a:off x="91975" y="952250"/>
            <a:ext cx="4684800" cy="15600"/>
          </a:xfrm>
          <a:prstGeom prst="straightConnector1">
            <a:avLst/>
          </a:prstGeom>
          <a:noFill/>
          <a:ln cap="flat" cmpd="sng" w="9525">
            <a:solidFill>
              <a:schemeClr val="dk2"/>
            </a:solidFill>
            <a:prstDash val="solid"/>
            <a:round/>
            <a:headEnd len="med" w="med" type="none"/>
            <a:tailEnd len="med" w="med" type="none"/>
          </a:ln>
        </p:spPr>
      </p:cxnSp>
      <p:sp>
        <p:nvSpPr>
          <p:cNvPr id="190" name="Google Shape;190;p23"/>
          <p:cNvSpPr/>
          <p:nvPr/>
        </p:nvSpPr>
        <p:spPr>
          <a:xfrm>
            <a:off x="5815500" y="460525"/>
            <a:ext cx="2847300" cy="1646700"/>
          </a:xfrm>
          <a:prstGeom prst="wedgeRoundRectCallout">
            <a:avLst>
              <a:gd fmla="val -20833" name="adj1"/>
              <a:gd fmla="val 62500"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1" name="Google Shape;191;p23"/>
          <p:cNvSpPr txBox="1"/>
          <p:nvPr/>
        </p:nvSpPr>
        <p:spPr>
          <a:xfrm>
            <a:off x="6041075" y="612625"/>
            <a:ext cx="2318100" cy="1686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l">
                <a:solidFill>
                  <a:schemeClr val="dk1"/>
                </a:solidFill>
                <a:latin typeface="Times New Roman"/>
                <a:ea typeface="Times New Roman"/>
                <a:cs typeface="Times New Roman"/>
                <a:sym typeface="Times New Roman"/>
              </a:rPr>
              <a:t>Τα TAO</a:t>
            </a:r>
            <a:r>
              <a:rPr lang="el">
                <a:solidFill>
                  <a:schemeClr val="dk1"/>
                </a:solidFill>
                <a:latin typeface="Times New Roman"/>
                <a:ea typeface="Times New Roman"/>
                <a:cs typeface="Times New Roman"/>
                <a:sym typeface="Times New Roman"/>
              </a:rPr>
              <a:t> ρέουν προς τα subnets που παράγουν πραγματική αξία, Έτσι </a:t>
            </a:r>
            <a:r>
              <a:rPr b="1" lang="el">
                <a:solidFill>
                  <a:schemeClr val="dk1"/>
                </a:solidFill>
                <a:latin typeface="Times New Roman"/>
                <a:ea typeface="Times New Roman"/>
                <a:cs typeface="Times New Roman"/>
                <a:sym typeface="Times New Roman"/>
              </a:rPr>
              <a:t>η ίδια η αγορά είναι ο εργοδότης</a:t>
            </a:r>
            <a:r>
              <a:rPr lang="el">
                <a:solidFill>
                  <a:schemeClr val="dk1"/>
                </a:solidFill>
                <a:latin typeface="Times New Roman"/>
                <a:ea typeface="Times New Roman"/>
                <a:cs typeface="Times New Roman"/>
                <a:sym typeface="Times New Roman"/>
              </a:rPr>
              <a:t>.</a:t>
            </a:r>
            <a:endParaRPr>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a:solidFill>
                <a:schemeClr val="dk2"/>
              </a:solidFill>
              <a:latin typeface="Times New Roman"/>
              <a:ea typeface="Times New Roman"/>
              <a:cs typeface="Times New Roman"/>
              <a:sym typeface="Times New Roman"/>
            </a:endParaRPr>
          </a:p>
        </p:txBody>
      </p:sp>
      <p:pic>
        <p:nvPicPr>
          <p:cNvPr id="192" name="Google Shape;192;p23"/>
          <p:cNvPicPr preferRelativeResize="0"/>
          <p:nvPr/>
        </p:nvPicPr>
        <p:blipFill>
          <a:blip r:embed="rId3">
            <a:alphaModFix/>
          </a:blip>
          <a:stretch>
            <a:fillRect/>
          </a:stretch>
        </p:blipFill>
        <p:spPr>
          <a:xfrm>
            <a:off x="225825" y="1201975"/>
            <a:ext cx="5356074" cy="3012800"/>
          </a:xfrm>
          <a:prstGeom prst="rect">
            <a:avLst/>
          </a:prstGeom>
          <a:noFill/>
          <a:ln>
            <a:noFill/>
          </a:ln>
        </p:spPr>
      </p:pic>
      <p:pic>
        <p:nvPicPr>
          <p:cNvPr id="193" name="Google Shape;193;p23"/>
          <p:cNvPicPr preferRelativeResize="0"/>
          <p:nvPr/>
        </p:nvPicPr>
        <p:blipFill>
          <a:blip r:embed="rId4">
            <a:alphaModFix/>
          </a:blip>
          <a:stretch>
            <a:fillRect/>
          </a:stretch>
        </p:blipFill>
        <p:spPr>
          <a:xfrm>
            <a:off x="5955225" y="2439275"/>
            <a:ext cx="1701501" cy="1822326"/>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24"/>
          <p:cNvSpPr txBox="1"/>
          <p:nvPr>
            <p:ph type="ctrTitle"/>
          </p:nvPr>
        </p:nvSpPr>
        <p:spPr>
          <a:xfrm>
            <a:off x="91975" y="-34150"/>
            <a:ext cx="4653600" cy="10020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l" sz="3400">
                <a:latin typeface="Times New Roman"/>
                <a:ea typeface="Times New Roman"/>
                <a:cs typeface="Times New Roman"/>
                <a:sym typeface="Times New Roman"/>
              </a:rPr>
              <a:t>Darwinian Selection</a:t>
            </a:r>
            <a:endParaRPr sz="3400">
              <a:latin typeface="Times New Roman"/>
              <a:ea typeface="Times New Roman"/>
              <a:cs typeface="Times New Roman"/>
              <a:sym typeface="Times New Roman"/>
            </a:endParaRPr>
          </a:p>
        </p:txBody>
      </p:sp>
      <p:sp>
        <p:nvSpPr>
          <p:cNvPr id="199" name="Google Shape;199;p24"/>
          <p:cNvSpPr txBox="1"/>
          <p:nvPr>
            <p:ph idx="1" type="subTitle"/>
          </p:nvPr>
        </p:nvSpPr>
        <p:spPr>
          <a:xfrm>
            <a:off x="311700" y="1443925"/>
            <a:ext cx="6844800" cy="3621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b="1" lang="el" sz="2100">
                <a:latin typeface="Times New Roman"/>
                <a:ea typeface="Times New Roman"/>
                <a:cs typeface="Times New Roman"/>
                <a:sym typeface="Times New Roman"/>
              </a:rPr>
              <a:t>Μ</a:t>
            </a:r>
            <a:r>
              <a:rPr b="1" lang="el" sz="2100">
                <a:latin typeface="Times New Roman"/>
                <a:ea typeface="Times New Roman"/>
                <a:cs typeface="Times New Roman"/>
                <a:sym typeface="Times New Roman"/>
              </a:rPr>
              <a:t>όνο οι Καλύτεροι επιβραβεύονται.</a:t>
            </a:r>
            <a:endParaRPr b="1" sz="2100">
              <a:latin typeface="Times New Roman"/>
              <a:ea typeface="Times New Roman"/>
              <a:cs typeface="Times New Roman"/>
              <a:sym typeface="Times New Roman"/>
            </a:endParaRPr>
          </a:p>
          <a:p>
            <a:pPr indent="0" lvl="0" marL="0" rtl="0" algn="ctr">
              <a:spcBef>
                <a:spcPts val="0"/>
              </a:spcBef>
              <a:spcAft>
                <a:spcPts val="0"/>
              </a:spcAft>
              <a:buNone/>
            </a:pPr>
            <a:r>
              <a:t/>
            </a:r>
            <a:endParaRPr sz="2100">
              <a:latin typeface="Times New Roman"/>
              <a:ea typeface="Times New Roman"/>
              <a:cs typeface="Times New Roman"/>
              <a:sym typeface="Times New Roman"/>
            </a:endParaRPr>
          </a:p>
          <a:p>
            <a:pPr indent="0" lvl="0" marL="0" rtl="0" algn="ctr">
              <a:spcBef>
                <a:spcPts val="0"/>
              </a:spcBef>
              <a:spcAft>
                <a:spcPts val="0"/>
              </a:spcAft>
              <a:buNone/>
            </a:pPr>
            <a:r>
              <a:t/>
            </a:r>
            <a:endParaRPr sz="2100">
              <a:latin typeface="Times New Roman"/>
              <a:ea typeface="Times New Roman"/>
              <a:cs typeface="Times New Roman"/>
              <a:sym typeface="Times New Roman"/>
            </a:endParaRPr>
          </a:p>
          <a:p>
            <a:pPr indent="0" lvl="0" marL="0" rtl="0" algn="l">
              <a:spcBef>
                <a:spcPts val="0"/>
              </a:spcBef>
              <a:spcAft>
                <a:spcPts val="0"/>
              </a:spcAft>
              <a:buNone/>
            </a:pPr>
            <a:r>
              <a:rPr lang="el" sz="2100">
                <a:latin typeface="Times New Roman"/>
                <a:ea typeface="Times New Roman"/>
                <a:cs typeface="Times New Roman"/>
                <a:sym typeface="Times New Roman"/>
              </a:rPr>
              <a:t>Miners</a:t>
            </a:r>
            <a:r>
              <a:rPr lang="el" sz="2100">
                <a:latin typeface="Times New Roman"/>
                <a:ea typeface="Times New Roman"/>
                <a:cs typeface="Times New Roman"/>
                <a:sym typeface="Times New Roman"/>
              </a:rPr>
              <a:t> vs Miners</a:t>
            </a:r>
            <a:endParaRPr sz="2100">
              <a:latin typeface="Times New Roman"/>
              <a:ea typeface="Times New Roman"/>
              <a:cs typeface="Times New Roman"/>
              <a:sym typeface="Times New Roman"/>
            </a:endParaRPr>
          </a:p>
          <a:p>
            <a:pPr indent="0" lvl="0" marL="0" rtl="0" algn="l">
              <a:spcBef>
                <a:spcPts val="0"/>
              </a:spcBef>
              <a:spcAft>
                <a:spcPts val="0"/>
              </a:spcAft>
              <a:buNone/>
            </a:pPr>
            <a:r>
              <a:rPr lang="el" sz="2100">
                <a:latin typeface="Times New Roman"/>
                <a:ea typeface="Times New Roman"/>
                <a:cs typeface="Times New Roman"/>
                <a:sym typeface="Times New Roman"/>
              </a:rPr>
              <a:t>Validators vs Validators</a:t>
            </a:r>
            <a:endParaRPr sz="2100">
              <a:latin typeface="Times New Roman"/>
              <a:ea typeface="Times New Roman"/>
              <a:cs typeface="Times New Roman"/>
              <a:sym typeface="Times New Roman"/>
            </a:endParaRPr>
          </a:p>
          <a:p>
            <a:pPr indent="0" lvl="0" marL="0" rtl="0" algn="l">
              <a:spcBef>
                <a:spcPts val="0"/>
              </a:spcBef>
              <a:spcAft>
                <a:spcPts val="0"/>
              </a:spcAft>
              <a:buNone/>
            </a:pPr>
            <a:r>
              <a:rPr lang="el" sz="2100">
                <a:latin typeface="Times New Roman"/>
                <a:ea typeface="Times New Roman"/>
                <a:cs typeface="Times New Roman"/>
                <a:sym typeface="Times New Roman"/>
              </a:rPr>
              <a:t>Subnets vs Subnets</a:t>
            </a:r>
            <a:endParaRPr sz="2100">
              <a:latin typeface="Times New Roman"/>
              <a:ea typeface="Times New Roman"/>
              <a:cs typeface="Times New Roman"/>
              <a:sym typeface="Times New Roman"/>
            </a:endParaRPr>
          </a:p>
        </p:txBody>
      </p:sp>
      <p:pic>
        <p:nvPicPr>
          <p:cNvPr id="200" name="Google Shape;200;p24"/>
          <p:cNvPicPr preferRelativeResize="0"/>
          <p:nvPr/>
        </p:nvPicPr>
        <p:blipFill>
          <a:blip r:embed="rId3">
            <a:alphaModFix/>
          </a:blip>
          <a:stretch>
            <a:fillRect/>
          </a:stretch>
        </p:blipFill>
        <p:spPr>
          <a:xfrm>
            <a:off x="7156363" y="1596375"/>
            <a:ext cx="1762125" cy="2590800"/>
          </a:xfrm>
          <a:prstGeom prst="rect">
            <a:avLst/>
          </a:prstGeom>
          <a:noFill/>
          <a:ln>
            <a:noFill/>
          </a:ln>
        </p:spPr>
      </p:pic>
      <p:sp>
        <p:nvSpPr>
          <p:cNvPr id="201" name="Google Shape;201;p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l"/>
              <a:t>‹#›</a:t>
            </a:fld>
            <a:endParaRPr/>
          </a:p>
        </p:txBody>
      </p:sp>
      <p:cxnSp>
        <p:nvCxnSpPr>
          <p:cNvPr id="202" name="Google Shape;202;p24"/>
          <p:cNvCxnSpPr/>
          <p:nvPr/>
        </p:nvCxnSpPr>
        <p:spPr>
          <a:xfrm>
            <a:off x="91975" y="952250"/>
            <a:ext cx="4684800" cy="156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25"/>
          <p:cNvSpPr txBox="1"/>
          <p:nvPr>
            <p:ph type="ctrTitle"/>
          </p:nvPr>
        </p:nvSpPr>
        <p:spPr>
          <a:xfrm>
            <a:off x="91975" y="54650"/>
            <a:ext cx="5635800" cy="9132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l" sz="3400">
                <a:latin typeface="Times New Roman"/>
                <a:ea typeface="Times New Roman"/>
                <a:cs typeface="Times New Roman"/>
                <a:sym typeface="Times New Roman"/>
              </a:rPr>
              <a:t>Hyperparameters</a:t>
            </a:r>
            <a:endParaRPr sz="3400">
              <a:latin typeface="Times New Roman"/>
              <a:ea typeface="Times New Roman"/>
              <a:cs typeface="Times New Roman"/>
              <a:sym typeface="Times New Roman"/>
            </a:endParaRPr>
          </a:p>
        </p:txBody>
      </p:sp>
      <p:sp>
        <p:nvSpPr>
          <p:cNvPr id="208" name="Google Shape;208;p25"/>
          <p:cNvSpPr txBox="1"/>
          <p:nvPr>
            <p:ph idx="1" type="subTitle"/>
          </p:nvPr>
        </p:nvSpPr>
        <p:spPr>
          <a:xfrm>
            <a:off x="740300" y="1537600"/>
            <a:ext cx="6221700" cy="12801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b="1" lang="el" sz="1400">
                <a:latin typeface="Times New Roman"/>
                <a:ea typeface="Times New Roman"/>
                <a:cs typeface="Times New Roman"/>
                <a:sym typeface="Times New Roman"/>
              </a:rPr>
              <a:t>Protocol Level:</a:t>
            </a:r>
            <a:r>
              <a:rPr lang="el" sz="1400">
                <a:latin typeface="Times New Roman"/>
                <a:ea typeface="Times New Roman"/>
                <a:cs typeface="Times New Roman"/>
                <a:sym typeface="Times New Roman"/>
              </a:rPr>
              <a:t> Φτιαγμένο με το polkadot substrate, καθε </a:t>
            </a:r>
            <a:r>
              <a:rPr lang="el" sz="1400">
                <a:latin typeface="Times New Roman"/>
                <a:ea typeface="Times New Roman"/>
                <a:cs typeface="Times New Roman"/>
                <a:sym typeface="Times New Roman"/>
              </a:rPr>
              <a:t>update μπορεί να αλλάξει ολόκληρο το Δίκτυο χωρίς να θυσιάζει ασφάλεια.</a:t>
            </a:r>
            <a:endParaRPr sz="1400">
              <a:latin typeface="Times New Roman"/>
              <a:ea typeface="Times New Roman"/>
              <a:cs typeface="Times New Roman"/>
              <a:sym typeface="Times New Roman"/>
            </a:endParaRPr>
          </a:p>
        </p:txBody>
      </p:sp>
      <p:sp>
        <p:nvSpPr>
          <p:cNvPr id="209" name="Google Shape;209;p2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l"/>
              <a:t>‹#›</a:t>
            </a:fld>
            <a:endParaRPr/>
          </a:p>
        </p:txBody>
      </p:sp>
      <p:cxnSp>
        <p:nvCxnSpPr>
          <p:cNvPr id="210" name="Google Shape;210;p25"/>
          <p:cNvCxnSpPr/>
          <p:nvPr/>
        </p:nvCxnSpPr>
        <p:spPr>
          <a:xfrm>
            <a:off x="91975" y="952250"/>
            <a:ext cx="4684800" cy="15600"/>
          </a:xfrm>
          <a:prstGeom prst="straightConnector1">
            <a:avLst/>
          </a:prstGeom>
          <a:noFill/>
          <a:ln cap="flat" cmpd="sng" w="9525">
            <a:solidFill>
              <a:schemeClr val="dk2"/>
            </a:solidFill>
            <a:prstDash val="solid"/>
            <a:round/>
            <a:headEnd len="med" w="med" type="none"/>
            <a:tailEnd len="med" w="med" type="none"/>
          </a:ln>
        </p:spPr>
      </p:cxnSp>
      <p:pic>
        <p:nvPicPr>
          <p:cNvPr id="211" name="Google Shape;211;p25"/>
          <p:cNvPicPr preferRelativeResize="0"/>
          <p:nvPr/>
        </p:nvPicPr>
        <p:blipFill>
          <a:blip r:embed="rId3">
            <a:alphaModFix/>
          </a:blip>
          <a:stretch>
            <a:fillRect/>
          </a:stretch>
        </p:blipFill>
        <p:spPr>
          <a:xfrm>
            <a:off x="7378325" y="1315150"/>
            <a:ext cx="1401000" cy="1401000"/>
          </a:xfrm>
          <a:prstGeom prst="rect">
            <a:avLst/>
          </a:prstGeom>
          <a:noFill/>
          <a:ln>
            <a:noFill/>
          </a:ln>
        </p:spPr>
      </p:pic>
      <p:pic>
        <p:nvPicPr>
          <p:cNvPr id="212" name="Google Shape;212;p25"/>
          <p:cNvPicPr preferRelativeResize="0"/>
          <p:nvPr/>
        </p:nvPicPr>
        <p:blipFill>
          <a:blip r:embed="rId4">
            <a:alphaModFix/>
          </a:blip>
          <a:stretch>
            <a:fillRect/>
          </a:stretch>
        </p:blipFill>
        <p:spPr>
          <a:xfrm>
            <a:off x="740300" y="2868325"/>
            <a:ext cx="1650775" cy="1650775"/>
          </a:xfrm>
          <a:prstGeom prst="rect">
            <a:avLst/>
          </a:prstGeom>
          <a:noFill/>
          <a:ln>
            <a:noFill/>
          </a:ln>
        </p:spPr>
      </p:pic>
      <p:sp>
        <p:nvSpPr>
          <p:cNvPr id="213" name="Google Shape;213;p25"/>
          <p:cNvSpPr txBox="1"/>
          <p:nvPr>
            <p:ph idx="1" type="subTitle"/>
          </p:nvPr>
        </p:nvSpPr>
        <p:spPr>
          <a:xfrm>
            <a:off x="2626075" y="3055650"/>
            <a:ext cx="6192300" cy="16509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b="1" lang="el" sz="1500">
                <a:latin typeface="Times New Roman"/>
                <a:ea typeface="Times New Roman"/>
                <a:cs typeface="Times New Roman"/>
                <a:sym typeface="Times New Roman"/>
              </a:rPr>
              <a:t>Subnet Level:</a:t>
            </a:r>
            <a:r>
              <a:rPr lang="el" sz="1500">
                <a:latin typeface="Times New Roman"/>
                <a:ea typeface="Times New Roman"/>
                <a:cs typeface="Times New Roman"/>
                <a:sym typeface="Times New Roman"/>
              </a:rPr>
              <a:t> </a:t>
            </a:r>
            <a:r>
              <a:rPr lang="el" sz="1500">
                <a:latin typeface="Times New Roman"/>
                <a:ea typeface="Times New Roman"/>
                <a:cs typeface="Times New Roman"/>
                <a:sym typeface="Times New Roman"/>
              </a:rPr>
              <a:t>Τα Subnets Hyperparameters είναι πλήρως Tunable. Όλο το Σύστημα έχει κίνητρο την μεγιστοποίηση των Hyperparameters αυτών Δεδομένου του προβλήματος που λύνει!!</a:t>
            </a:r>
            <a:endParaRPr sz="1500">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26"/>
          <p:cNvSpPr txBox="1"/>
          <p:nvPr>
            <p:ph type="ctrTitle"/>
          </p:nvPr>
        </p:nvSpPr>
        <p:spPr>
          <a:xfrm>
            <a:off x="91975" y="242150"/>
            <a:ext cx="5495100" cy="725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l" sz="3400">
                <a:latin typeface="Times New Roman"/>
                <a:ea typeface="Times New Roman"/>
                <a:cs typeface="Times New Roman"/>
                <a:sym typeface="Times New Roman"/>
              </a:rPr>
              <a:t>Yuma Consensus</a:t>
            </a:r>
            <a:endParaRPr sz="3400">
              <a:latin typeface="Times New Roman"/>
              <a:ea typeface="Times New Roman"/>
              <a:cs typeface="Times New Roman"/>
              <a:sym typeface="Times New Roman"/>
            </a:endParaRPr>
          </a:p>
        </p:txBody>
      </p:sp>
      <p:sp>
        <p:nvSpPr>
          <p:cNvPr id="219" name="Google Shape;219;p26"/>
          <p:cNvSpPr txBox="1"/>
          <p:nvPr>
            <p:ph idx="1" type="subTitle"/>
          </p:nvPr>
        </p:nvSpPr>
        <p:spPr>
          <a:xfrm>
            <a:off x="3722975" y="1241000"/>
            <a:ext cx="5298000" cy="34344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i="1" lang="el" sz="1300" u="sng">
                <a:solidFill>
                  <a:schemeClr val="dk1"/>
                </a:solidFill>
                <a:latin typeface="Times New Roman"/>
                <a:ea typeface="Times New Roman"/>
                <a:cs typeface="Times New Roman"/>
                <a:sym typeface="Times New Roman"/>
              </a:rPr>
              <a:t>Yuma = Stake-weighted peer review</a:t>
            </a:r>
            <a:endParaRPr b="1" i="1" sz="1300" u="sng">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t/>
            </a:r>
            <a:endParaRPr sz="13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t/>
            </a:r>
            <a:endParaRPr i="1" sz="13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i="1" lang="el" sz="1300">
                <a:solidFill>
                  <a:schemeClr val="dk1"/>
                </a:solidFill>
                <a:latin typeface="Times New Roman"/>
                <a:ea typeface="Times New Roman"/>
                <a:cs typeface="Times New Roman"/>
                <a:sym typeface="Times New Roman"/>
              </a:rPr>
              <a:t>(Validators → Weights → Yuma → Miner incentives + Validator dividends.)</a:t>
            </a:r>
            <a:endParaRPr i="1" sz="13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t/>
            </a:r>
            <a:endParaRPr b="1" sz="13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t/>
            </a:r>
            <a:endParaRPr b="1" sz="13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t/>
            </a:r>
            <a:endParaRPr b="1" sz="13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1100"/>
              <a:buFont typeface="Arial"/>
              <a:buNone/>
            </a:pPr>
            <a:r>
              <a:rPr b="1" lang="el" sz="1300">
                <a:solidFill>
                  <a:schemeClr val="dk1"/>
                </a:solidFill>
                <a:latin typeface="Times New Roman"/>
                <a:ea typeface="Times New Roman"/>
                <a:cs typeface="Times New Roman"/>
                <a:sym typeface="Times New Roman"/>
              </a:rPr>
              <a:t>Take-away:</a:t>
            </a:r>
            <a:r>
              <a:rPr lang="el" sz="1300">
                <a:solidFill>
                  <a:schemeClr val="dk1"/>
                </a:solidFill>
                <a:latin typeface="Times New Roman"/>
                <a:ea typeface="Times New Roman"/>
                <a:cs typeface="Times New Roman"/>
                <a:sym typeface="Times New Roman"/>
              </a:rPr>
              <a:t> η τίμια αξιολόγηση είναι η πιο κερδοφόρα στρατηγική.</a:t>
            </a:r>
            <a:endParaRPr sz="1300">
              <a:solidFill>
                <a:schemeClr val="dk1"/>
              </a:solidFill>
              <a:latin typeface="Times New Roman"/>
              <a:ea typeface="Times New Roman"/>
              <a:cs typeface="Times New Roman"/>
              <a:sym typeface="Times New Roman"/>
            </a:endParaRPr>
          </a:p>
          <a:p>
            <a:pPr indent="0" lvl="0" marL="0" rtl="0" algn="ctr">
              <a:spcBef>
                <a:spcPts val="1200"/>
              </a:spcBef>
              <a:spcAft>
                <a:spcPts val="0"/>
              </a:spcAft>
              <a:buNone/>
            </a:pPr>
            <a:r>
              <a:t/>
            </a:r>
            <a:endParaRPr sz="2600">
              <a:latin typeface="Times New Roman"/>
              <a:ea typeface="Times New Roman"/>
              <a:cs typeface="Times New Roman"/>
              <a:sym typeface="Times New Roman"/>
            </a:endParaRPr>
          </a:p>
        </p:txBody>
      </p:sp>
      <p:sp>
        <p:nvSpPr>
          <p:cNvPr id="220" name="Google Shape;220;p2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l"/>
              <a:t>‹#›</a:t>
            </a:fld>
            <a:endParaRPr/>
          </a:p>
        </p:txBody>
      </p:sp>
      <p:cxnSp>
        <p:nvCxnSpPr>
          <p:cNvPr id="221" name="Google Shape;221;p26"/>
          <p:cNvCxnSpPr/>
          <p:nvPr/>
        </p:nvCxnSpPr>
        <p:spPr>
          <a:xfrm>
            <a:off x="91975" y="952250"/>
            <a:ext cx="4684800" cy="15600"/>
          </a:xfrm>
          <a:prstGeom prst="straightConnector1">
            <a:avLst/>
          </a:prstGeom>
          <a:noFill/>
          <a:ln cap="flat" cmpd="sng" w="9525">
            <a:solidFill>
              <a:schemeClr val="dk2"/>
            </a:solidFill>
            <a:prstDash val="solid"/>
            <a:round/>
            <a:headEnd len="med" w="med" type="none"/>
            <a:tailEnd len="med" w="med" type="none"/>
          </a:ln>
        </p:spPr>
      </p:cxnSp>
      <p:cxnSp>
        <p:nvCxnSpPr>
          <p:cNvPr id="222" name="Google Shape;222;p26"/>
          <p:cNvCxnSpPr/>
          <p:nvPr/>
        </p:nvCxnSpPr>
        <p:spPr>
          <a:xfrm flipH="1">
            <a:off x="3621500" y="1178575"/>
            <a:ext cx="23400" cy="3816600"/>
          </a:xfrm>
          <a:prstGeom prst="straightConnector1">
            <a:avLst/>
          </a:prstGeom>
          <a:noFill/>
          <a:ln cap="flat" cmpd="sng" w="9525">
            <a:solidFill>
              <a:schemeClr val="dk2"/>
            </a:solidFill>
            <a:prstDash val="solid"/>
            <a:round/>
            <a:headEnd len="med" w="med" type="none"/>
            <a:tailEnd len="med" w="med" type="none"/>
          </a:ln>
        </p:spPr>
      </p:cxnSp>
      <p:sp>
        <p:nvSpPr>
          <p:cNvPr id="223" name="Google Shape;223;p26"/>
          <p:cNvSpPr/>
          <p:nvPr/>
        </p:nvSpPr>
        <p:spPr>
          <a:xfrm>
            <a:off x="429250" y="1178575"/>
            <a:ext cx="2880000" cy="1576500"/>
          </a:xfrm>
          <a:prstGeom prst="wedgeEllipseCallout">
            <a:avLst>
              <a:gd fmla="val -20833" name="adj1"/>
              <a:gd fmla="val 625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24" name="Google Shape;224;p26"/>
          <p:cNvSpPr txBox="1"/>
          <p:nvPr/>
        </p:nvSpPr>
        <p:spPr>
          <a:xfrm>
            <a:off x="624400" y="1412688"/>
            <a:ext cx="2396100" cy="1209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l">
                <a:solidFill>
                  <a:schemeClr val="dk2"/>
                </a:solidFill>
                <a:latin typeface="Lato"/>
                <a:ea typeface="Lato"/>
                <a:cs typeface="Lato"/>
                <a:sym typeface="Lato"/>
              </a:rPr>
              <a:t>Εκεί</a:t>
            </a:r>
            <a:r>
              <a:rPr lang="el">
                <a:solidFill>
                  <a:schemeClr val="dk2"/>
                </a:solidFill>
                <a:latin typeface="Lato"/>
                <a:ea typeface="Lato"/>
                <a:cs typeface="Lato"/>
                <a:sym typeface="Lato"/>
              </a:rPr>
              <a:t> έρχεται το Yuma Consensus. Proof of </a:t>
            </a:r>
            <a:r>
              <a:rPr lang="el">
                <a:solidFill>
                  <a:schemeClr val="dk2"/>
                </a:solidFill>
                <a:latin typeface="Lato"/>
                <a:ea typeface="Lato"/>
                <a:cs typeface="Lato"/>
                <a:sym typeface="Lato"/>
              </a:rPr>
              <a:t>Useful</a:t>
            </a:r>
            <a:r>
              <a:rPr lang="el">
                <a:solidFill>
                  <a:schemeClr val="dk2"/>
                </a:solidFill>
                <a:latin typeface="Lato"/>
                <a:ea typeface="Lato"/>
                <a:cs typeface="Lato"/>
                <a:sym typeface="Lato"/>
              </a:rPr>
              <a:t> Work</a:t>
            </a:r>
            <a:endParaRPr>
              <a:solidFill>
                <a:schemeClr val="dk2"/>
              </a:solidFill>
              <a:latin typeface="Lato"/>
              <a:ea typeface="Lato"/>
              <a:cs typeface="Lato"/>
              <a:sym typeface="Lato"/>
            </a:endParaRPr>
          </a:p>
        </p:txBody>
      </p:sp>
      <p:sp>
        <p:nvSpPr>
          <p:cNvPr id="225" name="Google Shape;225;p26"/>
          <p:cNvSpPr txBox="1"/>
          <p:nvPr/>
        </p:nvSpPr>
        <p:spPr>
          <a:xfrm>
            <a:off x="202925" y="3082975"/>
            <a:ext cx="3340500" cy="975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1800">
                <a:solidFill>
                  <a:schemeClr val="dk2"/>
                </a:solidFill>
                <a:latin typeface="Times New Roman"/>
                <a:ea typeface="Times New Roman"/>
                <a:cs typeface="Times New Roman"/>
                <a:sym typeface="Times New Roman"/>
              </a:rPr>
              <a:t>Ναι αλλά κάποιες φορές το τι είναι σωστό ή λάθος είναι υποκειμενικό ή δύσκολο να μετρηθεί αντικειμενικά.!!!!</a:t>
            </a:r>
            <a:endParaRPr sz="1800">
              <a:solidFill>
                <a:schemeClr val="dk2"/>
              </a:solidFill>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27"/>
          <p:cNvSpPr txBox="1"/>
          <p:nvPr>
            <p:ph type="ctrTitle"/>
          </p:nvPr>
        </p:nvSpPr>
        <p:spPr>
          <a:xfrm>
            <a:off x="0" y="0"/>
            <a:ext cx="5979000" cy="10020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l" sz="3400">
                <a:latin typeface="Times New Roman"/>
                <a:ea typeface="Times New Roman"/>
                <a:cs typeface="Times New Roman"/>
                <a:sym typeface="Times New Roman"/>
              </a:rPr>
              <a:t>Mining Intelligence</a:t>
            </a:r>
            <a:endParaRPr sz="3400">
              <a:latin typeface="Times New Roman"/>
              <a:ea typeface="Times New Roman"/>
              <a:cs typeface="Times New Roman"/>
              <a:sym typeface="Times New Roman"/>
            </a:endParaRPr>
          </a:p>
        </p:txBody>
      </p:sp>
      <p:sp>
        <p:nvSpPr>
          <p:cNvPr id="231" name="Google Shape;231;p27"/>
          <p:cNvSpPr txBox="1"/>
          <p:nvPr>
            <p:ph idx="1" type="subTitle"/>
          </p:nvPr>
        </p:nvSpPr>
        <p:spPr>
          <a:xfrm>
            <a:off x="327300" y="1498550"/>
            <a:ext cx="3536100" cy="1116000"/>
          </a:xfrm>
          <a:prstGeom prst="rect">
            <a:avLst/>
          </a:prstGeom>
        </p:spPr>
        <p:txBody>
          <a:bodyPr anchorCtr="0" anchor="t" bIns="91425" lIns="91425" spcFirstLastPara="1" rIns="91425" wrap="square" tIns="91425">
            <a:normAutofit fontScale="92500" lnSpcReduction="20000"/>
          </a:bodyPr>
          <a:lstStyle/>
          <a:p>
            <a:pPr indent="0" lvl="0" marL="0" rtl="0" algn="l">
              <a:lnSpc>
                <a:spcPct val="90000"/>
              </a:lnSpc>
              <a:spcBef>
                <a:spcPts val="0"/>
              </a:spcBef>
              <a:spcAft>
                <a:spcPts val="0"/>
              </a:spcAft>
              <a:buSzPct val="49734"/>
              <a:buNone/>
            </a:pPr>
            <a:r>
              <a:rPr lang="el" sz="1880">
                <a:latin typeface="Times New Roman"/>
                <a:ea typeface="Times New Roman"/>
                <a:cs typeface="Times New Roman"/>
                <a:sym typeface="Times New Roman"/>
              </a:rPr>
              <a:t>Η συνεισφορά ως miner δεν διαφέρει από την επίλυση προβλήματος Μηχανικής Μάθησης.</a:t>
            </a:r>
            <a:endParaRPr sz="1880">
              <a:latin typeface="Times New Roman"/>
              <a:ea typeface="Times New Roman"/>
              <a:cs typeface="Times New Roman"/>
              <a:sym typeface="Times New Roman"/>
            </a:endParaRPr>
          </a:p>
          <a:p>
            <a:pPr indent="0" lvl="0" marL="0" rtl="0" algn="l">
              <a:lnSpc>
                <a:spcPct val="90000"/>
              </a:lnSpc>
              <a:spcBef>
                <a:spcPts val="0"/>
              </a:spcBef>
              <a:spcAft>
                <a:spcPts val="0"/>
              </a:spcAft>
              <a:buSzPct val="49734"/>
              <a:buNone/>
            </a:pPr>
            <a:r>
              <a:t/>
            </a:r>
            <a:endParaRPr sz="1880">
              <a:latin typeface="Times New Roman"/>
              <a:ea typeface="Times New Roman"/>
              <a:cs typeface="Times New Roman"/>
              <a:sym typeface="Times New Roman"/>
            </a:endParaRPr>
          </a:p>
          <a:p>
            <a:pPr indent="0" lvl="0" marL="0" rtl="0" algn="l">
              <a:lnSpc>
                <a:spcPct val="90000"/>
              </a:lnSpc>
              <a:spcBef>
                <a:spcPts val="0"/>
              </a:spcBef>
              <a:spcAft>
                <a:spcPts val="0"/>
              </a:spcAft>
              <a:buSzPct val="49734"/>
              <a:buNone/>
            </a:pPr>
            <a:r>
              <a:t/>
            </a:r>
            <a:endParaRPr sz="1880">
              <a:latin typeface="Times New Roman"/>
              <a:ea typeface="Times New Roman"/>
              <a:cs typeface="Times New Roman"/>
              <a:sym typeface="Times New Roman"/>
            </a:endParaRPr>
          </a:p>
        </p:txBody>
      </p:sp>
      <p:sp>
        <p:nvSpPr>
          <p:cNvPr id="232" name="Google Shape;232;p2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l"/>
              <a:t>‹#›</a:t>
            </a:fld>
            <a:endParaRPr/>
          </a:p>
        </p:txBody>
      </p:sp>
      <p:cxnSp>
        <p:nvCxnSpPr>
          <p:cNvPr id="233" name="Google Shape;233;p27"/>
          <p:cNvCxnSpPr/>
          <p:nvPr/>
        </p:nvCxnSpPr>
        <p:spPr>
          <a:xfrm>
            <a:off x="91975" y="952250"/>
            <a:ext cx="4684800" cy="15600"/>
          </a:xfrm>
          <a:prstGeom prst="straightConnector1">
            <a:avLst/>
          </a:prstGeom>
          <a:noFill/>
          <a:ln cap="flat" cmpd="sng" w="9525">
            <a:solidFill>
              <a:schemeClr val="dk2"/>
            </a:solidFill>
            <a:prstDash val="solid"/>
            <a:round/>
            <a:headEnd len="med" w="med" type="none"/>
            <a:tailEnd len="med" w="med" type="none"/>
          </a:ln>
        </p:spPr>
      </p:cxnSp>
      <p:cxnSp>
        <p:nvCxnSpPr>
          <p:cNvPr id="234" name="Google Shape;234;p27"/>
          <p:cNvCxnSpPr/>
          <p:nvPr/>
        </p:nvCxnSpPr>
        <p:spPr>
          <a:xfrm>
            <a:off x="3948900" y="1124875"/>
            <a:ext cx="23400" cy="3668400"/>
          </a:xfrm>
          <a:prstGeom prst="straightConnector1">
            <a:avLst/>
          </a:prstGeom>
          <a:noFill/>
          <a:ln cap="flat" cmpd="sng" w="9525">
            <a:solidFill>
              <a:schemeClr val="dk2"/>
            </a:solidFill>
            <a:prstDash val="solid"/>
            <a:round/>
            <a:headEnd len="med" w="med" type="none"/>
            <a:tailEnd len="med" w="med" type="none"/>
          </a:ln>
        </p:spPr>
      </p:cxnSp>
      <p:pic>
        <p:nvPicPr>
          <p:cNvPr id="235" name="Google Shape;235;p27"/>
          <p:cNvPicPr preferRelativeResize="0"/>
          <p:nvPr/>
        </p:nvPicPr>
        <p:blipFill>
          <a:blip r:embed="rId3">
            <a:alphaModFix/>
          </a:blip>
          <a:stretch>
            <a:fillRect/>
          </a:stretch>
        </p:blipFill>
        <p:spPr>
          <a:xfrm>
            <a:off x="2740425" y="2954550"/>
            <a:ext cx="1002000" cy="1002000"/>
          </a:xfrm>
          <a:prstGeom prst="rect">
            <a:avLst/>
          </a:prstGeom>
          <a:noFill/>
          <a:ln>
            <a:noFill/>
          </a:ln>
        </p:spPr>
      </p:pic>
      <p:sp>
        <p:nvSpPr>
          <p:cNvPr id="236" name="Google Shape;236;p27"/>
          <p:cNvSpPr txBox="1"/>
          <p:nvPr/>
        </p:nvSpPr>
        <p:spPr>
          <a:xfrm>
            <a:off x="202425" y="3111100"/>
            <a:ext cx="3621600" cy="93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l" sz="1800">
                <a:solidFill>
                  <a:schemeClr val="dk2"/>
                </a:solidFill>
                <a:latin typeface="Times New Roman"/>
                <a:ea typeface="Times New Roman"/>
                <a:cs typeface="Times New Roman"/>
                <a:sym typeface="Times New Roman"/>
              </a:rPr>
              <a:t>Το </a:t>
            </a:r>
            <a:r>
              <a:rPr b="1" lang="el" sz="1800">
                <a:solidFill>
                  <a:schemeClr val="dk2"/>
                </a:solidFill>
                <a:latin typeface="Times New Roman"/>
                <a:ea typeface="Times New Roman"/>
                <a:cs typeface="Times New Roman"/>
                <a:sym typeface="Times New Roman"/>
              </a:rPr>
              <a:t>πρόβλημα</a:t>
            </a:r>
            <a:r>
              <a:rPr b="1" lang="el" sz="1800">
                <a:solidFill>
                  <a:schemeClr val="dk2"/>
                </a:solidFill>
                <a:latin typeface="Times New Roman"/>
                <a:ea typeface="Times New Roman"/>
                <a:cs typeface="Times New Roman"/>
                <a:sym typeface="Times New Roman"/>
              </a:rPr>
              <a:t> μας: </a:t>
            </a:r>
            <a:endParaRPr b="1" sz="1800">
              <a:solidFill>
                <a:schemeClr val="dk2"/>
              </a:solidFill>
              <a:latin typeface="Times New Roman"/>
              <a:ea typeface="Times New Roman"/>
              <a:cs typeface="Times New Roman"/>
              <a:sym typeface="Times New Roman"/>
            </a:endParaRPr>
          </a:p>
          <a:p>
            <a:pPr indent="0" lvl="0" marL="0" rtl="0" algn="l">
              <a:spcBef>
                <a:spcPts val="0"/>
              </a:spcBef>
              <a:spcAft>
                <a:spcPts val="0"/>
              </a:spcAft>
              <a:buNone/>
            </a:pPr>
            <a:r>
              <a:rPr b="1" i="1" lang="el" sz="1800" u="sng">
                <a:solidFill>
                  <a:schemeClr val="dk2"/>
                </a:solidFill>
                <a:latin typeface="Times New Roman"/>
                <a:ea typeface="Times New Roman"/>
                <a:cs typeface="Times New Roman"/>
                <a:sym typeface="Times New Roman"/>
              </a:rPr>
              <a:t>AI Text Detection</a:t>
            </a:r>
            <a:endParaRPr b="1" i="1" sz="1800" u="sng">
              <a:solidFill>
                <a:schemeClr val="dk2"/>
              </a:solidFill>
              <a:latin typeface="Times New Roman"/>
              <a:ea typeface="Times New Roman"/>
              <a:cs typeface="Times New Roman"/>
              <a:sym typeface="Times New Roman"/>
            </a:endParaRPr>
          </a:p>
          <a:p>
            <a:pPr indent="0" lvl="0" marL="0" rtl="0" algn="l">
              <a:spcBef>
                <a:spcPts val="0"/>
              </a:spcBef>
              <a:spcAft>
                <a:spcPts val="0"/>
              </a:spcAft>
              <a:buNone/>
            </a:pPr>
            <a:r>
              <a:t/>
            </a:r>
            <a:endParaRPr b="1" sz="1800">
              <a:solidFill>
                <a:schemeClr val="dk2"/>
              </a:solidFill>
              <a:latin typeface="Times New Roman"/>
              <a:ea typeface="Times New Roman"/>
              <a:cs typeface="Times New Roman"/>
              <a:sym typeface="Times New Roman"/>
            </a:endParaRPr>
          </a:p>
        </p:txBody>
      </p:sp>
      <p:pic>
        <p:nvPicPr>
          <p:cNvPr id="237" name="Google Shape;237;p27"/>
          <p:cNvPicPr preferRelativeResize="0"/>
          <p:nvPr/>
        </p:nvPicPr>
        <p:blipFill>
          <a:blip r:embed="rId4">
            <a:alphaModFix/>
          </a:blip>
          <a:stretch>
            <a:fillRect/>
          </a:stretch>
        </p:blipFill>
        <p:spPr>
          <a:xfrm>
            <a:off x="4193350" y="1124875"/>
            <a:ext cx="4579474" cy="3268999"/>
          </a:xfrm>
          <a:prstGeom prst="rect">
            <a:avLst/>
          </a:prstGeom>
          <a:noFill/>
          <a:ln>
            <a:noFill/>
          </a:ln>
        </p:spPr>
      </p:pic>
      <p:sp>
        <p:nvSpPr>
          <p:cNvPr id="238" name="Google Shape;238;p27"/>
          <p:cNvSpPr txBox="1"/>
          <p:nvPr/>
        </p:nvSpPr>
        <p:spPr>
          <a:xfrm>
            <a:off x="390250" y="4597125"/>
            <a:ext cx="23883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i="1" lang="el" sz="800">
                <a:solidFill>
                  <a:schemeClr val="dk2"/>
                </a:solidFill>
                <a:latin typeface="Times New Roman"/>
                <a:ea typeface="Times New Roman"/>
                <a:cs typeface="Times New Roman"/>
                <a:sym typeface="Times New Roman"/>
              </a:rPr>
              <a:t>Η πτυχιακή χρησιμοποιεί την βιβλιοθήκη AbstractML</a:t>
            </a:r>
            <a:endParaRPr b="1" i="1" sz="800">
              <a:solidFill>
                <a:schemeClr val="dk2"/>
              </a:solidFill>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28"/>
          <p:cNvSpPr txBox="1"/>
          <p:nvPr>
            <p:ph type="ctrTitle"/>
          </p:nvPr>
        </p:nvSpPr>
        <p:spPr>
          <a:xfrm>
            <a:off x="311700" y="148275"/>
            <a:ext cx="8520600" cy="8040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l" sz="3400">
                <a:latin typeface="Times New Roman"/>
                <a:ea typeface="Times New Roman"/>
                <a:cs typeface="Times New Roman"/>
                <a:sym typeface="Times New Roman"/>
              </a:rPr>
              <a:t>Flowchart της Έρευνας</a:t>
            </a:r>
            <a:endParaRPr sz="3400">
              <a:latin typeface="Times New Roman"/>
              <a:ea typeface="Times New Roman"/>
              <a:cs typeface="Times New Roman"/>
              <a:sym typeface="Times New Roman"/>
            </a:endParaRPr>
          </a:p>
        </p:txBody>
      </p:sp>
      <p:sp>
        <p:nvSpPr>
          <p:cNvPr id="244" name="Google Shape;244;p2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l"/>
              <a:t>‹#›</a:t>
            </a:fld>
            <a:endParaRPr/>
          </a:p>
        </p:txBody>
      </p:sp>
      <p:cxnSp>
        <p:nvCxnSpPr>
          <p:cNvPr id="245" name="Google Shape;245;p28"/>
          <p:cNvCxnSpPr/>
          <p:nvPr/>
        </p:nvCxnSpPr>
        <p:spPr>
          <a:xfrm>
            <a:off x="91975" y="952250"/>
            <a:ext cx="4684800" cy="15600"/>
          </a:xfrm>
          <a:prstGeom prst="straightConnector1">
            <a:avLst/>
          </a:prstGeom>
          <a:noFill/>
          <a:ln cap="flat" cmpd="sng" w="9525">
            <a:solidFill>
              <a:schemeClr val="dk2"/>
            </a:solidFill>
            <a:prstDash val="solid"/>
            <a:round/>
            <a:headEnd len="med" w="med" type="none"/>
            <a:tailEnd len="med" w="med" type="none"/>
          </a:ln>
        </p:spPr>
      </p:cxnSp>
      <p:pic>
        <p:nvPicPr>
          <p:cNvPr id="246" name="Google Shape;246;p28"/>
          <p:cNvPicPr preferRelativeResize="0"/>
          <p:nvPr/>
        </p:nvPicPr>
        <p:blipFill>
          <a:blip r:embed="rId3">
            <a:alphaModFix/>
          </a:blip>
          <a:stretch>
            <a:fillRect/>
          </a:stretch>
        </p:blipFill>
        <p:spPr>
          <a:xfrm>
            <a:off x="311700" y="1287825"/>
            <a:ext cx="8341326" cy="365725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29"/>
          <p:cNvSpPr txBox="1"/>
          <p:nvPr>
            <p:ph type="ctrTitle"/>
          </p:nvPr>
        </p:nvSpPr>
        <p:spPr>
          <a:xfrm>
            <a:off x="311700" y="148275"/>
            <a:ext cx="8520600" cy="8040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l" sz="3400">
                <a:latin typeface="Times New Roman"/>
                <a:ea typeface="Times New Roman"/>
                <a:cs typeface="Times New Roman"/>
                <a:sym typeface="Times New Roman"/>
              </a:rPr>
              <a:t>Dataset </a:t>
            </a:r>
            <a:endParaRPr sz="3400">
              <a:latin typeface="Times New Roman"/>
              <a:ea typeface="Times New Roman"/>
              <a:cs typeface="Times New Roman"/>
              <a:sym typeface="Times New Roman"/>
            </a:endParaRPr>
          </a:p>
        </p:txBody>
      </p:sp>
      <p:sp>
        <p:nvSpPr>
          <p:cNvPr id="252" name="Google Shape;252;p29"/>
          <p:cNvSpPr txBox="1"/>
          <p:nvPr>
            <p:ph idx="1" type="subTitle"/>
          </p:nvPr>
        </p:nvSpPr>
        <p:spPr>
          <a:xfrm>
            <a:off x="7040125" y="1537500"/>
            <a:ext cx="1980900" cy="2068500"/>
          </a:xfrm>
          <a:prstGeom prst="rect">
            <a:avLst/>
          </a:prstGeom>
        </p:spPr>
        <p:txBody>
          <a:bodyPr anchorCtr="0" anchor="t" bIns="91425" lIns="91425" spcFirstLastPara="1" rIns="91425" wrap="square" tIns="91425">
            <a:normAutofit fontScale="62500" lnSpcReduction="20000"/>
          </a:bodyPr>
          <a:lstStyle/>
          <a:p>
            <a:pPr indent="0" lvl="0" marL="0" marR="38100" rtl="0" algn="just">
              <a:lnSpc>
                <a:spcPct val="128571"/>
              </a:lnSpc>
              <a:spcBef>
                <a:spcPts val="0"/>
              </a:spcBef>
              <a:spcAft>
                <a:spcPts val="0"/>
              </a:spcAft>
              <a:buNone/>
            </a:pPr>
            <a:r>
              <a:rPr lang="el" sz="2100">
                <a:solidFill>
                  <a:schemeClr val="dk1"/>
                </a:solidFill>
                <a:highlight>
                  <a:schemeClr val="lt1"/>
                </a:highlight>
                <a:latin typeface="Times New Roman"/>
                <a:ea typeface="Times New Roman"/>
                <a:cs typeface="Times New Roman"/>
                <a:sym typeface="Times New Roman"/>
              </a:rPr>
              <a:t>Tο Dataset που χρησιμοποιήθηκε είναι το </a:t>
            </a:r>
            <a:r>
              <a:rPr b="1" i="1" lang="el" sz="2100">
                <a:solidFill>
                  <a:schemeClr val="dk1"/>
                </a:solidFill>
                <a:highlight>
                  <a:schemeClr val="lt1"/>
                </a:highlight>
                <a:latin typeface="Times New Roman"/>
                <a:ea typeface="Times New Roman"/>
                <a:cs typeface="Times New Roman"/>
                <a:sym typeface="Times New Roman"/>
              </a:rPr>
              <a:t>HC3</a:t>
            </a:r>
            <a:endParaRPr i="1" sz="2100">
              <a:solidFill>
                <a:schemeClr val="dk1"/>
              </a:solidFill>
              <a:highlight>
                <a:schemeClr val="lt1"/>
              </a:highlight>
              <a:latin typeface="Times New Roman"/>
              <a:ea typeface="Times New Roman"/>
              <a:cs typeface="Times New Roman"/>
              <a:sym typeface="Times New Roman"/>
            </a:endParaRPr>
          </a:p>
          <a:p>
            <a:pPr indent="0" lvl="0" marL="0" marR="38100" rtl="0" algn="just">
              <a:lnSpc>
                <a:spcPct val="128571"/>
              </a:lnSpc>
              <a:spcBef>
                <a:spcPts val="0"/>
              </a:spcBef>
              <a:spcAft>
                <a:spcPts val="0"/>
              </a:spcAft>
              <a:buNone/>
            </a:pPr>
            <a:r>
              <a:t/>
            </a:r>
            <a:endParaRPr i="1" sz="2100">
              <a:solidFill>
                <a:schemeClr val="dk1"/>
              </a:solidFill>
              <a:highlight>
                <a:schemeClr val="lt1"/>
              </a:highlight>
              <a:latin typeface="Times New Roman"/>
              <a:ea typeface="Times New Roman"/>
              <a:cs typeface="Times New Roman"/>
              <a:sym typeface="Times New Roman"/>
            </a:endParaRPr>
          </a:p>
          <a:p>
            <a:pPr indent="0" lvl="0" marL="0" marR="38100" rtl="0" algn="just">
              <a:lnSpc>
                <a:spcPct val="128571"/>
              </a:lnSpc>
              <a:spcBef>
                <a:spcPts val="0"/>
              </a:spcBef>
              <a:spcAft>
                <a:spcPts val="0"/>
              </a:spcAft>
              <a:buClr>
                <a:schemeClr val="dk1"/>
              </a:buClr>
              <a:buSzPct val="52381"/>
              <a:buFont typeface="Arial"/>
              <a:buNone/>
            </a:pPr>
            <a:r>
              <a:rPr i="1" lang="el" sz="2100">
                <a:solidFill>
                  <a:schemeClr val="dk1"/>
                </a:solidFill>
                <a:highlight>
                  <a:schemeClr val="lt1"/>
                </a:highlight>
                <a:latin typeface="Times New Roman"/>
                <a:ea typeface="Times New Roman"/>
                <a:cs typeface="Times New Roman"/>
                <a:sym typeface="Times New Roman"/>
              </a:rPr>
              <a:t>Public Dataset from Huggingface - not fully preprocessed</a:t>
            </a:r>
            <a:r>
              <a:rPr lang="el" sz="2100">
                <a:solidFill>
                  <a:schemeClr val="dk1"/>
                </a:solidFill>
                <a:highlight>
                  <a:schemeClr val="lt1"/>
                </a:highlight>
                <a:latin typeface="Times New Roman"/>
                <a:ea typeface="Times New Roman"/>
                <a:cs typeface="Times New Roman"/>
                <a:sym typeface="Times New Roman"/>
              </a:rPr>
              <a:t> </a:t>
            </a:r>
            <a:endParaRPr sz="2100">
              <a:solidFill>
                <a:schemeClr val="dk1"/>
              </a:solidFill>
              <a:highlight>
                <a:schemeClr val="lt1"/>
              </a:highlight>
              <a:latin typeface="Times New Roman"/>
              <a:ea typeface="Times New Roman"/>
              <a:cs typeface="Times New Roman"/>
              <a:sym typeface="Times New Roman"/>
            </a:endParaRPr>
          </a:p>
          <a:p>
            <a:pPr indent="0" lvl="0" marL="0" rtl="0" algn="just">
              <a:spcBef>
                <a:spcPts val="0"/>
              </a:spcBef>
              <a:spcAft>
                <a:spcPts val="0"/>
              </a:spcAft>
              <a:buNone/>
            </a:pPr>
            <a:r>
              <a:t/>
            </a:r>
            <a:endParaRPr>
              <a:latin typeface="Times New Roman"/>
              <a:ea typeface="Times New Roman"/>
              <a:cs typeface="Times New Roman"/>
              <a:sym typeface="Times New Roman"/>
            </a:endParaRPr>
          </a:p>
        </p:txBody>
      </p:sp>
      <p:sp>
        <p:nvSpPr>
          <p:cNvPr id="253" name="Google Shape;253;p2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l"/>
              <a:t>‹#›</a:t>
            </a:fld>
            <a:endParaRPr/>
          </a:p>
        </p:txBody>
      </p:sp>
      <p:cxnSp>
        <p:nvCxnSpPr>
          <p:cNvPr id="254" name="Google Shape;254;p29"/>
          <p:cNvCxnSpPr/>
          <p:nvPr/>
        </p:nvCxnSpPr>
        <p:spPr>
          <a:xfrm>
            <a:off x="91975" y="952250"/>
            <a:ext cx="4684800" cy="15600"/>
          </a:xfrm>
          <a:prstGeom prst="straightConnector1">
            <a:avLst/>
          </a:prstGeom>
          <a:noFill/>
          <a:ln cap="flat" cmpd="sng" w="9525">
            <a:solidFill>
              <a:schemeClr val="dk2"/>
            </a:solidFill>
            <a:prstDash val="solid"/>
            <a:round/>
            <a:headEnd len="med" w="med" type="none"/>
            <a:tailEnd len="med" w="med" type="none"/>
          </a:ln>
        </p:spPr>
      </p:cxnSp>
      <p:graphicFrame>
        <p:nvGraphicFramePr>
          <p:cNvPr id="255" name="Google Shape;255;p29"/>
          <p:cNvGraphicFramePr/>
          <p:nvPr/>
        </p:nvGraphicFramePr>
        <p:xfrm>
          <a:off x="515425" y="1537500"/>
          <a:ext cx="3000000" cy="3000000"/>
        </p:xfrm>
        <a:graphic>
          <a:graphicData uri="http://schemas.openxmlformats.org/drawingml/2006/table">
            <a:tbl>
              <a:tblPr>
                <a:noFill/>
                <a:tableStyleId>{1945F317-B448-406A-808D-762D3F587DA6}</a:tableStyleId>
              </a:tblPr>
              <a:tblGrid>
                <a:gridCol w="1271450"/>
                <a:gridCol w="1271450"/>
                <a:gridCol w="1271450"/>
                <a:gridCol w="1271450"/>
                <a:gridCol w="1271450"/>
              </a:tblGrid>
              <a:tr h="379975">
                <a:tc>
                  <a:txBody>
                    <a:bodyPr/>
                    <a:lstStyle/>
                    <a:p>
                      <a:pPr indent="0" lvl="0" marL="0" rtl="0" algn="l">
                        <a:spcBef>
                          <a:spcPts val="0"/>
                        </a:spcBef>
                        <a:spcAft>
                          <a:spcPts val="0"/>
                        </a:spcAft>
                        <a:buNone/>
                      </a:pPr>
                      <a:r>
                        <a:rPr b="1" lang="el" sz="1000"/>
                        <a:t>id</a:t>
                      </a:r>
                      <a:endParaRPr b="1" sz="1000"/>
                    </a:p>
                  </a:txBody>
                  <a:tcPr marT="91425" marB="91425" marR="91425" marL="91425">
                    <a:solidFill>
                      <a:srgbClr val="6D9EEB"/>
                    </a:solidFill>
                  </a:tcPr>
                </a:tc>
                <a:tc>
                  <a:txBody>
                    <a:bodyPr/>
                    <a:lstStyle/>
                    <a:p>
                      <a:pPr indent="0" lvl="0" marL="0" rtl="0" algn="l">
                        <a:spcBef>
                          <a:spcPts val="0"/>
                        </a:spcBef>
                        <a:spcAft>
                          <a:spcPts val="0"/>
                        </a:spcAft>
                        <a:buNone/>
                      </a:pPr>
                      <a:r>
                        <a:rPr b="1" lang="el" sz="1000"/>
                        <a:t>question</a:t>
                      </a:r>
                      <a:endParaRPr b="1" sz="1000"/>
                    </a:p>
                  </a:txBody>
                  <a:tcPr marT="91425" marB="91425" marR="91425" marL="91425">
                    <a:solidFill>
                      <a:srgbClr val="6D9EEB"/>
                    </a:solidFill>
                  </a:tcPr>
                </a:tc>
                <a:tc>
                  <a:txBody>
                    <a:bodyPr/>
                    <a:lstStyle/>
                    <a:p>
                      <a:pPr indent="0" lvl="0" marL="0" rtl="0" algn="l">
                        <a:spcBef>
                          <a:spcPts val="0"/>
                        </a:spcBef>
                        <a:spcAft>
                          <a:spcPts val="0"/>
                        </a:spcAft>
                        <a:buNone/>
                      </a:pPr>
                      <a:r>
                        <a:rPr b="1" lang="el" sz="1000"/>
                        <a:t>human_answers</a:t>
                      </a:r>
                      <a:endParaRPr b="1" sz="1000"/>
                    </a:p>
                  </a:txBody>
                  <a:tcPr marT="91425" marB="91425" marR="91425" marL="91425">
                    <a:solidFill>
                      <a:srgbClr val="6D9EEB"/>
                    </a:solidFill>
                  </a:tcPr>
                </a:tc>
                <a:tc>
                  <a:txBody>
                    <a:bodyPr/>
                    <a:lstStyle/>
                    <a:p>
                      <a:pPr indent="0" lvl="0" marL="0" rtl="0" algn="l">
                        <a:spcBef>
                          <a:spcPts val="0"/>
                        </a:spcBef>
                        <a:spcAft>
                          <a:spcPts val="0"/>
                        </a:spcAft>
                        <a:buNone/>
                      </a:pPr>
                      <a:r>
                        <a:rPr b="1" lang="el" sz="1000"/>
                        <a:t>chatgpt_answers</a:t>
                      </a:r>
                      <a:endParaRPr b="1" sz="1000"/>
                    </a:p>
                  </a:txBody>
                  <a:tcPr marT="91425" marB="91425" marR="91425" marL="91425">
                    <a:solidFill>
                      <a:srgbClr val="6D9EEB"/>
                    </a:solidFill>
                  </a:tcPr>
                </a:tc>
                <a:tc>
                  <a:txBody>
                    <a:bodyPr/>
                    <a:lstStyle/>
                    <a:p>
                      <a:pPr indent="0" lvl="0" marL="0" rtl="0" algn="l">
                        <a:spcBef>
                          <a:spcPts val="0"/>
                        </a:spcBef>
                        <a:spcAft>
                          <a:spcPts val="0"/>
                        </a:spcAft>
                        <a:buNone/>
                      </a:pPr>
                      <a:r>
                        <a:rPr b="1" lang="el" sz="1000"/>
                        <a:t>source</a:t>
                      </a:r>
                      <a:endParaRPr b="1" sz="1000"/>
                    </a:p>
                  </a:txBody>
                  <a:tcPr marT="91425" marB="91425" marR="91425" marL="91425">
                    <a:solidFill>
                      <a:srgbClr val="6D9EEB"/>
                    </a:solidFill>
                  </a:tcPr>
                </a:tc>
              </a:tr>
              <a:tr h="449050">
                <a:tc>
                  <a:txBody>
                    <a:bodyPr/>
                    <a:lstStyle/>
                    <a:p>
                      <a:pPr indent="0" lvl="0" marL="0" rtl="0" algn="l">
                        <a:spcBef>
                          <a:spcPts val="0"/>
                        </a:spcBef>
                        <a:spcAft>
                          <a:spcPts val="0"/>
                        </a:spcAft>
                        <a:buNone/>
                      </a:pPr>
                      <a:r>
                        <a:rPr lang="el"/>
                        <a:t>0</a:t>
                      </a:r>
                      <a:endParaRPr/>
                    </a:p>
                  </a:txBody>
                  <a:tcPr marT="91425" marB="91425" marR="91425" marL="91425"/>
                </a:tc>
                <a:tc>
                  <a:txBody>
                    <a:bodyPr/>
                    <a:lstStyle/>
                    <a:p>
                      <a:pPr indent="0" lvl="0" marL="0" rtl="0" algn="l">
                        <a:spcBef>
                          <a:spcPts val="0"/>
                        </a:spcBef>
                        <a:spcAft>
                          <a:spcPts val="0"/>
                        </a:spcAft>
                        <a:buNone/>
                      </a:pPr>
                      <a:r>
                        <a:rPr lang="el" sz="1000"/>
                        <a:t>Why is every book I hear about a …</a:t>
                      </a:r>
                      <a:endParaRPr sz="1000"/>
                    </a:p>
                  </a:txBody>
                  <a:tcPr marT="91425" marB="91425" marR="91425" marL="91425"/>
                </a:tc>
                <a:tc>
                  <a:txBody>
                    <a:bodyPr/>
                    <a:lstStyle/>
                    <a:p>
                      <a:pPr indent="0" lvl="0" marL="0" rtl="0" algn="l">
                        <a:spcBef>
                          <a:spcPts val="0"/>
                        </a:spcBef>
                        <a:spcAft>
                          <a:spcPts val="0"/>
                        </a:spcAft>
                        <a:buNone/>
                      </a:pPr>
                      <a:r>
                        <a:rPr lang="el" sz="1000"/>
                        <a:t>[ "Basicall…</a:t>
                      </a:r>
                      <a:endParaRPr sz="1000"/>
                    </a:p>
                  </a:txBody>
                  <a:tcPr marT="91425" marB="91425" marR="91425" marL="91425"/>
                </a:tc>
                <a:tc>
                  <a:txBody>
                    <a:bodyPr/>
                    <a:lstStyle/>
                    <a:p>
                      <a:pPr indent="0" lvl="0" marL="0" rtl="0" algn="l">
                        <a:spcBef>
                          <a:spcPts val="0"/>
                        </a:spcBef>
                        <a:spcAft>
                          <a:spcPts val="0"/>
                        </a:spcAft>
                        <a:buNone/>
                      </a:pPr>
                      <a:r>
                        <a:rPr lang="el" sz="1000"/>
                        <a:t>[ "There are many…</a:t>
                      </a:r>
                      <a:endParaRPr sz="1000"/>
                    </a:p>
                  </a:txBody>
                  <a:tcPr marT="91425" marB="91425" marR="91425" marL="91425"/>
                </a:tc>
                <a:tc>
                  <a:txBody>
                    <a:bodyPr/>
                    <a:lstStyle/>
                    <a:p>
                      <a:pPr indent="0" lvl="0" marL="0" rtl="0" algn="l">
                        <a:spcBef>
                          <a:spcPts val="0"/>
                        </a:spcBef>
                        <a:spcAft>
                          <a:spcPts val="0"/>
                        </a:spcAft>
                        <a:buNone/>
                      </a:pPr>
                      <a:r>
                        <a:rPr lang="el" sz="1000"/>
                        <a:t>reddit_eli5</a:t>
                      </a:r>
                      <a:endParaRPr sz="1000"/>
                    </a:p>
                  </a:txBody>
                  <a:tcPr marT="91425" marB="91425" marR="91425" marL="91425"/>
                </a:tc>
              </a:tr>
              <a:tr h="408775">
                <a:tc>
                  <a:txBody>
                    <a:bodyPr/>
                    <a:lstStyle/>
                    <a:p>
                      <a:pPr indent="0" lvl="0" marL="0" rtl="0" algn="l">
                        <a:spcBef>
                          <a:spcPts val="0"/>
                        </a:spcBef>
                        <a:spcAft>
                          <a:spcPts val="0"/>
                        </a:spcAft>
                        <a:buNone/>
                      </a:pPr>
                      <a:r>
                        <a:rPr lang="el"/>
                        <a:t>1</a:t>
                      </a:r>
                      <a:endParaRPr/>
                    </a:p>
                  </a:txBody>
                  <a:tcPr marT="91425" marB="91425" marR="91425" marL="91425"/>
                </a:tc>
                <a:tc>
                  <a:txBody>
                    <a:bodyPr/>
                    <a:lstStyle/>
                    <a:p>
                      <a:pPr indent="0" lvl="0" marL="0" rtl="0" algn="l">
                        <a:spcBef>
                          <a:spcPts val="0"/>
                        </a:spcBef>
                        <a:spcAft>
                          <a:spcPts val="0"/>
                        </a:spcAft>
                        <a:buNone/>
                      </a:pPr>
                      <a:r>
                        <a:rPr lang="el" sz="1000"/>
                        <a:t>If salt is so bad for cars , why do…</a:t>
                      </a:r>
                      <a:endParaRPr sz="1000"/>
                    </a:p>
                  </a:txBody>
                  <a:tcPr marT="91425" marB="91425" marR="91425" marL="91425"/>
                </a:tc>
                <a:tc>
                  <a:txBody>
                    <a:bodyPr/>
                    <a:lstStyle/>
                    <a:p>
                      <a:pPr indent="0" lvl="0" marL="0" rtl="0" algn="l">
                        <a:spcBef>
                          <a:spcPts val="0"/>
                        </a:spcBef>
                        <a:spcAft>
                          <a:spcPts val="0"/>
                        </a:spcAft>
                        <a:buNone/>
                      </a:pPr>
                      <a:r>
                        <a:rPr lang="el" sz="1000"/>
                        <a:t>[ "salt is good for…</a:t>
                      </a:r>
                      <a:endParaRPr sz="1000"/>
                    </a:p>
                  </a:txBody>
                  <a:tcPr marT="91425" marB="91425" marR="91425" marL="91425"/>
                </a:tc>
                <a:tc>
                  <a:txBody>
                    <a:bodyPr/>
                    <a:lstStyle/>
                    <a:p>
                      <a:pPr indent="0" lvl="0" marL="0" rtl="0" algn="l">
                        <a:spcBef>
                          <a:spcPts val="0"/>
                        </a:spcBef>
                        <a:spcAft>
                          <a:spcPts val="0"/>
                        </a:spcAft>
                        <a:buNone/>
                      </a:pPr>
                      <a:r>
                        <a:rPr lang="el" sz="1000"/>
                        <a:t>[ "Salt is used on road…</a:t>
                      </a:r>
                      <a:endParaRPr sz="1000"/>
                    </a:p>
                  </a:txBody>
                  <a:tcPr marT="91425" marB="91425" marR="91425" marL="91425"/>
                </a:tc>
                <a:tc>
                  <a:txBody>
                    <a:bodyPr/>
                    <a:lstStyle/>
                    <a:p>
                      <a:pPr indent="0" lvl="0" marL="0" rtl="0" algn="l">
                        <a:spcBef>
                          <a:spcPts val="0"/>
                        </a:spcBef>
                        <a:spcAft>
                          <a:spcPts val="0"/>
                        </a:spcAft>
                        <a:buNone/>
                      </a:pPr>
                      <a:r>
                        <a:rPr lang="el" sz="1000"/>
                        <a:t>medicine</a:t>
                      </a:r>
                      <a:endParaRPr sz="1000"/>
                    </a:p>
                  </a:txBody>
                  <a:tcPr marT="91425" marB="91425" marR="91425" marL="91425"/>
                </a:tc>
              </a:tr>
              <a:tr h="408775">
                <a:tc>
                  <a:txBody>
                    <a:bodyPr/>
                    <a:lstStyle/>
                    <a:p>
                      <a:pPr indent="0" lvl="0" marL="0" rtl="0" algn="l">
                        <a:spcBef>
                          <a:spcPts val="0"/>
                        </a:spcBef>
                        <a:spcAft>
                          <a:spcPts val="0"/>
                        </a:spcAft>
                        <a:buNone/>
                      </a:pPr>
                      <a:r>
                        <a:rPr lang="el"/>
                        <a:t>2</a:t>
                      </a:r>
                      <a:endParaRPr/>
                    </a:p>
                  </a:txBody>
                  <a:tcPr marT="91425" marB="91425" marR="91425" marL="91425"/>
                </a:tc>
                <a:tc>
                  <a:txBody>
                    <a:bodyPr/>
                    <a:lstStyle/>
                    <a:p>
                      <a:pPr indent="0" lvl="0" marL="0" rtl="0" algn="l">
                        <a:spcBef>
                          <a:spcPts val="0"/>
                        </a:spcBef>
                        <a:spcAft>
                          <a:spcPts val="0"/>
                        </a:spcAft>
                        <a:buNone/>
                      </a:pPr>
                      <a:r>
                        <a:rPr lang="el" sz="1000"/>
                        <a:t>Why do we still have SD TV…</a:t>
                      </a:r>
                      <a:endParaRPr sz="1000"/>
                    </a:p>
                  </a:txBody>
                  <a:tcPr marT="91425" marB="91425" marR="91425" marL="91425"/>
                </a:tc>
                <a:tc>
                  <a:txBody>
                    <a:bodyPr/>
                    <a:lstStyle/>
                    <a:p>
                      <a:pPr indent="0" lvl="0" marL="0" rtl="0" algn="l">
                        <a:spcBef>
                          <a:spcPts val="0"/>
                        </a:spcBef>
                        <a:spcAft>
                          <a:spcPts val="0"/>
                        </a:spcAft>
                        <a:buNone/>
                      </a:pPr>
                      <a:r>
                        <a:rPr lang="el" sz="1000"/>
                        <a:t>[ "The way it works…</a:t>
                      </a:r>
                      <a:endParaRPr sz="1000"/>
                    </a:p>
                  </a:txBody>
                  <a:tcPr marT="91425" marB="91425" marR="91425" marL="91425"/>
                </a:tc>
                <a:tc>
                  <a:txBody>
                    <a:bodyPr/>
                    <a:lstStyle/>
                    <a:p>
                      <a:pPr indent="0" lvl="0" marL="0" rtl="0" algn="l">
                        <a:spcBef>
                          <a:spcPts val="0"/>
                        </a:spcBef>
                        <a:spcAft>
                          <a:spcPts val="0"/>
                        </a:spcAft>
                        <a:buNone/>
                      </a:pPr>
                      <a:r>
                        <a:rPr lang="el" sz="1000"/>
                        <a:t>[ "There are a few reason…</a:t>
                      </a:r>
                      <a:endParaRPr sz="1000"/>
                    </a:p>
                  </a:txBody>
                  <a:tcPr marT="91425" marB="91425" marR="91425" marL="91425"/>
                </a:tc>
                <a:tc>
                  <a:txBody>
                    <a:bodyPr/>
                    <a:lstStyle/>
                    <a:p>
                      <a:pPr indent="0" lvl="0" marL="0" rtl="0" algn="l">
                        <a:spcBef>
                          <a:spcPts val="0"/>
                        </a:spcBef>
                        <a:spcAft>
                          <a:spcPts val="0"/>
                        </a:spcAft>
                        <a:buNone/>
                      </a:pPr>
                      <a:r>
                        <a:rPr lang="el" sz="1000"/>
                        <a:t>nan</a:t>
                      </a:r>
                      <a:endParaRPr sz="1000"/>
                    </a:p>
                  </a:txBody>
                  <a:tcPr marT="91425" marB="91425" marR="91425" marL="91425"/>
                </a:tc>
              </a:tr>
              <a:tr h="408775">
                <a:tc>
                  <a:txBody>
                    <a:bodyPr/>
                    <a:lstStyle/>
                    <a:p>
                      <a:pPr indent="0" lvl="0" marL="0" rtl="0" algn="l">
                        <a:spcBef>
                          <a:spcPts val="0"/>
                        </a:spcBef>
                        <a:spcAft>
                          <a:spcPts val="0"/>
                        </a:spcAft>
                        <a:buNone/>
                      </a:pPr>
                      <a:r>
                        <a:rPr lang="el"/>
                        <a:t>3</a:t>
                      </a:r>
                      <a:endParaRPr/>
                    </a:p>
                  </a:txBody>
                  <a:tcPr marT="91425" marB="91425" marR="91425" marL="91425"/>
                </a:tc>
                <a:tc>
                  <a:txBody>
                    <a:bodyPr/>
                    <a:lstStyle/>
                    <a:p>
                      <a:pPr indent="0" lvl="0" marL="0" rtl="0" algn="l">
                        <a:spcBef>
                          <a:spcPts val="0"/>
                        </a:spcBef>
                        <a:spcAft>
                          <a:spcPts val="0"/>
                        </a:spcAft>
                        <a:buNone/>
                      </a:pPr>
                      <a:r>
                        <a:rPr lang="el" sz="1000"/>
                        <a:t>Why has nobody assassinated Kim…</a:t>
                      </a:r>
                      <a:endParaRPr sz="1000"/>
                    </a:p>
                  </a:txBody>
                  <a:tcPr marT="91425" marB="91425" marR="91425" marL="91425"/>
                </a:tc>
                <a:tc>
                  <a:txBody>
                    <a:bodyPr/>
                    <a:lstStyle/>
                    <a:p>
                      <a:pPr indent="0" lvl="0" marL="0" rtl="0" algn="l">
                        <a:spcBef>
                          <a:spcPts val="0"/>
                        </a:spcBef>
                        <a:spcAft>
                          <a:spcPts val="0"/>
                        </a:spcAft>
                        <a:buNone/>
                      </a:pPr>
                      <a:r>
                        <a:rPr lang="el" sz="1000"/>
                        <a:t>[ "You ca n't just…</a:t>
                      </a:r>
                      <a:endParaRPr sz="1000"/>
                    </a:p>
                  </a:txBody>
                  <a:tcPr marT="91425" marB="91425" marR="91425" marL="91425"/>
                </a:tc>
                <a:tc>
                  <a:txBody>
                    <a:bodyPr/>
                    <a:lstStyle/>
                    <a:p>
                      <a:pPr indent="0" lvl="0" marL="0" rtl="0" algn="l">
                        <a:spcBef>
                          <a:spcPts val="0"/>
                        </a:spcBef>
                        <a:spcAft>
                          <a:spcPts val="0"/>
                        </a:spcAft>
                        <a:buNone/>
                      </a:pPr>
                      <a:r>
                        <a:rPr lang="el" sz="1000"/>
                        <a:t>[ "It is generally no…</a:t>
                      </a:r>
                      <a:endParaRPr sz="1000"/>
                    </a:p>
                  </a:txBody>
                  <a:tcPr marT="91425" marB="91425" marR="91425" marL="91425"/>
                </a:tc>
                <a:tc>
                  <a:txBody>
                    <a:bodyPr/>
                    <a:lstStyle/>
                    <a:p>
                      <a:pPr indent="0" lvl="0" marL="0" rtl="0" algn="l">
                        <a:spcBef>
                          <a:spcPts val="0"/>
                        </a:spcBef>
                        <a:spcAft>
                          <a:spcPts val="0"/>
                        </a:spcAft>
                        <a:buNone/>
                      </a:pPr>
                      <a:r>
                        <a:rPr lang="el" sz="1000"/>
                        <a:t>medicine</a:t>
                      </a:r>
                      <a:endParaRPr sz="1000"/>
                    </a:p>
                  </a:txBody>
                  <a:tcPr marT="91425" marB="91425" marR="91425" marL="91425"/>
                </a:tc>
              </a:tr>
            </a:tbl>
          </a:graphicData>
        </a:graphic>
      </p:graphicFrame>
      <p:cxnSp>
        <p:nvCxnSpPr>
          <p:cNvPr id="256" name="Google Shape;256;p29"/>
          <p:cNvCxnSpPr/>
          <p:nvPr/>
        </p:nvCxnSpPr>
        <p:spPr>
          <a:xfrm>
            <a:off x="7040125" y="1483050"/>
            <a:ext cx="7800" cy="1787400"/>
          </a:xfrm>
          <a:prstGeom prst="straightConnector1">
            <a:avLst/>
          </a:prstGeom>
          <a:noFill/>
          <a:ln cap="flat" cmpd="sng" w="9525">
            <a:solidFill>
              <a:schemeClr val="dk2"/>
            </a:solidFill>
            <a:prstDash val="solid"/>
            <a:round/>
            <a:headEnd len="med" w="med" type="none"/>
            <a:tailEnd len="med" w="med" type="none"/>
          </a:ln>
        </p:spPr>
      </p:cxnSp>
      <p:cxnSp>
        <p:nvCxnSpPr>
          <p:cNvPr id="257" name="Google Shape;257;p29"/>
          <p:cNvCxnSpPr/>
          <p:nvPr/>
        </p:nvCxnSpPr>
        <p:spPr>
          <a:xfrm>
            <a:off x="8917225" y="1670250"/>
            <a:ext cx="0" cy="1803000"/>
          </a:xfrm>
          <a:prstGeom prst="straightConnector1">
            <a:avLst/>
          </a:prstGeom>
          <a:noFill/>
          <a:ln cap="flat" cmpd="sng" w="9525">
            <a:solidFill>
              <a:schemeClr val="dk2"/>
            </a:solidFill>
            <a:prstDash val="solid"/>
            <a:round/>
            <a:headEnd len="med" w="med" type="none"/>
            <a:tailEnd len="med" w="med" type="none"/>
          </a:ln>
        </p:spPr>
      </p:cxnSp>
      <p:cxnSp>
        <p:nvCxnSpPr>
          <p:cNvPr id="258" name="Google Shape;258;p29"/>
          <p:cNvCxnSpPr/>
          <p:nvPr/>
        </p:nvCxnSpPr>
        <p:spPr>
          <a:xfrm>
            <a:off x="7040113" y="3270450"/>
            <a:ext cx="1865400" cy="195300"/>
          </a:xfrm>
          <a:prstGeom prst="straightConnector1">
            <a:avLst/>
          </a:prstGeom>
          <a:noFill/>
          <a:ln cap="flat" cmpd="sng" w="9525">
            <a:solidFill>
              <a:schemeClr val="dk2"/>
            </a:solidFill>
            <a:prstDash val="solid"/>
            <a:round/>
            <a:headEnd len="med" w="med" type="none"/>
            <a:tailEnd len="med" w="med" type="none"/>
          </a:ln>
        </p:spPr>
      </p:cxnSp>
      <p:cxnSp>
        <p:nvCxnSpPr>
          <p:cNvPr id="259" name="Google Shape;259;p29"/>
          <p:cNvCxnSpPr/>
          <p:nvPr/>
        </p:nvCxnSpPr>
        <p:spPr>
          <a:xfrm>
            <a:off x="7054363" y="1483050"/>
            <a:ext cx="1860300" cy="1638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30"/>
          <p:cNvSpPr txBox="1"/>
          <p:nvPr>
            <p:ph idx="1" type="subTitle"/>
          </p:nvPr>
        </p:nvSpPr>
        <p:spPr>
          <a:xfrm>
            <a:off x="132175" y="2005900"/>
            <a:ext cx="8520600" cy="1006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l" sz="1500">
                <a:latin typeface="Times New Roman"/>
                <a:ea typeface="Times New Roman"/>
                <a:cs typeface="Times New Roman"/>
                <a:sym typeface="Times New Roman"/>
              </a:rPr>
              <a:t>48,644 rows across 6 columns:  _split, id, question, human_answers, chatgpt_answers, and source</a:t>
            </a:r>
            <a:r>
              <a:rPr lang="el" sz="1800">
                <a:latin typeface="Times New Roman"/>
                <a:ea typeface="Times New Roman"/>
                <a:cs typeface="Times New Roman"/>
                <a:sym typeface="Times New Roman"/>
              </a:rPr>
              <a:t> </a:t>
            </a:r>
            <a:endParaRPr sz="1800">
              <a:latin typeface="Times New Roman"/>
              <a:ea typeface="Times New Roman"/>
              <a:cs typeface="Times New Roman"/>
              <a:sym typeface="Times New Roman"/>
            </a:endParaRPr>
          </a:p>
        </p:txBody>
      </p:sp>
      <p:sp>
        <p:nvSpPr>
          <p:cNvPr id="265" name="Google Shape;265;p30"/>
          <p:cNvSpPr txBox="1"/>
          <p:nvPr>
            <p:ph idx="1" type="subTitle"/>
          </p:nvPr>
        </p:nvSpPr>
        <p:spPr>
          <a:xfrm>
            <a:off x="3049800" y="1337788"/>
            <a:ext cx="2622900" cy="6681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b="1" lang="el" sz="1700">
                <a:latin typeface="Times New Roman"/>
                <a:ea typeface="Times New Roman"/>
                <a:cs typeface="Times New Roman"/>
                <a:sym typeface="Times New Roman"/>
              </a:rPr>
              <a:t>viewSchema():</a:t>
            </a:r>
            <a:endParaRPr b="1" sz="1700">
              <a:latin typeface="Times New Roman"/>
              <a:ea typeface="Times New Roman"/>
              <a:cs typeface="Times New Roman"/>
              <a:sym typeface="Times New Roman"/>
            </a:endParaRPr>
          </a:p>
        </p:txBody>
      </p:sp>
      <p:sp>
        <p:nvSpPr>
          <p:cNvPr id="266" name="Google Shape;266;p3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l"/>
              <a:t>‹#›</a:t>
            </a:fld>
            <a:endParaRPr/>
          </a:p>
        </p:txBody>
      </p:sp>
      <p:cxnSp>
        <p:nvCxnSpPr>
          <p:cNvPr id="267" name="Google Shape;267;p30"/>
          <p:cNvCxnSpPr/>
          <p:nvPr/>
        </p:nvCxnSpPr>
        <p:spPr>
          <a:xfrm>
            <a:off x="91975" y="952250"/>
            <a:ext cx="4684800" cy="15600"/>
          </a:xfrm>
          <a:prstGeom prst="straightConnector1">
            <a:avLst/>
          </a:prstGeom>
          <a:noFill/>
          <a:ln cap="flat" cmpd="sng" w="9525">
            <a:solidFill>
              <a:schemeClr val="dk2"/>
            </a:solidFill>
            <a:prstDash val="solid"/>
            <a:round/>
            <a:headEnd len="med" w="med" type="none"/>
            <a:tailEnd len="med" w="med" type="none"/>
          </a:ln>
        </p:spPr>
      </p:cxnSp>
      <p:sp>
        <p:nvSpPr>
          <p:cNvPr id="268" name="Google Shape;268;p30"/>
          <p:cNvSpPr txBox="1"/>
          <p:nvPr>
            <p:ph type="ctrTitle"/>
          </p:nvPr>
        </p:nvSpPr>
        <p:spPr>
          <a:xfrm>
            <a:off x="194625" y="70250"/>
            <a:ext cx="2677500" cy="8976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l" sz="3400">
                <a:latin typeface="Times New Roman"/>
                <a:ea typeface="Times New Roman"/>
                <a:cs typeface="Times New Roman"/>
                <a:sym typeface="Times New Roman"/>
              </a:rPr>
              <a:t>EDA</a:t>
            </a:r>
            <a:endParaRPr sz="3400">
              <a:latin typeface="Times New Roman"/>
              <a:ea typeface="Times New Roman"/>
              <a:cs typeface="Times New Roman"/>
              <a:sym typeface="Times New Roman"/>
            </a:endParaRPr>
          </a:p>
        </p:txBody>
      </p:sp>
      <p:sp>
        <p:nvSpPr>
          <p:cNvPr id="269" name="Google Shape;269;p30"/>
          <p:cNvSpPr/>
          <p:nvPr/>
        </p:nvSpPr>
        <p:spPr>
          <a:xfrm>
            <a:off x="312200" y="2723950"/>
            <a:ext cx="8569800" cy="1939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70" name="Google Shape;270;p30"/>
          <p:cNvPicPr preferRelativeResize="0"/>
          <p:nvPr/>
        </p:nvPicPr>
        <p:blipFill>
          <a:blip r:embed="rId3">
            <a:alphaModFix/>
          </a:blip>
          <a:stretch>
            <a:fillRect/>
          </a:stretch>
        </p:blipFill>
        <p:spPr>
          <a:xfrm>
            <a:off x="847650" y="2884075"/>
            <a:ext cx="7464675" cy="165062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31"/>
          <p:cNvSpPr txBox="1"/>
          <p:nvPr>
            <p:ph type="ctrTitle"/>
          </p:nvPr>
        </p:nvSpPr>
        <p:spPr>
          <a:xfrm>
            <a:off x="194625" y="70250"/>
            <a:ext cx="2677500" cy="8976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l" sz="3400">
                <a:latin typeface="Times New Roman"/>
                <a:ea typeface="Times New Roman"/>
                <a:cs typeface="Times New Roman"/>
                <a:sym typeface="Times New Roman"/>
              </a:rPr>
              <a:t>EDA</a:t>
            </a:r>
            <a:endParaRPr sz="3400">
              <a:latin typeface="Times New Roman"/>
              <a:ea typeface="Times New Roman"/>
              <a:cs typeface="Times New Roman"/>
              <a:sym typeface="Times New Roman"/>
            </a:endParaRPr>
          </a:p>
        </p:txBody>
      </p:sp>
      <p:sp>
        <p:nvSpPr>
          <p:cNvPr id="276" name="Google Shape;276;p31"/>
          <p:cNvSpPr txBox="1"/>
          <p:nvPr>
            <p:ph idx="1" type="subTitle"/>
          </p:nvPr>
        </p:nvSpPr>
        <p:spPr>
          <a:xfrm>
            <a:off x="194625" y="1103700"/>
            <a:ext cx="2622900" cy="6681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SzPts val="1018"/>
              <a:buNone/>
            </a:pPr>
            <a:r>
              <a:rPr b="1" lang="el" sz="1173">
                <a:latin typeface="Times New Roman"/>
                <a:ea typeface="Times New Roman"/>
                <a:cs typeface="Times New Roman"/>
                <a:sym typeface="Times New Roman"/>
              </a:rPr>
              <a:t>viewSample(n = 100) για να δούμε 100 τυχαία. </a:t>
            </a:r>
            <a:endParaRPr b="1" sz="1173">
              <a:latin typeface="Times New Roman"/>
              <a:ea typeface="Times New Roman"/>
              <a:cs typeface="Times New Roman"/>
              <a:sym typeface="Times New Roman"/>
            </a:endParaRPr>
          </a:p>
        </p:txBody>
      </p:sp>
      <p:pic>
        <p:nvPicPr>
          <p:cNvPr id="277" name="Google Shape;277;p31"/>
          <p:cNvPicPr preferRelativeResize="0"/>
          <p:nvPr/>
        </p:nvPicPr>
        <p:blipFill>
          <a:blip r:embed="rId3">
            <a:alphaModFix/>
          </a:blip>
          <a:stretch>
            <a:fillRect/>
          </a:stretch>
        </p:blipFill>
        <p:spPr>
          <a:xfrm>
            <a:off x="5299700" y="2398629"/>
            <a:ext cx="2891750" cy="2386371"/>
          </a:xfrm>
          <a:prstGeom prst="rect">
            <a:avLst/>
          </a:prstGeom>
          <a:noFill/>
          <a:ln>
            <a:noFill/>
          </a:ln>
        </p:spPr>
      </p:pic>
      <p:sp>
        <p:nvSpPr>
          <p:cNvPr id="278" name="Google Shape;278;p31"/>
          <p:cNvSpPr txBox="1"/>
          <p:nvPr>
            <p:ph idx="1" type="subTitle"/>
          </p:nvPr>
        </p:nvSpPr>
        <p:spPr>
          <a:xfrm>
            <a:off x="5529550" y="1663125"/>
            <a:ext cx="2622900" cy="5535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b="1" lang="el" sz="1400">
                <a:latin typeface="Times New Roman"/>
                <a:ea typeface="Times New Roman"/>
                <a:cs typeface="Times New Roman"/>
                <a:sym typeface="Times New Roman"/>
              </a:rPr>
              <a:t>plotMissingness():</a:t>
            </a:r>
            <a:endParaRPr b="1" sz="1400">
              <a:latin typeface="Times New Roman"/>
              <a:ea typeface="Times New Roman"/>
              <a:cs typeface="Times New Roman"/>
              <a:sym typeface="Times New Roman"/>
            </a:endParaRPr>
          </a:p>
        </p:txBody>
      </p:sp>
      <p:sp>
        <p:nvSpPr>
          <p:cNvPr id="279" name="Google Shape;279;p3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l"/>
              <a:t>‹#›</a:t>
            </a:fld>
            <a:endParaRPr/>
          </a:p>
        </p:txBody>
      </p:sp>
      <p:cxnSp>
        <p:nvCxnSpPr>
          <p:cNvPr id="280" name="Google Shape;280;p31"/>
          <p:cNvCxnSpPr/>
          <p:nvPr/>
        </p:nvCxnSpPr>
        <p:spPr>
          <a:xfrm>
            <a:off x="91975" y="952250"/>
            <a:ext cx="4684800" cy="15600"/>
          </a:xfrm>
          <a:prstGeom prst="straightConnector1">
            <a:avLst/>
          </a:prstGeom>
          <a:noFill/>
          <a:ln cap="flat" cmpd="sng" w="9525">
            <a:solidFill>
              <a:schemeClr val="dk2"/>
            </a:solidFill>
            <a:prstDash val="solid"/>
            <a:round/>
            <a:headEnd len="med" w="med" type="none"/>
            <a:tailEnd len="med" w="med" type="none"/>
          </a:ln>
        </p:spPr>
      </p:cxnSp>
      <p:pic>
        <p:nvPicPr>
          <p:cNvPr id="281" name="Google Shape;281;p31"/>
          <p:cNvPicPr preferRelativeResize="0"/>
          <p:nvPr/>
        </p:nvPicPr>
        <p:blipFill>
          <a:blip r:embed="rId4">
            <a:alphaModFix/>
          </a:blip>
          <a:stretch>
            <a:fillRect/>
          </a:stretch>
        </p:blipFill>
        <p:spPr>
          <a:xfrm>
            <a:off x="441200" y="2216625"/>
            <a:ext cx="3493500" cy="2750375"/>
          </a:xfrm>
          <a:prstGeom prst="rect">
            <a:avLst/>
          </a:prstGeom>
          <a:noFill/>
          <a:ln>
            <a:noFill/>
          </a:ln>
        </p:spPr>
      </p:pic>
      <p:sp>
        <p:nvSpPr>
          <p:cNvPr id="282" name="Google Shape;282;p31"/>
          <p:cNvSpPr txBox="1"/>
          <p:nvPr/>
        </p:nvSpPr>
        <p:spPr>
          <a:xfrm>
            <a:off x="553650" y="1907650"/>
            <a:ext cx="2357700" cy="3786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b="1" lang="el">
                <a:solidFill>
                  <a:schemeClr val="dk2"/>
                </a:solidFill>
                <a:latin typeface="Times New Roman"/>
                <a:ea typeface="Times New Roman"/>
                <a:cs typeface="Times New Roman"/>
                <a:sym typeface="Times New Roman"/>
              </a:rPr>
              <a:t>plotDistributions()</a:t>
            </a:r>
            <a:endParaRPr sz="1000">
              <a:latin typeface="Times New Roman"/>
              <a:ea typeface="Times New Roman"/>
              <a:cs typeface="Times New Roman"/>
              <a:sym typeface="Times New Roman"/>
            </a:endParaRPr>
          </a:p>
        </p:txBody>
      </p:sp>
      <p:sp>
        <p:nvSpPr>
          <p:cNvPr id="283" name="Google Shape;283;p31"/>
          <p:cNvSpPr txBox="1"/>
          <p:nvPr/>
        </p:nvSpPr>
        <p:spPr>
          <a:xfrm>
            <a:off x="3871300" y="4588400"/>
            <a:ext cx="1580100" cy="378600"/>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0"/>
              </a:spcBef>
              <a:spcAft>
                <a:spcPts val="0"/>
              </a:spcAft>
              <a:buClr>
                <a:schemeClr val="dk1"/>
              </a:buClr>
              <a:buSzPts val="1100"/>
              <a:buFont typeface="Arial"/>
              <a:buNone/>
            </a:pPr>
            <a:r>
              <a:rPr b="1" i="1" lang="el" sz="1100">
                <a:solidFill>
                  <a:schemeClr val="dk2"/>
                </a:solidFill>
              </a:rPr>
              <a:t>&lt;NA&gt; -&gt; “unknown”</a:t>
            </a:r>
            <a:endParaRPr b="1" i="1" sz="1100">
              <a:solidFill>
                <a:schemeClr val="dk2"/>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32"/>
          <p:cNvSpPr txBox="1"/>
          <p:nvPr>
            <p:ph type="ctrTitle"/>
          </p:nvPr>
        </p:nvSpPr>
        <p:spPr>
          <a:xfrm>
            <a:off x="91975" y="-113000"/>
            <a:ext cx="8520600" cy="995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SzPts val="990"/>
              <a:buNone/>
            </a:pPr>
            <a:r>
              <a:rPr lang="el" sz="3400">
                <a:latin typeface="Times New Roman"/>
                <a:ea typeface="Times New Roman"/>
                <a:cs typeface="Times New Roman"/>
                <a:sym typeface="Times New Roman"/>
              </a:rPr>
              <a:t>Preprocessing </a:t>
            </a:r>
            <a:endParaRPr sz="3400">
              <a:latin typeface="Times New Roman"/>
              <a:ea typeface="Times New Roman"/>
              <a:cs typeface="Times New Roman"/>
              <a:sym typeface="Times New Roman"/>
            </a:endParaRPr>
          </a:p>
        </p:txBody>
      </p:sp>
      <p:sp>
        <p:nvSpPr>
          <p:cNvPr id="289" name="Google Shape;289;p32"/>
          <p:cNvSpPr txBox="1"/>
          <p:nvPr>
            <p:ph idx="1" type="subTitle"/>
          </p:nvPr>
        </p:nvSpPr>
        <p:spPr>
          <a:xfrm>
            <a:off x="218050" y="1096650"/>
            <a:ext cx="5534400" cy="2532600"/>
          </a:xfrm>
          <a:prstGeom prst="rect">
            <a:avLst/>
          </a:prstGeom>
        </p:spPr>
        <p:txBody>
          <a:bodyPr anchorCtr="0" anchor="t" bIns="91425" lIns="91425" spcFirstLastPara="1" rIns="91425" wrap="square" tIns="91425">
            <a:normAutofit/>
          </a:bodyPr>
          <a:lstStyle/>
          <a:p>
            <a:pPr indent="-323850" lvl="0" marL="457200" rtl="0" algn="l">
              <a:lnSpc>
                <a:spcPct val="90000"/>
              </a:lnSpc>
              <a:spcBef>
                <a:spcPts val="0"/>
              </a:spcBef>
              <a:spcAft>
                <a:spcPts val="0"/>
              </a:spcAft>
              <a:buSzPts val="1500"/>
              <a:buFont typeface="Times New Roman"/>
              <a:buChar char="-"/>
            </a:pPr>
            <a:r>
              <a:rPr lang="el" sz="1500">
                <a:latin typeface="Times New Roman"/>
                <a:ea typeface="Times New Roman"/>
                <a:cs typeface="Times New Roman"/>
                <a:sym typeface="Times New Roman"/>
              </a:rPr>
              <a:t>Missing Values είχαμε μόνο στο source.</a:t>
            </a:r>
            <a:endParaRPr sz="1500">
              <a:latin typeface="Times New Roman"/>
              <a:ea typeface="Times New Roman"/>
              <a:cs typeface="Times New Roman"/>
              <a:sym typeface="Times New Roman"/>
            </a:endParaRPr>
          </a:p>
          <a:p>
            <a:pPr indent="0" lvl="0" marL="0" rtl="0" algn="l">
              <a:lnSpc>
                <a:spcPct val="90000"/>
              </a:lnSpc>
              <a:spcBef>
                <a:spcPts val="0"/>
              </a:spcBef>
              <a:spcAft>
                <a:spcPts val="0"/>
              </a:spcAft>
              <a:buNone/>
            </a:pPr>
            <a:r>
              <a:rPr lang="el" sz="1500">
                <a:latin typeface="Times New Roman"/>
                <a:ea typeface="Times New Roman"/>
                <a:cs typeface="Times New Roman"/>
                <a:sym typeface="Times New Roman"/>
              </a:rPr>
              <a:t>   -     Label Construction: Y(label) , +X (engineered features)</a:t>
            </a:r>
            <a:endParaRPr sz="1500">
              <a:latin typeface="Times New Roman"/>
              <a:ea typeface="Times New Roman"/>
              <a:cs typeface="Times New Roman"/>
              <a:sym typeface="Times New Roman"/>
            </a:endParaRPr>
          </a:p>
          <a:p>
            <a:pPr indent="0" lvl="0" marL="0" rtl="0" algn="l">
              <a:lnSpc>
                <a:spcPct val="90000"/>
              </a:lnSpc>
              <a:spcBef>
                <a:spcPts val="0"/>
              </a:spcBef>
              <a:spcAft>
                <a:spcPts val="0"/>
              </a:spcAft>
              <a:buNone/>
            </a:pPr>
            <a:r>
              <a:rPr lang="el" sz="1500">
                <a:latin typeface="Times New Roman"/>
                <a:ea typeface="Times New Roman"/>
                <a:cs typeface="Times New Roman"/>
                <a:sym typeface="Times New Roman"/>
              </a:rPr>
              <a:t>   -     Flattening Dataset based on Question-Answers and Y</a:t>
            </a:r>
            <a:endParaRPr sz="1500">
              <a:latin typeface="Times New Roman"/>
              <a:ea typeface="Times New Roman"/>
              <a:cs typeface="Times New Roman"/>
              <a:sym typeface="Times New Roman"/>
            </a:endParaRPr>
          </a:p>
          <a:p>
            <a:pPr indent="0" lvl="0" marL="0" rtl="0" algn="l">
              <a:lnSpc>
                <a:spcPct val="90000"/>
              </a:lnSpc>
              <a:spcBef>
                <a:spcPts val="0"/>
              </a:spcBef>
              <a:spcAft>
                <a:spcPts val="0"/>
              </a:spcAft>
              <a:buNone/>
            </a:pPr>
            <a:r>
              <a:t/>
            </a:r>
            <a:endParaRPr sz="1500">
              <a:latin typeface="Times New Roman"/>
              <a:ea typeface="Times New Roman"/>
              <a:cs typeface="Times New Roman"/>
              <a:sym typeface="Times New Roman"/>
            </a:endParaRPr>
          </a:p>
          <a:p>
            <a:pPr indent="0" lvl="0" marL="0" rtl="0" algn="ctr">
              <a:lnSpc>
                <a:spcPct val="90000"/>
              </a:lnSpc>
              <a:spcBef>
                <a:spcPts val="0"/>
              </a:spcBef>
              <a:spcAft>
                <a:spcPts val="0"/>
              </a:spcAft>
              <a:buNone/>
            </a:pPr>
            <a:r>
              <a:t/>
            </a:r>
            <a:endParaRPr sz="2500">
              <a:latin typeface="Times New Roman"/>
              <a:ea typeface="Times New Roman"/>
              <a:cs typeface="Times New Roman"/>
              <a:sym typeface="Times New Roman"/>
            </a:endParaRPr>
          </a:p>
          <a:p>
            <a:pPr indent="0" lvl="0" marL="0" rtl="0" algn="ctr">
              <a:lnSpc>
                <a:spcPct val="90000"/>
              </a:lnSpc>
              <a:spcBef>
                <a:spcPts val="0"/>
              </a:spcBef>
              <a:spcAft>
                <a:spcPts val="0"/>
              </a:spcAft>
              <a:buNone/>
            </a:pPr>
            <a:r>
              <a:t/>
            </a:r>
            <a:endParaRPr sz="2500">
              <a:latin typeface="Times New Roman"/>
              <a:ea typeface="Times New Roman"/>
              <a:cs typeface="Times New Roman"/>
              <a:sym typeface="Times New Roman"/>
            </a:endParaRPr>
          </a:p>
        </p:txBody>
      </p:sp>
      <p:sp>
        <p:nvSpPr>
          <p:cNvPr id="290" name="Google Shape;290;p3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l"/>
              <a:t>‹#›</a:t>
            </a:fld>
            <a:endParaRPr/>
          </a:p>
        </p:txBody>
      </p:sp>
      <p:cxnSp>
        <p:nvCxnSpPr>
          <p:cNvPr id="291" name="Google Shape;291;p32"/>
          <p:cNvCxnSpPr/>
          <p:nvPr/>
        </p:nvCxnSpPr>
        <p:spPr>
          <a:xfrm>
            <a:off x="91975" y="952250"/>
            <a:ext cx="4684800" cy="15600"/>
          </a:xfrm>
          <a:prstGeom prst="straightConnector1">
            <a:avLst/>
          </a:prstGeom>
          <a:noFill/>
          <a:ln cap="flat" cmpd="sng" w="9525">
            <a:solidFill>
              <a:schemeClr val="dk2"/>
            </a:solidFill>
            <a:prstDash val="solid"/>
            <a:round/>
            <a:headEnd len="med" w="med" type="none"/>
            <a:tailEnd len="med" w="med" type="none"/>
          </a:ln>
        </p:spPr>
      </p:cxnSp>
      <p:pic>
        <p:nvPicPr>
          <p:cNvPr id="292" name="Google Shape;292;p32"/>
          <p:cNvPicPr preferRelativeResize="0"/>
          <p:nvPr/>
        </p:nvPicPr>
        <p:blipFill>
          <a:blip r:embed="rId3">
            <a:alphaModFix/>
          </a:blip>
          <a:stretch>
            <a:fillRect/>
          </a:stretch>
        </p:blipFill>
        <p:spPr>
          <a:xfrm>
            <a:off x="1813351" y="2273301"/>
            <a:ext cx="5673200" cy="170725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33"/>
          <p:cNvSpPr txBox="1"/>
          <p:nvPr>
            <p:ph type="ctrTitle"/>
          </p:nvPr>
        </p:nvSpPr>
        <p:spPr>
          <a:xfrm>
            <a:off x="155575" y="0"/>
            <a:ext cx="8520600" cy="10254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l" sz="3400">
                <a:latin typeface="Times New Roman"/>
                <a:ea typeface="Times New Roman"/>
                <a:cs typeface="Times New Roman"/>
                <a:sym typeface="Times New Roman"/>
              </a:rPr>
              <a:t>Feature Engineering</a:t>
            </a:r>
            <a:endParaRPr sz="3400">
              <a:latin typeface="Times New Roman"/>
              <a:ea typeface="Times New Roman"/>
              <a:cs typeface="Times New Roman"/>
              <a:sym typeface="Times New Roman"/>
            </a:endParaRPr>
          </a:p>
        </p:txBody>
      </p:sp>
      <p:sp>
        <p:nvSpPr>
          <p:cNvPr id="298" name="Google Shape;298;p33"/>
          <p:cNvSpPr txBox="1"/>
          <p:nvPr>
            <p:ph idx="1" type="subTitle"/>
          </p:nvPr>
        </p:nvSpPr>
        <p:spPr>
          <a:xfrm>
            <a:off x="116550" y="1353125"/>
            <a:ext cx="4597800" cy="1776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l" sz="1800">
                <a:latin typeface="Times New Roman"/>
                <a:ea typeface="Times New Roman"/>
                <a:cs typeface="Times New Roman"/>
                <a:sym typeface="Times New Roman"/>
              </a:rPr>
              <a:t>- Raw text Feature Engineering</a:t>
            </a:r>
            <a:endParaRPr sz="1800">
              <a:latin typeface="Times New Roman"/>
              <a:ea typeface="Times New Roman"/>
              <a:cs typeface="Times New Roman"/>
              <a:sym typeface="Times New Roman"/>
            </a:endParaRPr>
          </a:p>
          <a:p>
            <a:pPr indent="0" lvl="0" marL="0" rtl="0" algn="l">
              <a:spcBef>
                <a:spcPts val="0"/>
              </a:spcBef>
              <a:spcAft>
                <a:spcPts val="0"/>
              </a:spcAft>
              <a:buNone/>
            </a:pPr>
            <a:r>
              <a:rPr lang="el" sz="1800">
                <a:latin typeface="Times New Roman"/>
                <a:ea typeface="Times New Roman"/>
                <a:cs typeface="Times New Roman"/>
                <a:sym typeface="Times New Roman"/>
              </a:rPr>
              <a:t> νέες στήλες με χαρακτηριστικα (Word count per answer, Average word length per answer,character count)</a:t>
            </a:r>
            <a:endParaRPr sz="1800">
              <a:latin typeface="Times New Roman"/>
              <a:ea typeface="Times New Roman"/>
              <a:cs typeface="Times New Roman"/>
              <a:sym typeface="Times New Roman"/>
            </a:endParaRPr>
          </a:p>
          <a:p>
            <a:pPr indent="0" lvl="0" marL="0" rtl="0" algn="l">
              <a:spcBef>
                <a:spcPts val="0"/>
              </a:spcBef>
              <a:spcAft>
                <a:spcPts val="0"/>
              </a:spcAft>
              <a:buNone/>
            </a:pPr>
            <a:r>
              <a:rPr lang="el" sz="1800">
                <a:latin typeface="Times New Roman"/>
                <a:ea typeface="Times New Roman"/>
                <a:cs typeface="Times New Roman"/>
                <a:sym typeface="Times New Roman"/>
              </a:rPr>
              <a:t>- Embeddings για Text &amp; Question </a:t>
            </a:r>
            <a:endParaRPr sz="1800">
              <a:latin typeface="Times New Roman"/>
              <a:ea typeface="Times New Roman"/>
              <a:cs typeface="Times New Roman"/>
              <a:sym typeface="Times New Roman"/>
            </a:endParaRPr>
          </a:p>
        </p:txBody>
      </p:sp>
      <p:sp>
        <p:nvSpPr>
          <p:cNvPr id="299" name="Google Shape;299;p3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l"/>
              <a:t>‹#›</a:t>
            </a:fld>
            <a:endParaRPr/>
          </a:p>
        </p:txBody>
      </p:sp>
      <p:cxnSp>
        <p:nvCxnSpPr>
          <p:cNvPr id="300" name="Google Shape;300;p33"/>
          <p:cNvCxnSpPr/>
          <p:nvPr/>
        </p:nvCxnSpPr>
        <p:spPr>
          <a:xfrm>
            <a:off x="91975" y="952250"/>
            <a:ext cx="4684800" cy="15600"/>
          </a:xfrm>
          <a:prstGeom prst="straightConnector1">
            <a:avLst/>
          </a:prstGeom>
          <a:noFill/>
          <a:ln cap="flat" cmpd="sng" w="9525">
            <a:solidFill>
              <a:schemeClr val="dk2"/>
            </a:solidFill>
            <a:prstDash val="solid"/>
            <a:round/>
            <a:headEnd len="med" w="med" type="none"/>
            <a:tailEnd len="med" w="med" type="none"/>
          </a:ln>
        </p:spPr>
      </p:cxnSp>
      <p:pic>
        <p:nvPicPr>
          <p:cNvPr id="301" name="Google Shape;301;p33"/>
          <p:cNvPicPr preferRelativeResize="0"/>
          <p:nvPr/>
        </p:nvPicPr>
        <p:blipFill>
          <a:blip r:embed="rId3">
            <a:alphaModFix/>
          </a:blip>
          <a:stretch>
            <a:fillRect/>
          </a:stretch>
        </p:blipFill>
        <p:spPr>
          <a:xfrm>
            <a:off x="4971450" y="1225375"/>
            <a:ext cx="3579899" cy="2684924"/>
          </a:xfrm>
          <a:prstGeom prst="rect">
            <a:avLst/>
          </a:prstGeom>
          <a:noFill/>
          <a:ln>
            <a:noFill/>
          </a:ln>
        </p:spPr>
      </p:pic>
      <p:sp>
        <p:nvSpPr>
          <p:cNvPr id="302" name="Google Shape;302;p33"/>
          <p:cNvSpPr txBox="1"/>
          <p:nvPr/>
        </p:nvSpPr>
        <p:spPr>
          <a:xfrm>
            <a:off x="1373675" y="3163775"/>
            <a:ext cx="2013600" cy="96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1200">
                <a:solidFill>
                  <a:schemeClr val="dk2"/>
                </a:solidFill>
                <a:latin typeface="Times New Roman"/>
                <a:ea typeface="Times New Roman"/>
                <a:cs typeface="Times New Roman"/>
                <a:sym typeface="Times New Roman"/>
              </a:rPr>
              <a:t>της μορφής: </a:t>
            </a:r>
            <a:endParaRPr sz="1200">
              <a:solidFill>
                <a:schemeClr val="dk2"/>
              </a:solidFill>
              <a:latin typeface="Times New Roman"/>
              <a:ea typeface="Times New Roman"/>
              <a:cs typeface="Times New Roman"/>
              <a:sym typeface="Times New Roman"/>
            </a:endParaRPr>
          </a:p>
          <a:p>
            <a:pPr indent="0" lvl="0" marL="0" rtl="0" algn="l">
              <a:spcBef>
                <a:spcPts val="0"/>
              </a:spcBef>
              <a:spcAft>
                <a:spcPts val="0"/>
              </a:spcAft>
              <a:buNone/>
            </a:pPr>
            <a:r>
              <a:rPr lang="el" sz="1200">
                <a:solidFill>
                  <a:schemeClr val="dk2"/>
                </a:solidFill>
                <a:latin typeface="Times New Roman"/>
                <a:ea typeface="Times New Roman"/>
                <a:cs typeface="Times New Roman"/>
                <a:sym typeface="Times New Roman"/>
              </a:rPr>
              <a:t>[-2.27e-02 </a:t>
            </a:r>
            <a:endParaRPr sz="1200">
              <a:solidFill>
                <a:schemeClr val="dk2"/>
              </a:solidFill>
              <a:latin typeface="Times New Roman"/>
              <a:ea typeface="Times New Roman"/>
              <a:cs typeface="Times New Roman"/>
              <a:sym typeface="Times New Roman"/>
            </a:endParaRPr>
          </a:p>
          <a:p>
            <a:pPr indent="0" lvl="0" marL="0" rtl="0" algn="l">
              <a:spcBef>
                <a:spcPts val="0"/>
              </a:spcBef>
              <a:spcAft>
                <a:spcPts val="0"/>
              </a:spcAft>
              <a:buNone/>
            </a:pPr>
            <a:r>
              <a:rPr lang="el" sz="1200">
                <a:solidFill>
                  <a:schemeClr val="dk2"/>
                </a:solidFill>
                <a:latin typeface="Times New Roman"/>
                <a:ea typeface="Times New Roman"/>
                <a:cs typeface="Times New Roman"/>
                <a:sym typeface="Times New Roman"/>
              </a:rPr>
              <a:t> -1.09e-01  …]</a:t>
            </a:r>
            <a:endParaRPr sz="1200">
              <a:solidFill>
                <a:schemeClr val="dk2"/>
              </a:solidFill>
              <a:latin typeface="Times New Roman"/>
              <a:ea typeface="Times New Roman"/>
              <a:cs typeface="Times New Roman"/>
              <a:sym typeface="Times New Roman"/>
            </a:endParaRPr>
          </a:p>
          <a:p>
            <a:pPr indent="0" lvl="0" marL="0" rtl="0" algn="l">
              <a:spcBef>
                <a:spcPts val="0"/>
              </a:spcBef>
              <a:spcAft>
                <a:spcPts val="0"/>
              </a:spcAft>
              <a:buNone/>
            </a:pPr>
            <a:r>
              <a:t/>
            </a:r>
            <a:endParaRPr sz="1200">
              <a:solidFill>
                <a:schemeClr val="dk2"/>
              </a:solidFill>
              <a:latin typeface="Times New Roman"/>
              <a:ea typeface="Times New Roman"/>
              <a:cs typeface="Times New Roman"/>
              <a:sym typeface="Times New Roman"/>
            </a:endParaRPr>
          </a:p>
        </p:txBody>
      </p:sp>
      <p:sp>
        <p:nvSpPr>
          <p:cNvPr id="303" name="Google Shape;303;p33"/>
          <p:cNvSpPr txBox="1"/>
          <p:nvPr/>
        </p:nvSpPr>
        <p:spPr>
          <a:xfrm>
            <a:off x="5059950" y="3910300"/>
            <a:ext cx="3402900" cy="51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1000">
                <a:solidFill>
                  <a:schemeClr val="dk2"/>
                </a:solidFill>
                <a:latin typeface="Times New Roman"/>
                <a:ea typeface="Times New Roman"/>
                <a:cs typeface="Times New Roman"/>
                <a:sym typeface="Times New Roman"/>
              </a:rPr>
              <a:t>Embedding = κείμενο σε πολυδιάστατο χώρο σε μορφή αριθμών</a:t>
            </a:r>
            <a:endParaRPr sz="1000">
              <a:solidFill>
                <a:schemeClr val="dk2"/>
              </a:solidFill>
              <a:latin typeface="Times New Roman"/>
              <a:ea typeface="Times New Roman"/>
              <a:cs typeface="Times New Roman"/>
              <a:sym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pic>
        <p:nvPicPr>
          <p:cNvPr id="308" name="Google Shape;308;p34"/>
          <p:cNvPicPr preferRelativeResize="0"/>
          <p:nvPr/>
        </p:nvPicPr>
        <p:blipFill>
          <a:blip r:embed="rId3">
            <a:alphaModFix/>
          </a:blip>
          <a:stretch>
            <a:fillRect/>
          </a:stretch>
        </p:blipFill>
        <p:spPr>
          <a:xfrm>
            <a:off x="815950" y="805700"/>
            <a:ext cx="2574441" cy="1998575"/>
          </a:xfrm>
          <a:prstGeom prst="rect">
            <a:avLst/>
          </a:prstGeom>
          <a:noFill/>
          <a:ln>
            <a:noFill/>
          </a:ln>
        </p:spPr>
      </p:pic>
      <p:pic>
        <p:nvPicPr>
          <p:cNvPr id="309" name="Google Shape;309;p34"/>
          <p:cNvPicPr preferRelativeResize="0"/>
          <p:nvPr/>
        </p:nvPicPr>
        <p:blipFill>
          <a:blip r:embed="rId4">
            <a:alphaModFix/>
          </a:blip>
          <a:stretch>
            <a:fillRect/>
          </a:stretch>
        </p:blipFill>
        <p:spPr>
          <a:xfrm>
            <a:off x="796475" y="2847889"/>
            <a:ext cx="2734900" cy="2087737"/>
          </a:xfrm>
          <a:prstGeom prst="rect">
            <a:avLst/>
          </a:prstGeom>
          <a:noFill/>
          <a:ln>
            <a:noFill/>
          </a:ln>
        </p:spPr>
      </p:pic>
      <p:sp>
        <p:nvSpPr>
          <p:cNvPr id="310" name="Google Shape;310;p3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l"/>
              <a:t>‹#›</a:t>
            </a:fld>
            <a:endParaRPr/>
          </a:p>
        </p:txBody>
      </p:sp>
      <p:sp>
        <p:nvSpPr>
          <p:cNvPr id="311" name="Google Shape;311;p34"/>
          <p:cNvSpPr txBox="1"/>
          <p:nvPr>
            <p:ph idx="1" type="subTitle"/>
          </p:nvPr>
        </p:nvSpPr>
        <p:spPr>
          <a:xfrm>
            <a:off x="335125" y="101450"/>
            <a:ext cx="3536100" cy="741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sz="1400">
                <a:solidFill>
                  <a:srgbClr val="000000"/>
                </a:solidFill>
                <a:latin typeface="Times New Roman"/>
                <a:ea typeface="Times New Roman"/>
                <a:cs typeface="Times New Roman"/>
                <a:sym typeface="Times New Roman"/>
              </a:rPr>
              <a:t>Embeddings on 3d with PCA:</a:t>
            </a:r>
            <a:endParaRPr sz="1400">
              <a:solidFill>
                <a:srgbClr val="000000"/>
              </a:solidFill>
              <a:latin typeface="Times New Roman"/>
              <a:ea typeface="Times New Roman"/>
              <a:cs typeface="Times New Roman"/>
              <a:sym typeface="Times New Roman"/>
            </a:endParaRPr>
          </a:p>
          <a:p>
            <a:pPr indent="0" lvl="0" marL="0" rtl="0" algn="l">
              <a:spcBef>
                <a:spcPts val="0"/>
              </a:spcBef>
              <a:spcAft>
                <a:spcPts val="0"/>
              </a:spcAft>
              <a:buNone/>
            </a:pPr>
            <a:r>
              <a:t/>
            </a:r>
            <a:endParaRPr sz="1400">
              <a:latin typeface="Times New Roman"/>
              <a:ea typeface="Times New Roman"/>
              <a:cs typeface="Times New Roman"/>
              <a:sym typeface="Times New Roman"/>
            </a:endParaRPr>
          </a:p>
        </p:txBody>
      </p:sp>
      <p:cxnSp>
        <p:nvCxnSpPr>
          <p:cNvPr id="312" name="Google Shape;312;p34"/>
          <p:cNvCxnSpPr/>
          <p:nvPr/>
        </p:nvCxnSpPr>
        <p:spPr>
          <a:xfrm flipH="1" rot="10800000">
            <a:off x="335125" y="624425"/>
            <a:ext cx="3942000" cy="7800"/>
          </a:xfrm>
          <a:prstGeom prst="straightConnector1">
            <a:avLst/>
          </a:prstGeom>
          <a:noFill/>
          <a:ln cap="flat" cmpd="sng" w="9525">
            <a:solidFill>
              <a:schemeClr val="dk2"/>
            </a:solidFill>
            <a:prstDash val="solid"/>
            <a:round/>
            <a:headEnd len="med" w="med" type="none"/>
            <a:tailEnd len="med" w="med" type="none"/>
          </a:ln>
        </p:spPr>
      </p:cxnSp>
      <p:sp>
        <p:nvSpPr>
          <p:cNvPr id="313" name="Google Shape;313;p34"/>
          <p:cNvSpPr txBox="1"/>
          <p:nvPr>
            <p:ph idx="1" type="subTitle"/>
          </p:nvPr>
        </p:nvSpPr>
        <p:spPr>
          <a:xfrm>
            <a:off x="4722025" y="64100"/>
            <a:ext cx="4041600" cy="741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Clr>
                <a:schemeClr val="dk1"/>
              </a:buClr>
              <a:buSzPts val="1100"/>
              <a:buFont typeface="Arial"/>
              <a:buNone/>
            </a:pPr>
            <a:r>
              <a:rPr lang="el" sz="1400">
                <a:solidFill>
                  <a:schemeClr val="dk1"/>
                </a:solidFill>
                <a:latin typeface="Times New Roman"/>
                <a:ea typeface="Times New Roman"/>
                <a:cs typeface="Times New Roman"/>
                <a:sym typeface="Times New Roman"/>
              </a:rPr>
              <a:t>Feature engineered columns on 3d with PCA:</a:t>
            </a:r>
            <a:endParaRPr sz="1400">
              <a:solidFill>
                <a:schemeClr val="dk1"/>
              </a:solidFill>
              <a:latin typeface="Times New Roman"/>
              <a:ea typeface="Times New Roman"/>
              <a:cs typeface="Times New Roman"/>
              <a:sym typeface="Times New Roman"/>
            </a:endParaRPr>
          </a:p>
          <a:p>
            <a:pPr indent="0" lvl="0" marL="0" rtl="0" algn="r">
              <a:spcBef>
                <a:spcPts val="0"/>
              </a:spcBef>
              <a:spcAft>
                <a:spcPts val="0"/>
              </a:spcAft>
              <a:buClr>
                <a:schemeClr val="dk1"/>
              </a:buClr>
              <a:buSzPts val="1100"/>
              <a:buFont typeface="Arial"/>
              <a:buNone/>
            </a:pPr>
            <a:r>
              <a:t/>
            </a:r>
            <a:endParaRPr sz="1400">
              <a:latin typeface="Times New Roman"/>
              <a:ea typeface="Times New Roman"/>
              <a:cs typeface="Times New Roman"/>
              <a:sym typeface="Times New Roman"/>
            </a:endParaRPr>
          </a:p>
          <a:p>
            <a:pPr indent="0" lvl="0" marL="0" rtl="0" algn="r">
              <a:spcBef>
                <a:spcPts val="0"/>
              </a:spcBef>
              <a:spcAft>
                <a:spcPts val="0"/>
              </a:spcAft>
              <a:buNone/>
            </a:pPr>
            <a:r>
              <a:t/>
            </a:r>
            <a:endParaRPr sz="1400">
              <a:solidFill>
                <a:srgbClr val="000000"/>
              </a:solidFill>
              <a:latin typeface="Times New Roman"/>
              <a:ea typeface="Times New Roman"/>
              <a:cs typeface="Times New Roman"/>
              <a:sym typeface="Times New Roman"/>
            </a:endParaRPr>
          </a:p>
        </p:txBody>
      </p:sp>
      <p:cxnSp>
        <p:nvCxnSpPr>
          <p:cNvPr id="314" name="Google Shape;314;p34"/>
          <p:cNvCxnSpPr/>
          <p:nvPr/>
        </p:nvCxnSpPr>
        <p:spPr>
          <a:xfrm flipH="1" rot="10800000">
            <a:off x="4928450" y="624425"/>
            <a:ext cx="3942000" cy="7800"/>
          </a:xfrm>
          <a:prstGeom prst="straightConnector1">
            <a:avLst/>
          </a:prstGeom>
          <a:noFill/>
          <a:ln cap="flat" cmpd="sng" w="9525">
            <a:solidFill>
              <a:schemeClr val="dk2"/>
            </a:solidFill>
            <a:prstDash val="solid"/>
            <a:round/>
            <a:headEnd len="med" w="med" type="none"/>
            <a:tailEnd len="med" w="med" type="none"/>
          </a:ln>
        </p:spPr>
      </p:cxnSp>
      <p:cxnSp>
        <p:nvCxnSpPr>
          <p:cNvPr id="315" name="Google Shape;315;p34"/>
          <p:cNvCxnSpPr/>
          <p:nvPr/>
        </p:nvCxnSpPr>
        <p:spPr>
          <a:xfrm flipH="1">
            <a:off x="4542525" y="913175"/>
            <a:ext cx="7800" cy="3902400"/>
          </a:xfrm>
          <a:prstGeom prst="straightConnector1">
            <a:avLst/>
          </a:prstGeom>
          <a:noFill/>
          <a:ln cap="flat" cmpd="sng" w="9525">
            <a:solidFill>
              <a:schemeClr val="dk2"/>
            </a:solidFill>
            <a:prstDash val="solid"/>
            <a:round/>
            <a:headEnd len="med" w="med" type="none"/>
            <a:tailEnd len="med" w="med" type="none"/>
          </a:ln>
        </p:spPr>
      </p:cxnSp>
      <p:pic>
        <p:nvPicPr>
          <p:cNvPr id="316" name="Google Shape;316;p34"/>
          <p:cNvPicPr preferRelativeResize="0"/>
          <p:nvPr/>
        </p:nvPicPr>
        <p:blipFill>
          <a:blip r:embed="rId5">
            <a:alphaModFix/>
          </a:blip>
          <a:stretch>
            <a:fillRect/>
          </a:stretch>
        </p:blipFill>
        <p:spPr>
          <a:xfrm>
            <a:off x="5511012" y="805700"/>
            <a:ext cx="2463619" cy="1998575"/>
          </a:xfrm>
          <a:prstGeom prst="rect">
            <a:avLst/>
          </a:prstGeom>
          <a:noFill/>
          <a:ln>
            <a:noFill/>
          </a:ln>
        </p:spPr>
      </p:pic>
      <p:pic>
        <p:nvPicPr>
          <p:cNvPr id="317" name="Google Shape;317;p34"/>
          <p:cNvPicPr preferRelativeResize="0"/>
          <p:nvPr/>
        </p:nvPicPr>
        <p:blipFill>
          <a:blip r:embed="rId6">
            <a:alphaModFix/>
          </a:blip>
          <a:stretch>
            <a:fillRect/>
          </a:stretch>
        </p:blipFill>
        <p:spPr>
          <a:xfrm>
            <a:off x="5537427" y="2892475"/>
            <a:ext cx="2410773" cy="199857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35"/>
          <p:cNvSpPr txBox="1"/>
          <p:nvPr>
            <p:ph type="ctrTitle"/>
          </p:nvPr>
        </p:nvSpPr>
        <p:spPr>
          <a:xfrm>
            <a:off x="91975" y="0"/>
            <a:ext cx="8520600" cy="9942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l" sz="3400">
                <a:latin typeface="Times New Roman"/>
                <a:ea typeface="Times New Roman"/>
                <a:cs typeface="Times New Roman"/>
                <a:sym typeface="Times New Roman"/>
              </a:rPr>
              <a:t>Split: </a:t>
            </a:r>
            <a:r>
              <a:rPr lang="el" sz="3400">
                <a:latin typeface="Times New Roman"/>
                <a:ea typeface="Times New Roman"/>
                <a:cs typeface="Times New Roman"/>
                <a:sym typeface="Times New Roman"/>
              </a:rPr>
              <a:t>Train/Test/Validation</a:t>
            </a:r>
            <a:endParaRPr sz="3400">
              <a:latin typeface="Times New Roman"/>
              <a:ea typeface="Times New Roman"/>
              <a:cs typeface="Times New Roman"/>
              <a:sym typeface="Times New Roman"/>
            </a:endParaRPr>
          </a:p>
        </p:txBody>
      </p:sp>
      <p:sp>
        <p:nvSpPr>
          <p:cNvPr id="323" name="Google Shape;323;p35"/>
          <p:cNvSpPr txBox="1"/>
          <p:nvPr>
            <p:ph idx="1" type="subTitle"/>
          </p:nvPr>
        </p:nvSpPr>
        <p:spPr>
          <a:xfrm>
            <a:off x="311800" y="1732725"/>
            <a:ext cx="4484400" cy="18576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0"/>
              </a:spcAft>
              <a:buSzPts val="853"/>
              <a:buNone/>
            </a:pPr>
            <a:r>
              <a:rPr lang="el" sz="1470">
                <a:solidFill>
                  <a:schemeClr val="dk1"/>
                </a:solidFill>
                <a:latin typeface="Times New Roman"/>
                <a:ea typeface="Times New Roman"/>
                <a:cs typeface="Times New Roman"/>
                <a:sym typeface="Times New Roman"/>
              </a:rPr>
              <a:t>Το σύνολο δεδομένων χωρίστηκε σε αναλογία 80/10/10% σε σύνολα εκπαίδευσης, επικύρωσης και ελέγχου ενω στο τέλος πραγματοποιήθηκε και Cross Validation.</a:t>
            </a:r>
            <a:endParaRPr sz="1470">
              <a:solidFill>
                <a:schemeClr val="dk1"/>
              </a:solidFill>
              <a:latin typeface="Times New Roman"/>
              <a:ea typeface="Times New Roman"/>
              <a:cs typeface="Times New Roman"/>
              <a:sym typeface="Times New Roman"/>
            </a:endParaRPr>
          </a:p>
        </p:txBody>
      </p:sp>
      <p:pic>
        <p:nvPicPr>
          <p:cNvPr id="324" name="Google Shape;324;p35"/>
          <p:cNvPicPr preferRelativeResize="0"/>
          <p:nvPr/>
        </p:nvPicPr>
        <p:blipFill>
          <a:blip r:embed="rId3">
            <a:alphaModFix/>
          </a:blip>
          <a:stretch>
            <a:fillRect/>
          </a:stretch>
        </p:blipFill>
        <p:spPr>
          <a:xfrm>
            <a:off x="4796200" y="1319050"/>
            <a:ext cx="3981450" cy="2590800"/>
          </a:xfrm>
          <a:prstGeom prst="rect">
            <a:avLst/>
          </a:prstGeom>
          <a:noFill/>
          <a:ln>
            <a:noFill/>
          </a:ln>
        </p:spPr>
      </p:pic>
      <p:sp>
        <p:nvSpPr>
          <p:cNvPr id="325" name="Google Shape;325;p3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l"/>
              <a:t>‹#›</a:t>
            </a:fld>
            <a:endParaRPr/>
          </a:p>
        </p:txBody>
      </p:sp>
      <p:cxnSp>
        <p:nvCxnSpPr>
          <p:cNvPr id="326" name="Google Shape;326;p35"/>
          <p:cNvCxnSpPr/>
          <p:nvPr/>
        </p:nvCxnSpPr>
        <p:spPr>
          <a:xfrm>
            <a:off x="91975" y="952250"/>
            <a:ext cx="4684800" cy="156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36"/>
          <p:cNvSpPr txBox="1"/>
          <p:nvPr>
            <p:ph type="ctrTitle"/>
          </p:nvPr>
        </p:nvSpPr>
        <p:spPr>
          <a:xfrm>
            <a:off x="91975" y="0"/>
            <a:ext cx="3037800" cy="9942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l" sz="3400">
                <a:latin typeface="Times New Roman"/>
                <a:ea typeface="Times New Roman"/>
                <a:cs typeface="Times New Roman"/>
                <a:sym typeface="Times New Roman"/>
              </a:rPr>
              <a:t>Models</a:t>
            </a:r>
            <a:endParaRPr sz="3400">
              <a:latin typeface="Times New Roman"/>
              <a:ea typeface="Times New Roman"/>
              <a:cs typeface="Times New Roman"/>
              <a:sym typeface="Times New Roman"/>
            </a:endParaRPr>
          </a:p>
        </p:txBody>
      </p:sp>
      <p:sp>
        <p:nvSpPr>
          <p:cNvPr id="332" name="Google Shape;332;p36"/>
          <p:cNvSpPr txBox="1"/>
          <p:nvPr>
            <p:ph idx="1" type="subTitle"/>
          </p:nvPr>
        </p:nvSpPr>
        <p:spPr>
          <a:xfrm>
            <a:off x="585375" y="1053675"/>
            <a:ext cx="8246700" cy="9942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SzPts val="853"/>
              <a:buNone/>
            </a:pPr>
            <a:r>
              <a:rPr lang="el" sz="1470">
                <a:latin typeface="Times New Roman"/>
                <a:ea typeface="Times New Roman"/>
                <a:cs typeface="Times New Roman"/>
                <a:sym typeface="Times New Roman"/>
              </a:rPr>
              <a:t>Δεδομένης της κατά κύριο λόγο κειμενικής φύσης (NLP) του συνόλου δεδομένων, αξιολογήθηκε και LM (setfit) αλλα και κλασσικα μοντελα ML </a:t>
            </a:r>
            <a:endParaRPr sz="1470">
              <a:latin typeface="Times New Roman"/>
              <a:ea typeface="Times New Roman"/>
              <a:cs typeface="Times New Roman"/>
              <a:sym typeface="Times New Roman"/>
            </a:endParaRPr>
          </a:p>
        </p:txBody>
      </p:sp>
      <p:pic>
        <p:nvPicPr>
          <p:cNvPr id="333" name="Google Shape;333;p36"/>
          <p:cNvPicPr preferRelativeResize="0"/>
          <p:nvPr/>
        </p:nvPicPr>
        <p:blipFill>
          <a:blip r:embed="rId3">
            <a:alphaModFix/>
          </a:blip>
          <a:stretch>
            <a:fillRect/>
          </a:stretch>
        </p:blipFill>
        <p:spPr>
          <a:xfrm>
            <a:off x="397575" y="2707313"/>
            <a:ext cx="6991350" cy="2085975"/>
          </a:xfrm>
          <a:prstGeom prst="rect">
            <a:avLst/>
          </a:prstGeom>
          <a:noFill/>
          <a:ln>
            <a:noFill/>
          </a:ln>
        </p:spPr>
      </p:pic>
      <p:sp>
        <p:nvSpPr>
          <p:cNvPr id="334" name="Google Shape;334;p3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l"/>
              <a:t>‹#›</a:t>
            </a:fld>
            <a:endParaRPr/>
          </a:p>
        </p:txBody>
      </p:sp>
      <p:cxnSp>
        <p:nvCxnSpPr>
          <p:cNvPr id="335" name="Google Shape;335;p36"/>
          <p:cNvCxnSpPr/>
          <p:nvPr/>
        </p:nvCxnSpPr>
        <p:spPr>
          <a:xfrm>
            <a:off x="91975" y="952250"/>
            <a:ext cx="4684800" cy="156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37"/>
          <p:cNvSpPr txBox="1"/>
          <p:nvPr>
            <p:ph type="ctrTitle"/>
          </p:nvPr>
        </p:nvSpPr>
        <p:spPr>
          <a:xfrm>
            <a:off x="124375" y="-41950"/>
            <a:ext cx="8520600" cy="10098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l" sz="3400">
                <a:latin typeface="Times New Roman"/>
                <a:ea typeface="Times New Roman"/>
                <a:cs typeface="Times New Roman"/>
                <a:sym typeface="Times New Roman"/>
              </a:rPr>
              <a:t>Αρχικ</a:t>
            </a:r>
            <a:r>
              <a:rPr lang="el" sz="3400">
                <a:latin typeface="Times New Roman"/>
                <a:ea typeface="Times New Roman"/>
                <a:cs typeface="Times New Roman"/>
                <a:sym typeface="Times New Roman"/>
              </a:rPr>
              <a:t>ές Αποδόσεις</a:t>
            </a:r>
            <a:endParaRPr sz="3400">
              <a:latin typeface="Times New Roman"/>
              <a:ea typeface="Times New Roman"/>
              <a:cs typeface="Times New Roman"/>
              <a:sym typeface="Times New Roman"/>
            </a:endParaRPr>
          </a:p>
        </p:txBody>
      </p:sp>
      <p:pic>
        <p:nvPicPr>
          <p:cNvPr id="341" name="Google Shape;341;p37"/>
          <p:cNvPicPr preferRelativeResize="0"/>
          <p:nvPr/>
        </p:nvPicPr>
        <p:blipFill>
          <a:blip r:embed="rId3">
            <a:alphaModFix/>
          </a:blip>
          <a:stretch>
            <a:fillRect/>
          </a:stretch>
        </p:blipFill>
        <p:spPr>
          <a:xfrm>
            <a:off x="745600" y="1568175"/>
            <a:ext cx="3133500" cy="3092975"/>
          </a:xfrm>
          <a:prstGeom prst="rect">
            <a:avLst/>
          </a:prstGeom>
          <a:noFill/>
          <a:ln>
            <a:noFill/>
          </a:ln>
        </p:spPr>
      </p:pic>
      <p:sp>
        <p:nvSpPr>
          <p:cNvPr id="342" name="Google Shape;342;p37"/>
          <p:cNvSpPr txBox="1"/>
          <p:nvPr>
            <p:ph idx="1" type="subTitle"/>
          </p:nvPr>
        </p:nvSpPr>
        <p:spPr>
          <a:xfrm>
            <a:off x="4074225" y="1115475"/>
            <a:ext cx="4695600" cy="452700"/>
          </a:xfrm>
          <a:prstGeom prst="rect">
            <a:avLst/>
          </a:prstGeom>
        </p:spPr>
        <p:txBody>
          <a:bodyPr anchorCtr="0" anchor="t" bIns="91425" lIns="91425" spcFirstLastPara="1" rIns="91425" wrap="square" tIns="91425">
            <a:normAutofit lnSpcReduction="10000"/>
          </a:bodyPr>
          <a:lstStyle/>
          <a:p>
            <a:pPr indent="0" lvl="0" marL="0" rtl="0" algn="ctr">
              <a:spcBef>
                <a:spcPts val="0"/>
              </a:spcBef>
              <a:spcAft>
                <a:spcPts val="0"/>
              </a:spcAft>
              <a:buNone/>
            </a:pPr>
            <a:r>
              <a:rPr lang="el" sz="1800">
                <a:latin typeface="Times New Roman"/>
                <a:ea typeface="Times New Roman"/>
                <a:cs typeface="Times New Roman"/>
                <a:sym typeface="Times New Roman"/>
              </a:rPr>
              <a:t>Knn:</a:t>
            </a:r>
            <a:endParaRPr sz="1800">
              <a:latin typeface="Times New Roman"/>
              <a:ea typeface="Times New Roman"/>
              <a:cs typeface="Times New Roman"/>
              <a:sym typeface="Times New Roman"/>
            </a:endParaRPr>
          </a:p>
        </p:txBody>
      </p:sp>
      <p:pic>
        <p:nvPicPr>
          <p:cNvPr id="343" name="Google Shape;343;p37"/>
          <p:cNvPicPr preferRelativeResize="0"/>
          <p:nvPr/>
        </p:nvPicPr>
        <p:blipFill>
          <a:blip r:embed="rId4">
            <a:alphaModFix/>
          </a:blip>
          <a:stretch>
            <a:fillRect/>
          </a:stretch>
        </p:blipFill>
        <p:spPr>
          <a:xfrm>
            <a:off x="4231825" y="1521975"/>
            <a:ext cx="4380401" cy="3402975"/>
          </a:xfrm>
          <a:prstGeom prst="rect">
            <a:avLst/>
          </a:prstGeom>
          <a:noFill/>
          <a:ln>
            <a:noFill/>
          </a:ln>
        </p:spPr>
      </p:pic>
      <p:sp>
        <p:nvSpPr>
          <p:cNvPr id="344" name="Google Shape;344;p3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l"/>
              <a:t>‹#›</a:t>
            </a:fld>
            <a:endParaRPr/>
          </a:p>
        </p:txBody>
      </p:sp>
      <p:cxnSp>
        <p:nvCxnSpPr>
          <p:cNvPr id="345" name="Google Shape;345;p37"/>
          <p:cNvCxnSpPr/>
          <p:nvPr/>
        </p:nvCxnSpPr>
        <p:spPr>
          <a:xfrm>
            <a:off x="91975" y="952250"/>
            <a:ext cx="4684800" cy="156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38"/>
          <p:cNvSpPr txBox="1"/>
          <p:nvPr>
            <p:ph type="ctrTitle"/>
          </p:nvPr>
        </p:nvSpPr>
        <p:spPr>
          <a:xfrm>
            <a:off x="91975" y="0"/>
            <a:ext cx="7193100" cy="10413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l" sz="3400">
                <a:latin typeface="Times New Roman"/>
                <a:ea typeface="Times New Roman"/>
                <a:cs typeface="Times New Roman"/>
                <a:sym typeface="Times New Roman"/>
              </a:rPr>
              <a:t>Hyperparameter Optimization</a:t>
            </a:r>
            <a:endParaRPr sz="3400">
              <a:latin typeface="Times New Roman"/>
              <a:ea typeface="Times New Roman"/>
              <a:cs typeface="Times New Roman"/>
              <a:sym typeface="Times New Roman"/>
            </a:endParaRPr>
          </a:p>
        </p:txBody>
      </p:sp>
      <p:sp>
        <p:nvSpPr>
          <p:cNvPr id="351" name="Google Shape;351;p38"/>
          <p:cNvSpPr txBox="1"/>
          <p:nvPr>
            <p:ph idx="1" type="subTitle"/>
          </p:nvPr>
        </p:nvSpPr>
        <p:spPr>
          <a:xfrm>
            <a:off x="248075" y="1041300"/>
            <a:ext cx="3708000" cy="1662600"/>
          </a:xfrm>
          <a:prstGeom prst="rect">
            <a:avLst/>
          </a:prstGeom>
        </p:spPr>
        <p:txBody>
          <a:bodyPr anchorCtr="0" anchor="t" bIns="91425" lIns="91425" spcFirstLastPara="1" rIns="91425" wrap="square" tIns="91425">
            <a:normAutofit/>
          </a:bodyPr>
          <a:lstStyle/>
          <a:p>
            <a:pPr indent="0" lvl="0" marL="0" rtl="0" algn="l">
              <a:lnSpc>
                <a:spcPct val="80000"/>
              </a:lnSpc>
              <a:spcBef>
                <a:spcPts val="0"/>
              </a:spcBef>
              <a:spcAft>
                <a:spcPts val="0"/>
              </a:spcAft>
              <a:buSzPts val="935"/>
              <a:buNone/>
            </a:pPr>
            <a:r>
              <a:rPr b="1" lang="el" sz="1430">
                <a:latin typeface="Times New Roman"/>
                <a:ea typeface="Times New Roman"/>
                <a:cs typeface="Times New Roman"/>
                <a:sym typeface="Times New Roman"/>
              </a:rPr>
              <a:t>Δεδομ</a:t>
            </a:r>
            <a:r>
              <a:rPr b="1" lang="el" sz="1430">
                <a:latin typeface="Times New Roman"/>
                <a:ea typeface="Times New Roman"/>
                <a:cs typeface="Times New Roman"/>
                <a:sym typeface="Times New Roman"/>
              </a:rPr>
              <a:t>ένου </a:t>
            </a:r>
            <a:r>
              <a:rPr b="1" lang="el" sz="1430">
                <a:latin typeface="Times New Roman"/>
                <a:ea typeface="Times New Roman"/>
                <a:cs typeface="Times New Roman"/>
                <a:sym typeface="Times New Roman"/>
              </a:rPr>
              <a:t>ότι</a:t>
            </a:r>
            <a:r>
              <a:rPr b="1" lang="el" sz="1430">
                <a:latin typeface="Times New Roman"/>
                <a:ea typeface="Times New Roman"/>
                <a:cs typeface="Times New Roman"/>
                <a:sym typeface="Times New Roman"/>
              </a:rPr>
              <a:t> το Grid Search είναι κοστοβόρο για το Dataset και με τους πεπερασμένους πόρους μας, θα χρησιμοποιήσουμε Random + Bayesian Search.</a:t>
            </a:r>
            <a:endParaRPr b="1" sz="1430">
              <a:latin typeface="Times New Roman"/>
              <a:ea typeface="Times New Roman"/>
              <a:cs typeface="Times New Roman"/>
              <a:sym typeface="Times New Roman"/>
            </a:endParaRPr>
          </a:p>
          <a:p>
            <a:pPr indent="0" lvl="0" marL="0" rtl="0" algn="l">
              <a:lnSpc>
                <a:spcPct val="80000"/>
              </a:lnSpc>
              <a:spcBef>
                <a:spcPts val="0"/>
              </a:spcBef>
              <a:spcAft>
                <a:spcPts val="0"/>
              </a:spcAft>
              <a:buSzPts val="935"/>
              <a:buNone/>
            </a:pPr>
            <a:r>
              <a:t/>
            </a:r>
            <a:endParaRPr b="1" sz="1430">
              <a:latin typeface="Times New Roman"/>
              <a:ea typeface="Times New Roman"/>
              <a:cs typeface="Times New Roman"/>
              <a:sym typeface="Times New Roman"/>
            </a:endParaRPr>
          </a:p>
          <a:p>
            <a:pPr indent="0" lvl="0" marL="0" rtl="0" algn="l">
              <a:lnSpc>
                <a:spcPct val="80000"/>
              </a:lnSpc>
              <a:spcBef>
                <a:spcPts val="0"/>
              </a:spcBef>
              <a:spcAft>
                <a:spcPts val="0"/>
              </a:spcAft>
              <a:buSzPts val="935"/>
              <a:buNone/>
            </a:pPr>
            <a:r>
              <a:t/>
            </a:r>
            <a:endParaRPr b="1" sz="1430">
              <a:latin typeface="Times New Roman"/>
              <a:ea typeface="Times New Roman"/>
              <a:cs typeface="Times New Roman"/>
              <a:sym typeface="Times New Roman"/>
            </a:endParaRPr>
          </a:p>
        </p:txBody>
      </p:sp>
      <p:sp>
        <p:nvSpPr>
          <p:cNvPr id="352" name="Google Shape;352;p3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l"/>
              <a:t>‹#›</a:t>
            </a:fld>
            <a:endParaRPr/>
          </a:p>
        </p:txBody>
      </p:sp>
      <p:cxnSp>
        <p:nvCxnSpPr>
          <p:cNvPr id="353" name="Google Shape;353;p38"/>
          <p:cNvCxnSpPr/>
          <p:nvPr/>
        </p:nvCxnSpPr>
        <p:spPr>
          <a:xfrm>
            <a:off x="91975" y="952250"/>
            <a:ext cx="4684800" cy="15600"/>
          </a:xfrm>
          <a:prstGeom prst="straightConnector1">
            <a:avLst/>
          </a:prstGeom>
          <a:noFill/>
          <a:ln cap="flat" cmpd="sng" w="9525">
            <a:solidFill>
              <a:schemeClr val="dk2"/>
            </a:solidFill>
            <a:prstDash val="solid"/>
            <a:round/>
            <a:headEnd len="med" w="med" type="none"/>
            <a:tailEnd len="med" w="med" type="none"/>
          </a:ln>
        </p:spPr>
      </p:cxnSp>
      <p:pic>
        <p:nvPicPr>
          <p:cNvPr id="354" name="Google Shape;354;p38"/>
          <p:cNvPicPr preferRelativeResize="0"/>
          <p:nvPr/>
        </p:nvPicPr>
        <p:blipFill>
          <a:blip r:embed="rId3">
            <a:alphaModFix/>
          </a:blip>
          <a:stretch>
            <a:fillRect/>
          </a:stretch>
        </p:blipFill>
        <p:spPr>
          <a:xfrm>
            <a:off x="3851800" y="1041300"/>
            <a:ext cx="4983774" cy="1540800"/>
          </a:xfrm>
          <a:prstGeom prst="rect">
            <a:avLst/>
          </a:prstGeom>
          <a:noFill/>
          <a:ln>
            <a:noFill/>
          </a:ln>
        </p:spPr>
      </p:pic>
      <p:pic>
        <p:nvPicPr>
          <p:cNvPr id="355" name="Google Shape;355;p38"/>
          <p:cNvPicPr preferRelativeResize="0"/>
          <p:nvPr/>
        </p:nvPicPr>
        <p:blipFill>
          <a:blip r:embed="rId4">
            <a:alphaModFix/>
          </a:blip>
          <a:stretch>
            <a:fillRect/>
          </a:stretch>
        </p:blipFill>
        <p:spPr>
          <a:xfrm>
            <a:off x="876200" y="2582100"/>
            <a:ext cx="6839255" cy="2421099"/>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sp>
        <p:nvSpPr>
          <p:cNvPr id="360" name="Google Shape;360;p39"/>
          <p:cNvSpPr txBox="1"/>
          <p:nvPr>
            <p:ph type="ctrTitle"/>
          </p:nvPr>
        </p:nvSpPr>
        <p:spPr>
          <a:xfrm>
            <a:off x="91975" y="0"/>
            <a:ext cx="8520600" cy="9942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l" sz="3400">
                <a:latin typeface="Times New Roman"/>
                <a:ea typeface="Times New Roman"/>
                <a:cs typeface="Times New Roman"/>
                <a:sym typeface="Times New Roman"/>
              </a:rPr>
              <a:t>Statistical Significance</a:t>
            </a:r>
            <a:endParaRPr sz="3400">
              <a:latin typeface="Times New Roman"/>
              <a:ea typeface="Times New Roman"/>
              <a:cs typeface="Times New Roman"/>
              <a:sym typeface="Times New Roman"/>
            </a:endParaRPr>
          </a:p>
        </p:txBody>
      </p:sp>
      <p:sp>
        <p:nvSpPr>
          <p:cNvPr id="361" name="Google Shape;361;p39"/>
          <p:cNvSpPr txBox="1"/>
          <p:nvPr>
            <p:ph idx="1" type="subTitle"/>
          </p:nvPr>
        </p:nvSpPr>
        <p:spPr>
          <a:xfrm>
            <a:off x="288275" y="1087850"/>
            <a:ext cx="2271900" cy="1066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l" sz="1300">
                <a:latin typeface="Times New Roman"/>
                <a:ea typeface="Times New Roman"/>
                <a:cs typeface="Times New Roman"/>
                <a:sym typeface="Times New Roman"/>
              </a:rPr>
              <a:t>Using AbstractML’s funcs: </a:t>
            </a:r>
            <a:endParaRPr sz="1300">
              <a:latin typeface="Times New Roman"/>
              <a:ea typeface="Times New Roman"/>
              <a:cs typeface="Times New Roman"/>
              <a:sym typeface="Times New Roman"/>
            </a:endParaRPr>
          </a:p>
          <a:p>
            <a:pPr indent="0" lvl="0" marL="0" rtl="0" algn="l">
              <a:spcBef>
                <a:spcPts val="0"/>
              </a:spcBef>
              <a:spcAft>
                <a:spcPts val="0"/>
              </a:spcAft>
              <a:buNone/>
            </a:pPr>
            <a:r>
              <a:rPr b="1" lang="el" sz="1300">
                <a:latin typeface="Times New Roman"/>
                <a:ea typeface="Times New Roman"/>
                <a:cs typeface="Times New Roman"/>
                <a:sym typeface="Times New Roman"/>
              </a:rPr>
              <a:t>-getConfidenceInterval( ) </a:t>
            </a:r>
            <a:endParaRPr b="1" sz="1300">
              <a:latin typeface="Times New Roman"/>
              <a:ea typeface="Times New Roman"/>
              <a:cs typeface="Times New Roman"/>
              <a:sym typeface="Times New Roman"/>
            </a:endParaRPr>
          </a:p>
          <a:p>
            <a:pPr indent="0" lvl="0" marL="0" rtl="0" algn="l">
              <a:spcBef>
                <a:spcPts val="0"/>
              </a:spcBef>
              <a:spcAft>
                <a:spcPts val="0"/>
              </a:spcAft>
              <a:buNone/>
            </a:pPr>
            <a:r>
              <a:rPr b="1" lang="el" sz="1300">
                <a:latin typeface="Times New Roman"/>
                <a:ea typeface="Times New Roman"/>
                <a:cs typeface="Times New Roman"/>
                <a:sym typeface="Times New Roman"/>
              </a:rPr>
              <a:t>-testAgainstBaseline() </a:t>
            </a:r>
            <a:endParaRPr b="1" sz="1300">
              <a:latin typeface="Times New Roman"/>
              <a:ea typeface="Times New Roman"/>
              <a:cs typeface="Times New Roman"/>
              <a:sym typeface="Times New Roman"/>
            </a:endParaRPr>
          </a:p>
          <a:p>
            <a:pPr indent="0" lvl="0" marL="0" rtl="0" algn="l">
              <a:spcBef>
                <a:spcPts val="0"/>
              </a:spcBef>
              <a:spcAft>
                <a:spcPts val="0"/>
              </a:spcAft>
              <a:buNone/>
            </a:pPr>
            <a:r>
              <a:rPr b="1" lang="el" sz="1300">
                <a:latin typeface="Times New Roman"/>
                <a:ea typeface="Times New Roman"/>
                <a:cs typeface="Times New Roman"/>
                <a:sym typeface="Times New Roman"/>
              </a:rPr>
              <a:t>-performCV()</a:t>
            </a:r>
            <a:endParaRPr b="1" sz="1300">
              <a:latin typeface="Times New Roman"/>
              <a:ea typeface="Times New Roman"/>
              <a:cs typeface="Times New Roman"/>
              <a:sym typeface="Times New Roman"/>
            </a:endParaRPr>
          </a:p>
        </p:txBody>
      </p:sp>
      <p:sp>
        <p:nvSpPr>
          <p:cNvPr id="362" name="Google Shape;362;p39"/>
          <p:cNvSpPr txBox="1"/>
          <p:nvPr>
            <p:ph idx="1" type="subTitle"/>
          </p:nvPr>
        </p:nvSpPr>
        <p:spPr>
          <a:xfrm>
            <a:off x="6274500" y="1087850"/>
            <a:ext cx="2271900" cy="1203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1018"/>
              <a:buNone/>
            </a:pPr>
            <a:r>
              <a:rPr lang="el" sz="1365">
                <a:latin typeface="Times New Roman"/>
                <a:ea typeface="Times New Roman"/>
                <a:cs typeface="Times New Roman"/>
                <a:sym typeface="Times New Roman"/>
              </a:rPr>
              <a:t>Για αποφυγή overfitting, βλεπουμε οτι τα CV είναι κοντά με με τα test.</a:t>
            </a:r>
            <a:endParaRPr b="1" sz="1365">
              <a:latin typeface="Times New Roman"/>
              <a:ea typeface="Times New Roman"/>
              <a:cs typeface="Times New Roman"/>
              <a:sym typeface="Times New Roman"/>
            </a:endParaRPr>
          </a:p>
        </p:txBody>
      </p:sp>
      <p:sp>
        <p:nvSpPr>
          <p:cNvPr id="363" name="Google Shape;363;p3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l"/>
              <a:t>‹#›</a:t>
            </a:fld>
            <a:endParaRPr/>
          </a:p>
        </p:txBody>
      </p:sp>
      <p:cxnSp>
        <p:nvCxnSpPr>
          <p:cNvPr id="364" name="Google Shape;364;p39"/>
          <p:cNvCxnSpPr/>
          <p:nvPr/>
        </p:nvCxnSpPr>
        <p:spPr>
          <a:xfrm>
            <a:off x="91975" y="952250"/>
            <a:ext cx="4684800" cy="15600"/>
          </a:xfrm>
          <a:prstGeom prst="straightConnector1">
            <a:avLst/>
          </a:prstGeom>
          <a:noFill/>
          <a:ln cap="flat" cmpd="sng" w="9525">
            <a:solidFill>
              <a:schemeClr val="dk2"/>
            </a:solidFill>
            <a:prstDash val="solid"/>
            <a:round/>
            <a:headEnd len="med" w="med" type="none"/>
            <a:tailEnd len="med" w="med" type="none"/>
          </a:ln>
        </p:spPr>
      </p:cxnSp>
      <p:pic>
        <p:nvPicPr>
          <p:cNvPr id="365" name="Google Shape;365;p39"/>
          <p:cNvPicPr preferRelativeResize="0"/>
          <p:nvPr/>
        </p:nvPicPr>
        <p:blipFill>
          <a:blip r:embed="rId3">
            <a:alphaModFix/>
          </a:blip>
          <a:stretch>
            <a:fillRect/>
          </a:stretch>
        </p:blipFill>
        <p:spPr>
          <a:xfrm>
            <a:off x="1838250" y="1838875"/>
            <a:ext cx="5084800" cy="3051373"/>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p40"/>
          <p:cNvSpPr txBox="1"/>
          <p:nvPr>
            <p:ph type="ctrTitle"/>
          </p:nvPr>
        </p:nvSpPr>
        <p:spPr>
          <a:xfrm>
            <a:off x="91975" y="-26350"/>
            <a:ext cx="8520600" cy="9786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l" sz="3400">
                <a:latin typeface="Times New Roman"/>
                <a:ea typeface="Times New Roman"/>
                <a:cs typeface="Times New Roman"/>
                <a:sym typeface="Times New Roman"/>
              </a:rPr>
              <a:t>Συμπεράσματα</a:t>
            </a:r>
            <a:endParaRPr sz="3400">
              <a:latin typeface="Times New Roman"/>
              <a:ea typeface="Times New Roman"/>
              <a:cs typeface="Times New Roman"/>
              <a:sym typeface="Times New Roman"/>
            </a:endParaRPr>
          </a:p>
        </p:txBody>
      </p:sp>
      <p:sp>
        <p:nvSpPr>
          <p:cNvPr id="371" name="Google Shape;371;p40"/>
          <p:cNvSpPr txBox="1"/>
          <p:nvPr>
            <p:ph idx="1" type="subTitle"/>
          </p:nvPr>
        </p:nvSpPr>
        <p:spPr>
          <a:xfrm>
            <a:off x="311700" y="1303425"/>
            <a:ext cx="4465200" cy="3020400"/>
          </a:xfrm>
          <a:prstGeom prst="rect">
            <a:avLst/>
          </a:prstGeom>
          <a:ln cap="flat" cmpd="sng" w="9525">
            <a:solidFill>
              <a:schemeClr val="accent5"/>
            </a:solidFill>
            <a:prstDash val="solid"/>
            <a:round/>
            <a:headEnd len="sm" w="sm" type="none"/>
            <a:tailEnd len="sm" w="sm" type="none"/>
          </a:ln>
        </p:spPr>
        <p:txBody>
          <a:bodyPr anchorCtr="0" anchor="t" bIns="91425" lIns="91425" spcFirstLastPara="1" rIns="91425" wrap="square" tIns="91425">
            <a:normAutofit fontScale="55000" lnSpcReduction="20000"/>
          </a:bodyPr>
          <a:lstStyle/>
          <a:p>
            <a:pPr indent="0" lvl="0" marL="0" rtl="0" algn="ctr">
              <a:spcBef>
                <a:spcPts val="0"/>
              </a:spcBef>
              <a:spcAft>
                <a:spcPts val="0"/>
              </a:spcAft>
              <a:buNone/>
            </a:pPr>
            <a:r>
              <a:t/>
            </a:r>
            <a:endParaRPr>
              <a:latin typeface="Times New Roman"/>
              <a:ea typeface="Times New Roman"/>
              <a:cs typeface="Times New Roman"/>
              <a:sym typeface="Times New Roman"/>
            </a:endParaRPr>
          </a:p>
          <a:p>
            <a:pPr indent="-326390" lvl="0" marL="457200" rtl="0" algn="l">
              <a:spcBef>
                <a:spcPts val="0"/>
              </a:spcBef>
              <a:spcAft>
                <a:spcPts val="0"/>
              </a:spcAft>
              <a:buSzPct val="100000"/>
              <a:buFont typeface="Times New Roman"/>
              <a:buChar char="➢"/>
            </a:pPr>
            <a:r>
              <a:rPr b="1" lang="el">
                <a:latin typeface="Times New Roman"/>
                <a:ea typeface="Times New Roman"/>
                <a:cs typeface="Times New Roman"/>
                <a:sym typeface="Times New Roman"/>
              </a:rPr>
              <a:t>Παρουσι</a:t>
            </a:r>
            <a:r>
              <a:rPr b="1" lang="el">
                <a:latin typeface="Times New Roman"/>
                <a:ea typeface="Times New Roman"/>
                <a:cs typeface="Times New Roman"/>
                <a:sym typeface="Times New Roman"/>
              </a:rPr>
              <a:t>άσαμε μία Αρχιτεκτονική Αποκεντρωμένου ΑΙ και γιατί </a:t>
            </a:r>
            <a:r>
              <a:rPr b="1" lang="el">
                <a:latin typeface="Times New Roman"/>
                <a:ea typeface="Times New Roman"/>
                <a:cs typeface="Times New Roman"/>
                <a:sym typeface="Times New Roman"/>
              </a:rPr>
              <a:t>είναι</a:t>
            </a:r>
            <a:r>
              <a:rPr b="1" lang="el">
                <a:latin typeface="Times New Roman"/>
                <a:ea typeface="Times New Roman"/>
                <a:cs typeface="Times New Roman"/>
                <a:sym typeface="Times New Roman"/>
              </a:rPr>
              <a:t> σημαντική για το μέλλον. </a:t>
            </a:r>
            <a:endParaRPr b="1">
              <a:latin typeface="Times New Roman"/>
              <a:ea typeface="Times New Roman"/>
              <a:cs typeface="Times New Roman"/>
              <a:sym typeface="Times New Roman"/>
            </a:endParaRPr>
          </a:p>
          <a:p>
            <a:pPr indent="-326390" lvl="0" marL="457200" rtl="0" algn="l">
              <a:spcBef>
                <a:spcPts val="0"/>
              </a:spcBef>
              <a:spcAft>
                <a:spcPts val="0"/>
              </a:spcAft>
              <a:buSzPct val="100000"/>
              <a:buFont typeface="Times New Roman"/>
              <a:buChar char="➢"/>
            </a:pPr>
            <a:r>
              <a:rPr b="1" lang="el">
                <a:latin typeface="Times New Roman"/>
                <a:ea typeface="Times New Roman"/>
                <a:cs typeface="Times New Roman"/>
                <a:sym typeface="Times New Roman"/>
              </a:rPr>
              <a:t>Τεκμηριώσαμε τη σημασία της ανίχνευσης κειμένου που παράγεται από τεχνητή νοημοσύνη και έχουμε προτείνει ορισμένα γενικά σημεία αναφοράς (benchmarks) </a:t>
            </a:r>
            <a:endParaRPr b="1">
              <a:latin typeface="Times New Roman"/>
              <a:ea typeface="Times New Roman"/>
              <a:cs typeface="Times New Roman"/>
              <a:sym typeface="Times New Roman"/>
            </a:endParaRPr>
          </a:p>
          <a:p>
            <a:pPr indent="-326390" lvl="0" marL="457200" rtl="0" algn="l">
              <a:spcBef>
                <a:spcPts val="0"/>
              </a:spcBef>
              <a:spcAft>
                <a:spcPts val="0"/>
              </a:spcAft>
              <a:buSzPct val="100000"/>
              <a:buChar char="➢"/>
            </a:pPr>
            <a:r>
              <a:rPr b="1" lang="el">
                <a:latin typeface="Times New Roman"/>
                <a:ea typeface="Times New Roman"/>
                <a:cs typeface="Times New Roman"/>
                <a:sym typeface="Times New Roman"/>
              </a:rPr>
              <a:t>Λύσεις για το συγκεκριμένο σύνολο δεδομένων, αξιοποιώντας τον δικό μας χώρο αναζήτησης, μοντέλα και συνθήκες.</a:t>
            </a:r>
            <a:r>
              <a:rPr lang="el">
                <a:latin typeface="Times New Roman"/>
                <a:ea typeface="Times New Roman"/>
                <a:cs typeface="Times New Roman"/>
                <a:sym typeface="Times New Roman"/>
              </a:rPr>
              <a:t> </a:t>
            </a:r>
            <a:endParaRPr>
              <a:latin typeface="Times New Roman"/>
              <a:ea typeface="Times New Roman"/>
              <a:cs typeface="Times New Roman"/>
              <a:sym typeface="Times New Roman"/>
            </a:endParaRPr>
          </a:p>
          <a:p>
            <a:pPr indent="0" lvl="0" marL="457200" rtl="0" algn="l">
              <a:spcBef>
                <a:spcPts val="0"/>
              </a:spcBef>
              <a:spcAft>
                <a:spcPts val="0"/>
              </a:spcAft>
              <a:buNone/>
            </a:pPr>
            <a:r>
              <a:t/>
            </a:r>
            <a:endParaRPr>
              <a:latin typeface="Times New Roman"/>
              <a:ea typeface="Times New Roman"/>
              <a:cs typeface="Times New Roman"/>
              <a:sym typeface="Times New Roman"/>
            </a:endParaRPr>
          </a:p>
          <a:p>
            <a:pPr indent="0" lvl="0" marL="457200" rtl="0" algn="l">
              <a:spcBef>
                <a:spcPts val="0"/>
              </a:spcBef>
              <a:spcAft>
                <a:spcPts val="0"/>
              </a:spcAft>
              <a:buNone/>
            </a:pPr>
            <a:r>
              <a:t/>
            </a:r>
            <a:endParaRPr>
              <a:latin typeface="Times New Roman"/>
              <a:ea typeface="Times New Roman"/>
              <a:cs typeface="Times New Roman"/>
              <a:sym typeface="Times New Roman"/>
            </a:endParaRPr>
          </a:p>
          <a:p>
            <a:pPr indent="0" lvl="0" marL="0" rtl="0" algn="ctr">
              <a:spcBef>
                <a:spcPts val="0"/>
              </a:spcBef>
              <a:spcAft>
                <a:spcPts val="0"/>
              </a:spcAft>
              <a:buNone/>
            </a:pPr>
            <a:r>
              <a:t/>
            </a:r>
            <a:endParaRPr>
              <a:latin typeface="Times New Roman"/>
              <a:ea typeface="Times New Roman"/>
              <a:cs typeface="Times New Roman"/>
              <a:sym typeface="Times New Roman"/>
            </a:endParaRPr>
          </a:p>
          <a:p>
            <a:pPr indent="0" lvl="0" marL="0" rtl="0" algn="ctr">
              <a:spcBef>
                <a:spcPts val="0"/>
              </a:spcBef>
              <a:spcAft>
                <a:spcPts val="0"/>
              </a:spcAft>
              <a:buNone/>
            </a:pPr>
            <a:r>
              <a:t/>
            </a:r>
            <a:endParaRPr>
              <a:latin typeface="Times New Roman"/>
              <a:ea typeface="Times New Roman"/>
              <a:cs typeface="Times New Roman"/>
              <a:sym typeface="Times New Roman"/>
            </a:endParaRPr>
          </a:p>
        </p:txBody>
      </p:sp>
      <p:sp>
        <p:nvSpPr>
          <p:cNvPr id="372" name="Google Shape;372;p4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l"/>
              <a:t>‹#›</a:t>
            </a:fld>
            <a:endParaRPr/>
          </a:p>
        </p:txBody>
      </p:sp>
      <p:cxnSp>
        <p:nvCxnSpPr>
          <p:cNvPr id="373" name="Google Shape;373;p40"/>
          <p:cNvCxnSpPr/>
          <p:nvPr/>
        </p:nvCxnSpPr>
        <p:spPr>
          <a:xfrm>
            <a:off x="91975" y="952250"/>
            <a:ext cx="4684800" cy="15600"/>
          </a:xfrm>
          <a:prstGeom prst="straightConnector1">
            <a:avLst/>
          </a:prstGeom>
          <a:noFill/>
          <a:ln cap="flat" cmpd="sng" w="9525">
            <a:solidFill>
              <a:schemeClr val="dk2"/>
            </a:solidFill>
            <a:prstDash val="solid"/>
            <a:round/>
            <a:headEnd len="med" w="med" type="none"/>
            <a:tailEnd len="med" w="med" type="none"/>
          </a:ln>
        </p:spPr>
      </p:cxnSp>
      <p:sp>
        <p:nvSpPr>
          <p:cNvPr id="374" name="Google Shape;374;p40"/>
          <p:cNvSpPr txBox="1"/>
          <p:nvPr/>
        </p:nvSpPr>
        <p:spPr>
          <a:xfrm>
            <a:off x="5510325" y="1303425"/>
            <a:ext cx="3067500" cy="309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l" sz="1800">
                <a:solidFill>
                  <a:schemeClr val="dk2"/>
                </a:solidFill>
                <a:latin typeface="Times New Roman"/>
                <a:ea typeface="Times New Roman"/>
                <a:cs typeface="Times New Roman"/>
                <a:sym typeface="Times New Roman"/>
              </a:rPr>
              <a:t>Μελλοντική Εργασία:</a:t>
            </a:r>
            <a:endParaRPr b="1" sz="1800">
              <a:solidFill>
                <a:schemeClr val="dk2"/>
              </a:solidFill>
              <a:latin typeface="Times New Roman"/>
              <a:ea typeface="Times New Roman"/>
              <a:cs typeface="Times New Roman"/>
              <a:sym typeface="Times New Roman"/>
            </a:endParaRPr>
          </a:p>
          <a:p>
            <a:pPr indent="0" lvl="0" marL="0" rtl="0" algn="l">
              <a:spcBef>
                <a:spcPts val="0"/>
              </a:spcBef>
              <a:spcAft>
                <a:spcPts val="0"/>
              </a:spcAft>
              <a:buNone/>
            </a:pPr>
            <a:r>
              <a:t/>
            </a:r>
            <a:endParaRPr sz="1800">
              <a:solidFill>
                <a:schemeClr val="dk2"/>
              </a:solidFill>
              <a:latin typeface="Times New Roman"/>
              <a:ea typeface="Times New Roman"/>
              <a:cs typeface="Times New Roman"/>
              <a:sym typeface="Times New Roman"/>
            </a:endParaRPr>
          </a:p>
          <a:p>
            <a:pPr indent="0" lvl="0" marL="457200" rtl="0" algn="l">
              <a:spcBef>
                <a:spcPts val="0"/>
              </a:spcBef>
              <a:spcAft>
                <a:spcPts val="0"/>
              </a:spcAft>
              <a:buClr>
                <a:schemeClr val="dk1"/>
              </a:buClr>
              <a:buSzPts val="1100"/>
              <a:buFont typeface="Arial"/>
              <a:buNone/>
            </a:pPr>
            <a:r>
              <a:rPr lang="el" sz="1500">
                <a:solidFill>
                  <a:schemeClr val="dk2"/>
                </a:solidFill>
                <a:latin typeface="Times New Roman"/>
                <a:ea typeface="Times New Roman"/>
                <a:cs typeface="Times New Roman"/>
                <a:sym typeface="Times New Roman"/>
              </a:rPr>
              <a:t>A</a:t>
            </a:r>
            <a:r>
              <a:rPr lang="el" sz="1500">
                <a:solidFill>
                  <a:schemeClr val="dk2"/>
                </a:solidFill>
                <a:latin typeface="Times New Roman"/>
                <a:ea typeface="Times New Roman"/>
                <a:cs typeface="Times New Roman"/>
                <a:sym typeface="Times New Roman"/>
              </a:rPr>
              <a:t>ν θέλουμε την γενίκευση γνώσης των μοντέλων σε πραγματικό Κόσμο και χρόνο χρειάζεται ευρύτερη Έρευνα, Δεδομένα και Μοντέλα!!</a:t>
            </a:r>
            <a:endParaRPr sz="1500">
              <a:solidFill>
                <a:schemeClr val="dk2"/>
              </a:solidFill>
              <a:latin typeface="Times New Roman"/>
              <a:ea typeface="Times New Roman"/>
              <a:cs typeface="Times New Roman"/>
              <a:sym typeface="Times New Roman"/>
            </a:endParaRPr>
          </a:p>
          <a:p>
            <a:pPr indent="0" lvl="0" marL="0" rtl="0" algn="l">
              <a:spcBef>
                <a:spcPts val="0"/>
              </a:spcBef>
              <a:spcAft>
                <a:spcPts val="0"/>
              </a:spcAft>
              <a:buNone/>
            </a:pPr>
            <a:r>
              <a:t/>
            </a:r>
            <a:endParaRPr sz="1800">
              <a:solidFill>
                <a:schemeClr val="dk2"/>
              </a:solidFill>
              <a:latin typeface="Times New Roman"/>
              <a:ea typeface="Times New Roman"/>
              <a:cs typeface="Times New Roman"/>
              <a:sym typeface="Times New Roman"/>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p41"/>
          <p:cNvSpPr txBox="1"/>
          <p:nvPr>
            <p:ph type="ctrTitle"/>
          </p:nvPr>
        </p:nvSpPr>
        <p:spPr>
          <a:xfrm>
            <a:off x="491200" y="398050"/>
            <a:ext cx="7579200" cy="24585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SzPts val="990"/>
              <a:buNone/>
            </a:pPr>
            <a:r>
              <a:rPr lang="el" sz="2480">
                <a:latin typeface="Times New Roman"/>
                <a:ea typeface="Times New Roman"/>
                <a:cs typeface="Times New Roman"/>
                <a:sym typeface="Times New Roman"/>
              </a:rPr>
              <a:t>Τελος παρουσ</a:t>
            </a:r>
            <a:r>
              <a:rPr lang="el" sz="2480">
                <a:latin typeface="Times New Roman"/>
                <a:ea typeface="Times New Roman"/>
                <a:cs typeface="Times New Roman"/>
                <a:sym typeface="Times New Roman"/>
              </a:rPr>
              <a:t>ίασης.</a:t>
            </a:r>
            <a:endParaRPr sz="2480">
              <a:latin typeface="Times New Roman"/>
              <a:ea typeface="Times New Roman"/>
              <a:cs typeface="Times New Roman"/>
              <a:sym typeface="Times New Roman"/>
            </a:endParaRPr>
          </a:p>
          <a:p>
            <a:pPr indent="0" lvl="0" marL="0" rtl="0" algn="ctr">
              <a:spcBef>
                <a:spcPts val="0"/>
              </a:spcBef>
              <a:spcAft>
                <a:spcPts val="0"/>
              </a:spcAft>
              <a:buSzPts val="990"/>
              <a:buNone/>
            </a:pPr>
            <a:r>
              <a:t/>
            </a:r>
            <a:endParaRPr sz="2480">
              <a:latin typeface="Times New Roman"/>
              <a:ea typeface="Times New Roman"/>
              <a:cs typeface="Times New Roman"/>
              <a:sym typeface="Times New Roman"/>
            </a:endParaRPr>
          </a:p>
          <a:p>
            <a:pPr indent="0" lvl="0" marL="0" rtl="0" algn="ctr">
              <a:spcBef>
                <a:spcPts val="0"/>
              </a:spcBef>
              <a:spcAft>
                <a:spcPts val="0"/>
              </a:spcAft>
              <a:buSzPts val="990"/>
              <a:buNone/>
            </a:pPr>
            <a:r>
              <a:rPr lang="el" sz="2480">
                <a:latin typeface="Times New Roman"/>
                <a:ea typeface="Times New Roman"/>
                <a:cs typeface="Times New Roman"/>
                <a:sym typeface="Times New Roman"/>
              </a:rPr>
              <a:t>Ευχαριστώ για την </a:t>
            </a:r>
            <a:endParaRPr sz="2480">
              <a:latin typeface="Times New Roman"/>
              <a:ea typeface="Times New Roman"/>
              <a:cs typeface="Times New Roman"/>
              <a:sym typeface="Times New Roman"/>
            </a:endParaRPr>
          </a:p>
          <a:p>
            <a:pPr indent="0" lvl="0" marL="0" rtl="0" algn="ctr">
              <a:spcBef>
                <a:spcPts val="0"/>
              </a:spcBef>
              <a:spcAft>
                <a:spcPts val="0"/>
              </a:spcAft>
              <a:buSzPts val="990"/>
              <a:buNone/>
            </a:pPr>
            <a:r>
              <a:rPr lang="el" sz="2480">
                <a:latin typeface="Times New Roman"/>
                <a:ea typeface="Times New Roman"/>
                <a:cs typeface="Times New Roman"/>
                <a:sym typeface="Times New Roman"/>
              </a:rPr>
              <a:t>Προσοχή σας!</a:t>
            </a:r>
            <a:endParaRPr sz="2480">
              <a:latin typeface="Times New Roman"/>
              <a:ea typeface="Times New Roman"/>
              <a:cs typeface="Times New Roman"/>
              <a:sym typeface="Times New Roman"/>
            </a:endParaRPr>
          </a:p>
          <a:p>
            <a:pPr indent="0" lvl="0" marL="0" rtl="0" algn="ctr">
              <a:spcBef>
                <a:spcPts val="0"/>
              </a:spcBef>
              <a:spcAft>
                <a:spcPts val="0"/>
              </a:spcAft>
              <a:buSzPts val="990"/>
              <a:buNone/>
            </a:pPr>
            <a:r>
              <a:t/>
            </a:r>
            <a:endParaRPr sz="2880">
              <a:latin typeface="Times New Roman"/>
              <a:ea typeface="Times New Roman"/>
              <a:cs typeface="Times New Roman"/>
              <a:sym typeface="Times New Roman"/>
            </a:endParaRPr>
          </a:p>
        </p:txBody>
      </p:sp>
      <p:sp>
        <p:nvSpPr>
          <p:cNvPr id="380" name="Google Shape;380;p4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l"/>
              <a:t>‹#›</a:t>
            </a:fld>
            <a:endParaRPr/>
          </a:p>
        </p:txBody>
      </p:sp>
      <p:sp>
        <p:nvSpPr>
          <p:cNvPr id="381" name="Google Shape;381;p41"/>
          <p:cNvSpPr txBox="1"/>
          <p:nvPr/>
        </p:nvSpPr>
        <p:spPr>
          <a:xfrm>
            <a:off x="1334650" y="3020550"/>
            <a:ext cx="6220500" cy="17250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b="1" i="1" lang="el" sz="1500">
                <a:solidFill>
                  <a:schemeClr val="dk1"/>
                </a:solidFill>
                <a:latin typeface="Times New Roman"/>
                <a:ea typeface="Times New Roman"/>
                <a:cs typeface="Times New Roman"/>
                <a:sym typeface="Times New Roman"/>
              </a:rPr>
              <a:t>Παναγιώτης Μώκος </a:t>
            </a:r>
            <a:endParaRPr b="1" i="1" sz="1500">
              <a:solidFill>
                <a:schemeClr val="dk1"/>
              </a:solidFill>
              <a:latin typeface="Times New Roman"/>
              <a:ea typeface="Times New Roman"/>
              <a:cs typeface="Times New Roman"/>
              <a:sym typeface="Times New Roman"/>
            </a:endParaRPr>
          </a:p>
          <a:p>
            <a:pPr indent="0" lvl="0" marL="0" rtl="0" algn="r">
              <a:spcBef>
                <a:spcPts val="0"/>
              </a:spcBef>
              <a:spcAft>
                <a:spcPts val="0"/>
              </a:spcAft>
              <a:buNone/>
            </a:pPr>
            <a:r>
              <a:rPr b="1" i="1" lang="el" sz="1500">
                <a:solidFill>
                  <a:schemeClr val="dk1"/>
                </a:solidFill>
                <a:latin typeface="Times New Roman"/>
                <a:ea typeface="Times New Roman"/>
                <a:cs typeface="Times New Roman"/>
                <a:sym typeface="Times New Roman"/>
              </a:rPr>
              <a:t>(iis22125 - </a:t>
            </a:r>
            <a:r>
              <a:rPr b="1" i="1" lang="el" sz="1500" u="sng">
                <a:solidFill>
                  <a:schemeClr val="hlink"/>
                </a:solidFill>
                <a:latin typeface="Times New Roman"/>
                <a:ea typeface="Times New Roman"/>
                <a:cs typeface="Times New Roman"/>
                <a:sym typeface="Times New Roman"/>
                <a:hlinkClick r:id="rId3"/>
              </a:rPr>
              <a:t>mwkospanagiotis@gmail.com</a:t>
            </a:r>
            <a:r>
              <a:rPr b="1" i="1" lang="el" sz="1500">
                <a:solidFill>
                  <a:schemeClr val="dk1"/>
                </a:solidFill>
                <a:latin typeface="Times New Roman"/>
                <a:ea typeface="Times New Roman"/>
                <a:cs typeface="Times New Roman"/>
                <a:sym typeface="Times New Roman"/>
              </a:rPr>
              <a:t>)</a:t>
            </a:r>
            <a:endParaRPr b="1" i="1" sz="1500">
              <a:solidFill>
                <a:schemeClr val="dk1"/>
              </a:solidFill>
              <a:latin typeface="Times New Roman"/>
              <a:ea typeface="Times New Roman"/>
              <a:cs typeface="Times New Roman"/>
              <a:sym typeface="Times New Roman"/>
            </a:endParaRPr>
          </a:p>
          <a:p>
            <a:pPr indent="0" lvl="0" marL="0" rtl="0" algn="r">
              <a:spcBef>
                <a:spcPts val="0"/>
              </a:spcBef>
              <a:spcAft>
                <a:spcPts val="0"/>
              </a:spcAft>
              <a:buNone/>
            </a:pPr>
            <a:r>
              <a:t/>
            </a:r>
            <a:endParaRPr b="1" i="1" sz="1500">
              <a:solidFill>
                <a:schemeClr val="dk1"/>
              </a:solidFill>
              <a:latin typeface="Times New Roman"/>
              <a:ea typeface="Times New Roman"/>
              <a:cs typeface="Times New Roman"/>
              <a:sym typeface="Times New Roman"/>
            </a:endParaRPr>
          </a:p>
          <a:p>
            <a:pPr indent="0" lvl="0" marL="0" rtl="0" algn="r">
              <a:spcBef>
                <a:spcPts val="0"/>
              </a:spcBef>
              <a:spcAft>
                <a:spcPts val="0"/>
              </a:spcAft>
              <a:buNone/>
            </a:pPr>
            <a:r>
              <a:rPr b="1" i="1" lang="el" sz="1500">
                <a:solidFill>
                  <a:schemeClr val="dk1"/>
                </a:solidFill>
                <a:latin typeface="Times New Roman"/>
                <a:ea typeface="Times New Roman"/>
                <a:cs typeface="Times New Roman"/>
                <a:sym typeface="Times New Roman"/>
              </a:rPr>
              <a:t>Επιβλέπων Καθηγητές:</a:t>
            </a:r>
            <a:endParaRPr b="1" i="1" sz="1500">
              <a:solidFill>
                <a:schemeClr val="dk1"/>
              </a:solidFill>
              <a:latin typeface="Times New Roman"/>
              <a:ea typeface="Times New Roman"/>
              <a:cs typeface="Times New Roman"/>
              <a:sym typeface="Times New Roman"/>
            </a:endParaRPr>
          </a:p>
          <a:p>
            <a:pPr indent="0" lvl="0" marL="0" rtl="0" algn="r">
              <a:spcBef>
                <a:spcPts val="0"/>
              </a:spcBef>
              <a:spcAft>
                <a:spcPts val="0"/>
              </a:spcAft>
              <a:buNone/>
            </a:pPr>
            <a:r>
              <a:rPr b="1" i="1" lang="el" sz="1500">
                <a:solidFill>
                  <a:schemeClr val="dk1"/>
                </a:solidFill>
                <a:latin typeface="Times New Roman"/>
                <a:ea typeface="Times New Roman"/>
                <a:cs typeface="Times New Roman"/>
                <a:sym typeface="Times New Roman"/>
              </a:rPr>
              <a:t>Μανώλης Στειακάκης, Ευτύχιος Πρωτοπαπαδάκης</a:t>
            </a:r>
            <a:endParaRPr b="1" i="1" sz="1500">
              <a:solidFill>
                <a:schemeClr val="dk1"/>
              </a:solidFill>
              <a:latin typeface="Times New Roman"/>
              <a:ea typeface="Times New Roman"/>
              <a:cs typeface="Times New Roman"/>
              <a:sym typeface="Times New Roman"/>
            </a:endParaRPr>
          </a:p>
          <a:p>
            <a:pPr indent="0" lvl="0" marL="0" rtl="0" algn="r">
              <a:spcBef>
                <a:spcPts val="0"/>
              </a:spcBef>
              <a:spcAft>
                <a:spcPts val="0"/>
              </a:spcAft>
              <a:buNone/>
            </a:pPr>
            <a:r>
              <a:t/>
            </a:r>
            <a:endParaRPr b="1" i="1" sz="1500">
              <a:solidFill>
                <a:schemeClr val="dk1"/>
              </a:solidFill>
              <a:latin typeface="Times New Roman"/>
              <a:ea typeface="Times New Roman"/>
              <a:cs typeface="Times New Roman"/>
              <a:sym typeface="Times New Roman"/>
            </a:endParaRPr>
          </a:p>
          <a:p>
            <a:pPr indent="0" lvl="0" marL="0" rtl="0" algn="r">
              <a:spcBef>
                <a:spcPts val="0"/>
              </a:spcBef>
              <a:spcAft>
                <a:spcPts val="0"/>
              </a:spcAft>
              <a:buNone/>
            </a:pPr>
            <a:r>
              <a:rPr b="1" i="1" lang="el" sz="1500">
                <a:solidFill>
                  <a:schemeClr val="dk1"/>
                </a:solidFill>
                <a:latin typeface="Times New Roman"/>
                <a:ea typeface="Times New Roman"/>
                <a:cs typeface="Times New Roman"/>
                <a:sym typeface="Times New Roman"/>
              </a:rPr>
              <a:t>Πανεπιστήμιο Μακεδονίας 2025-6/Εφαρμοσμένη Πληροφορική</a:t>
            </a:r>
            <a:endParaRPr b="1" i="1" sz="1500">
              <a:solidFill>
                <a:schemeClr val="dk1"/>
              </a:solidFill>
              <a:latin typeface="Times New Roman"/>
              <a:ea typeface="Times New Roman"/>
              <a:cs typeface="Times New Roman"/>
              <a:sym typeface="Times New Roman"/>
            </a:endParaRPr>
          </a:p>
        </p:txBody>
      </p:sp>
      <p:cxnSp>
        <p:nvCxnSpPr>
          <p:cNvPr id="382" name="Google Shape;382;p41"/>
          <p:cNvCxnSpPr/>
          <p:nvPr/>
        </p:nvCxnSpPr>
        <p:spPr>
          <a:xfrm>
            <a:off x="915300" y="2669325"/>
            <a:ext cx="7313400" cy="7800"/>
          </a:xfrm>
          <a:prstGeom prst="straightConnector1">
            <a:avLst/>
          </a:prstGeom>
          <a:noFill/>
          <a:ln cap="flat" cmpd="sng" w="28575">
            <a:solidFill>
              <a:schemeClr val="dk1"/>
            </a:solidFill>
            <a:prstDash val="solid"/>
            <a:round/>
            <a:headEnd len="med" w="med" type="none"/>
            <a:tailEnd len="med" w="med" type="none"/>
          </a:ln>
        </p:spPr>
      </p:cxnSp>
      <p:pic>
        <p:nvPicPr>
          <p:cNvPr id="383" name="Google Shape;383;p41"/>
          <p:cNvPicPr preferRelativeResize="0"/>
          <p:nvPr/>
        </p:nvPicPr>
        <p:blipFill>
          <a:blip r:embed="rId4">
            <a:alphaModFix/>
          </a:blip>
          <a:stretch>
            <a:fillRect/>
          </a:stretch>
        </p:blipFill>
        <p:spPr>
          <a:xfrm>
            <a:off x="0" y="0"/>
            <a:ext cx="1256600" cy="12566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